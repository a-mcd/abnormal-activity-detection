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9" r:id="rId3"/>
    <p:sldId id="260" r:id="rId4"/>
    <p:sldId id="258" r:id="rId5"/>
    <p:sldId id="266" r:id="rId6"/>
    <p:sldId id="268" r:id="rId7"/>
    <p:sldId id="261" r:id="rId8"/>
    <p:sldId id="267" r:id="rId9"/>
    <p:sldId id="269" r:id="rId10"/>
    <p:sldId id="265" r:id="rId11"/>
    <p:sldId id="263" r:id="rId12"/>
    <p:sldId id="270"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3DACA"/>
    <a:srgbClr val="0E2841"/>
    <a:srgbClr val="206A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C1CB6E-6DF2-7444-9E66-B0F512369859}" v="418" dt="2026-05-01T10:11:59.012"/>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64247"/>
  </p:normalViewPr>
  <p:slideViewPr>
    <p:cSldViewPr snapToGrid="0">
      <p:cViewPr varScale="1">
        <p:scale>
          <a:sx n="79" d="100"/>
          <a:sy n="79" d="100"/>
        </p:scale>
        <p:origin x="3056" y="192"/>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A3E85A-9C6B-3047-A69D-023F1A8827A4}" type="datetimeFigureOut">
              <a:rPr lang="en-US" smtClean="0"/>
              <a:t>10/21/26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0E7E90-A9B2-1C4C-B2A9-6D636210D550}" type="slidenum">
              <a:rPr lang="en-US" smtClean="0"/>
              <a:t>‹#›</a:t>
            </a:fld>
            <a:endParaRPr lang="en-US"/>
          </a:p>
        </p:txBody>
      </p:sp>
    </p:spTree>
    <p:extLst>
      <p:ext uri="{BB962C8B-B14F-4D97-AF65-F5344CB8AC3E}">
        <p14:creationId xmlns:p14="http://schemas.microsoft.com/office/powerpoint/2010/main" val="2379196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Good morning my name is Alison McDowell, and today I’ll be presenting my work on abnormal activity detection in smart homes using normal behaviour modelling.</a:t>
            </a:r>
            <a:endParaRPr lang="en-US" dirty="0"/>
          </a:p>
        </p:txBody>
      </p:sp>
      <p:sp>
        <p:nvSpPr>
          <p:cNvPr id="4" name="Slide Number Placeholder 3"/>
          <p:cNvSpPr>
            <a:spLocks noGrp="1"/>
          </p:cNvSpPr>
          <p:nvPr>
            <p:ph type="sldNum" sz="quarter" idx="5"/>
          </p:nvPr>
        </p:nvSpPr>
        <p:spPr/>
        <p:txBody>
          <a:bodyPr/>
          <a:lstStyle/>
          <a:p>
            <a:fld id="{E40E7E90-A9B2-1C4C-B2A9-6D636210D550}" type="slidenum">
              <a:rPr lang="en-US" smtClean="0"/>
              <a:t>1</a:t>
            </a:fld>
            <a:endParaRPr lang="en-US"/>
          </a:p>
        </p:txBody>
      </p:sp>
    </p:spTree>
    <p:extLst>
      <p:ext uri="{BB962C8B-B14F-4D97-AF65-F5344CB8AC3E}">
        <p14:creationId xmlns:p14="http://schemas.microsoft.com/office/powerpoint/2010/main" val="2828467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64459-CECE-AF22-C5B9-D2A0BBEF2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F2B1EC-9503-A012-6DEB-CC93FFC49E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A2D16-64DA-B7EC-D502-AE4862E452B4}"/>
              </a:ext>
            </a:extLst>
          </p:cNvPr>
          <p:cNvSpPr>
            <a:spLocks noGrp="1"/>
          </p:cNvSpPr>
          <p:nvPr>
            <p:ph type="body" idx="1"/>
          </p:nvPr>
        </p:nvSpPr>
        <p:spPr/>
        <p:txBody>
          <a:bodyPr/>
          <a:lstStyle/>
          <a:p>
            <a:r>
              <a:rPr lang="en-GB" dirty="0"/>
              <a:t>We’re seeing a rapidly ageing population, which is placing increasing pressure on healthcare systems. One way to reduce this burden is by supporting independent living for longer.</a:t>
            </a:r>
          </a:p>
          <a:p>
            <a:endParaRPr lang="en-GB" dirty="0"/>
          </a:p>
          <a:p>
            <a:r>
              <a:rPr lang="en-GB" dirty="0"/>
              <a:t>A key approach is monitoring activities of daily living, such as cooking, cleaning, and hygiene, as changes in how these activities are performed can signal potential health issues.</a:t>
            </a:r>
          </a:p>
          <a:p>
            <a:endParaRPr lang="en-GB" dirty="0"/>
          </a:p>
          <a:p>
            <a:r>
              <a:rPr lang="en-GB" dirty="0"/>
              <a:t>However, they can be performed in many different ways, and this variation doesn’t necessarily indicate abnormal behaviour. </a:t>
            </a:r>
          </a:p>
          <a:p>
            <a:endParaRPr lang="en-GB" dirty="0"/>
          </a:p>
          <a:p>
            <a:r>
              <a:rPr lang="en-GB" dirty="0"/>
              <a:t>True abnormal behaviour may involve missing steps, incorrect ordering, or longer durations, which makes both activity recognition and anomaly detection challenging, especially with noisy sensor data.</a:t>
            </a:r>
          </a:p>
          <a:p>
            <a:endParaRPr lang="en-GB" dirty="0"/>
          </a:p>
          <a:p>
            <a:r>
              <a:rPr lang="en-GB" dirty="0"/>
              <a:t>In addition, there is very limited labelled abnormal data, which further complicates model development and evaluation.</a:t>
            </a:r>
          </a:p>
          <a:p>
            <a:endParaRPr lang="en-GB" dirty="0"/>
          </a:p>
        </p:txBody>
      </p:sp>
      <p:sp>
        <p:nvSpPr>
          <p:cNvPr id="4" name="Slide Number Placeholder 3">
            <a:extLst>
              <a:ext uri="{FF2B5EF4-FFF2-40B4-BE49-F238E27FC236}">
                <a16:creationId xmlns:a16="http://schemas.microsoft.com/office/drawing/2014/main" id="{EC73AC38-F98D-0BE4-F5E9-63717B2E3A1B}"/>
              </a:ext>
            </a:extLst>
          </p:cNvPr>
          <p:cNvSpPr>
            <a:spLocks noGrp="1"/>
          </p:cNvSpPr>
          <p:nvPr>
            <p:ph type="sldNum" sz="quarter" idx="5"/>
          </p:nvPr>
        </p:nvSpPr>
        <p:spPr/>
        <p:txBody>
          <a:bodyPr/>
          <a:lstStyle/>
          <a:p>
            <a:fld id="{E40E7E90-A9B2-1C4C-B2A9-6D636210D550}" type="slidenum">
              <a:rPr lang="en-US" smtClean="0"/>
              <a:t>2</a:t>
            </a:fld>
            <a:endParaRPr lang="en-US"/>
          </a:p>
        </p:txBody>
      </p:sp>
    </p:spTree>
    <p:extLst>
      <p:ext uri="{BB962C8B-B14F-4D97-AF65-F5344CB8AC3E}">
        <p14:creationId xmlns:p14="http://schemas.microsoft.com/office/powerpoint/2010/main" val="680927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E12CB-9D8B-C632-2D98-FCE6EAA9F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9D9A6F-27E1-68D8-14A4-FE6BB3E380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9CEA6-B5D8-CE24-E59A-B524C6B2FB5C}"/>
              </a:ext>
            </a:extLst>
          </p:cNvPr>
          <p:cNvSpPr>
            <a:spLocks noGrp="1"/>
          </p:cNvSpPr>
          <p:nvPr>
            <p:ph type="body" idx="1"/>
          </p:nvPr>
        </p:nvSpPr>
        <p:spPr/>
        <p:txBody>
          <a:bodyPr/>
          <a:lstStyle/>
          <a:p>
            <a:r>
              <a:rPr lang="en-US" dirty="0"/>
              <a:t>The aim of this project is to detect abnormal </a:t>
            </a:r>
            <a:r>
              <a:rPr lang="en-US" dirty="0" err="1"/>
              <a:t>behaviour</a:t>
            </a:r>
            <a:r>
              <a:rPr lang="en-US" dirty="0"/>
              <a:t> using only normal data.</a:t>
            </a:r>
          </a:p>
          <a:p>
            <a:r>
              <a:rPr lang="en-US" dirty="0"/>
              <a:t>To achieve this, I am proposing a two-stage approach.</a:t>
            </a:r>
          </a:p>
          <a:p>
            <a:r>
              <a:rPr lang="en-US" dirty="0"/>
              <a:t>The first stage, is identifying the activity using Dempster-Shafer Theory, which allows uncertainty to be explicitly modelled and handles noisy sensor data effectively.</a:t>
            </a:r>
          </a:p>
          <a:p>
            <a:r>
              <a:rPr lang="en-US" dirty="0"/>
              <a:t>The second stage uses an activity-specific model to determine if the activity is being performed abnormally.</a:t>
            </a:r>
          </a:p>
          <a:p>
            <a:endParaRPr lang="en-US" dirty="0"/>
          </a:p>
          <a:p>
            <a:r>
              <a:rPr lang="en-GB" dirty="0"/>
              <a:t>The diagram shows the flow from raw sensor data through to the final model output.</a:t>
            </a:r>
          </a:p>
          <a:p>
            <a:endParaRPr lang="en-GB" dirty="0"/>
          </a:p>
          <a:p>
            <a:r>
              <a:rPr lang="en-GB" dirty="0"/>
              <a:t>Sensor data will be collected, and prepped which includes cleaning, noise filtering, windowing and creating features which are saved to a features store for use in later stages.</a:t>
            </a:r>
          </a:p>
          <a:p>
            <a:endParaRPr lang="en-GB" dirty="0"/>
          </a:p>
          <a:p>
            <a:r>
              <a:rPr lang="en-GB" dirty="0"/>
              <a:t>The DST stage then pulls the relevant features from the feature store and combines the evidence to compute belief masses and from this determines the activity.</a:t>
            </a:r>
          </a:p>
          <a:p>
            <a:endParaRPr lang="en-GB" dirty="0"/>
          </a:p>
          <a:p>
            <a:r>
              <a:rPr lang="en-GB" dirty="0"/>
              <a:t>The model built for the activity along with the required features from the feature store are used together to determine if the activity is normal or abnormal.</a:t>
            </a:r>
          </a:p>
        </p:txBody>
      </p:sp>
      <p:sp>
        <p:nvSpPr>
          <p:cNvPr id="4" name="Slide Number Placeholder 3">
            <a:extLst>
              <a:ext uri="{FF2B5EF4-FFF2-40B4-BE49-F238E27FC236}">
                <a16:creationId xmlns:a16="http://schemas.microsoft.com/office/drawing/2014/main" id="{67F6D0A0-C909-6C49-EFAD-947971CD3AB0}"/>
              </a:ext>
            </a:extLst>
          </p:cNvPr>
          <p:cNvSpPr>
            <a:spLocks noGrp="1"/>
          </p:cNvSpPr>
          <p:nvPr>
            <p:ph type="sldNum" sz="quarter" idx="5"/>
          </p:nvPr>
        </p:nvSpPr>
        <p:spPr/>
        <p:txBody>
          <a:bodyPr/>
          <a:lstStyle/>
          <a:p>
            <a:fld id="{E40E7E90-A9B2-1C4C-B2A9-6D636210D550}" type="slidenum">
              <a:rPr lang="en-US" smtClean="0"/>
              <a:t>3</a:t>
            </a:fld>
            <a:endParaRPr lang="en-US"/>
          </a:p>
        </p:txBody>
      </p:sp>
    </p:spTree>
    <p:extLst>
      <p:ext uri="{BB962C8B-B14F-4D97-AF65-F5344CB8AC3E}">
        <p14:creationId xmlns:p14="http://schemas.microsoft.com/office/powerpoint/2010/main" val="3588687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used the CASAS Kyoto One dataset, which is widely used in smart home research.</a:t>
            </a:r>
          </a:p>
          <a:p>
            <a:endParaRPr lang="en-GB" dirty="0"/>
          </a:p>
          <a:p>
            <a:r>
              <a:rPr lang="en-GB" dirty="0"/>
              <a:t>The data was collected in a smart home environment equipped with a range of sensors, as shown in the diagrams.</a:t>
            </a:r>
          </a:p>
          <a:p>
            <a:r>
              <a:rPr lang="en-GB" dirty="0"/>
              <a:t>The right diagram is the ground floor of a home which includes the placement of key objects such as the cooker and sink.</a:t>
            </a:r>
          </a:p>
          <a:p>
            <a:r>
              <a:rPr lang="en-GB" dirty="0"/>
              <a:t>The left diagram is a first person view of the cupboard within the kitchen and shows the item sensors within the cupboard.</a:t>
            </a:r>
          </a:p>
          <a:p>
            <a:endParaRPr lang="en-GB" dirty="0"/>
          </a:p>
          <a:p>
            <a:r>
              <a:rPr lang="en-GB" dirty="0"/>
              <a:t>Each episode corresponds to a single participant performing one of five activities, labelled t1 to t5, from start to finish.</a:t>
            </a:r>
          </a:p>
          <a:p>
            <a:endParaRPr lang="en-GB" dirty="0"/>
          </a:p>
          <a:p>
            <a:r>
              <a:rPr lang="en-GB" dirty="0"/>
              <a:t>The activities include telephone use …</a:t>
            </a:r>
          </a:p>
          <a:p>
            <a:endParaRPr lang="en-GB" dirty="0"/>
          </a:p>
          <a:p>
            <a:r>
              <a:rPr lang="en-GB" dirty="0"/>
              <a:t>In total, the dataset contains 220 episodes, split between normal behaviour and episodes with simulated errors which represent abnormal behaviour.</a:t>
            </a:r>
          </a:p>
          <a:p>
            <a:r>
              <a:rPr lang="en-GB" dirty="0"/>
              <a:t>Each participant performs all five activities, with their episodes being either entirely normal or entirely abnormal.</a:t>
            </a:r>
          </a:p>
        </p:txBody>
      </p:sp>
      <p:sp>
        <p:nvSpPr>
          <p:cNvPr id="4" name="Slide Number Placeholder 3"/>
          <p:cNvSpPr>
            <a:spLocks noGrp="1"/>
          </p:cNvSpPr>
          <p:nvPr>
            <p:ph type="sldNum" sz="quarter" idx="5"/>
          </p:nvPr>
        </p:nvSpPr>
        <p:spPr/>
        <p:txBody>
          <a:bodyPr/>
          <a:lstStyle/>
          <a:p>
            <a:fld id="{E40E7E90-A9B2-1C4C-B2A9-6D636210D550}" type="slidenum">
              <a:rPr lang="en-US" smtClean="0"/>
              <a:t>4</a:t>
            </a:fld>
            <a:endParaRPr lang="en-US"/>
          </a:p>
        </p:txBody>
      </p:sp>
    </p:spTree>
    <p:extLst>
      <p:ext uri="{BB962C8B-B14F-4D97-AF65-F5344CB8AC3E}">
        <p14:creationId xmlns:p14="http://schemas.microsoft.com/office/powerpoint/2010/main" val="715162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ACB37-BBCE-E28B-AE4D-F6B5FAF4B6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74358-14E3-CB3D-D9C7-ED932430E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92666-F6B4-9B1D-B56B-6E29959DEE66}"/>
              </a:ext>
            </a:extLst>
          </p:cNvPr>
          <p:cNvSpPr>
            <a:spLocks noGrp="1"/>
          </p:cNvSpPr>
          <p:nvPr>
            <p:ph type="body" idx="1"/>
          </p:nvPr>
        </p:nvSpPr>
        <p:spPr/>
        <p:txBody>
          <a:bodyPr/>
          <a:lstStyle/>
          <a:p>
            <a:r>
              <a:rPr lang="en-US" dirty="0"/>
              <a:t>The diagram shows the sensor presence rate per activity across the normal and error episodes.</a:t>
            </a:r>
          </a:p>
          <a:p>
            <a:r>
              <a:rPr lang="en-US" dirty="0"/>
              <a:t>Down the left we can see the types of sensors, phone, motion, item, door and analogue sensors.</a:t>
            </a:r>
          </a:p>
          <a:p>
            <a:endParaRPr lang="en-US" dirty="0"/>
          </a:p>
          <a:p>
            <a:r>
              <a:rPr lang="en-US" dirty="0"/>
              <a:t>We can see activities 2, 4, and 5 are quite similar when it comes to the motion and tap sensors whereas 1 and 3 have more distinct sensor activations. So there are some challenges in distinguishing activities.</a:t>
            </a:r>
          </a:p>
          <a:p>
            <a:endParaRPr lang="en-US" dirty="0"/>
          </a:p>
          <a:p>
            <a:r>
              <a:rPr lang="en-US" dirty="0"/>
              <a:t>In the error data we can see in some patterns becoming less consistent in particular the I06 sensor in t4 however there isn’t a clear way just from sensor presence to determine if an action is normal or abnormal.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Prior to modelling the tap sensor data was </a:t>
            </a:r>
            <a:r>
              <a:rPr lang="en-GB" sz="1200" kern="1200" dirty="0">
                <a:solidFill>
                  <a:schemeClr val="tx1"/>
                </a:solidFill>
                <a:effectLst/>
                <a:latin typeface="+mn-lt"/>
                <a:ea typeface="+mn-ea"/>
                <a:cs typeface="+mn-cs"/>
              </a:rPr>
              <a:t>smoothed to remove jitter and better reflect meaningful human interactions.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All models were trained using only normal data. They were validated using 5-fold </a:t>
            </a:r>
            <a:r>
              <a:rPr lang="en-GB" sz="1200" kern="1200" dirty="0" err="1">
                <a:solidFill>
                  <a:schemeClr val="tx1"/>
                </a:solidFill>
                <a:effectLst/>
                <a:latin typeface="+mn-lt"/>
                <a:ea typeface="+mn-ea"/>
                <a:cs typeface="+mn-cs"/>
              </a:rPr>
              <a:t>GroupKFold</a:t>
            </a:r>
            <a:r>
              <a:rPr lang="en-GB" sz="1200" kern="1200" dirty="0">
                <a:solidFill>
                  <a:schemeClr val="tx1"/>
                </a:solidFill>
                <a:effectLst/>
                <a:latin typeface="+mn-lt"/>
                <a:ea typeface="+mn-ea"/>
                <a:cs typeface="+mn-cs"/>
              </a:rPr>
              <a:t> cross-validation by participant, ensuring no participant appeared in both training and validation sets, preventing data leakage.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Finally, the error dataset was used only for evaluation, testing how well the models detect abnormal behaviour.</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F9448D3-D4A2-201C-55C1-10D8F002897E}"/>
              </a:ext>
            </a:extLst>
          </p:cNvPr>
          <p:cNvSpPr>
            <a:spLocks noGrp="1"/>
          </p:cNvSpPr>
          <p:nvPr>
            <p:ph type="sldNum" sz="quarter" idx="5"/>
          </p:nvPr>
        </p:nvSpPr>
        <p:spPr/>
        <p:txBody>
          <a:bodyPr/>
          <a:lstStyle/>
          <a:p>
            <a:fld id="{E40E7E90-A9B2-1C4C-B2A9-6D636210D550}" type="slidenum">
              <a:rPr lang="en-US" smtClean="0"/>
              <a:t>5</a:t>
            </a:fld>
            <a:endParaRPr lang="en-US"/>
          </a:p>
        </p:txBody>
      </p:sp>
    </p:spTree>
    <p:extLst>
      <p:ext uri="{BB962C8B-B14F-4D97-AF65-F5344CB8AC3E}">
        <p14:creationId xmlns:p14="http://schemas.microsoft.com/office/powerpoint/2010/main" val="2751839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02FFD-4418-8DB6-97AE-BAECAAB55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9F986-0E0F-CE68-1AA2-5C91F3295D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CE8180-E529-4FDE-BF3E-5BB6B3A5110D}"/>
              </a:ext>
            </a:extLst>
          </p:cNvPr>
          <p:cNvSpPr>
            <a:spLocks noGrp="1"/>
          </p:cNvSpPr>
          <p:nvPr>
            <p:ph type="body" idx="1"/>
          </p:nvPr>
        </p:nvSpPr>
        <p:spPr>
          <a:xfrm>
            <a:off x="676835" y="4400550"/>
            <a:ext cx="5486400" cy="3600450"/>
          </a:xfrm>
        </p:spPr>
        <p:txBody>
          <a:bodyPr/>
          <a:lstStyle/>
          <a:p>
            <a:r>
              <a:rPr lang="en-GB" dirty="0"/>
              <a:t>Both traditional machine learning models and Dempster-Shafer Theory were used to perform activity recognition and allow comparison of the approaches.</a:t>
            </a:r>
          </a:p>
          <a:p>
            <a:endParaRPr lang="en-GB" dirty="0"/>
          </a:p>
          <a:p>
            <a:r>
              <a:rPr lang="en-GB" b="0" dirty="0"/>
              <a:t>One key data processing step was removing short burner activations with a duration under 70 seconds, as these are unlikely to represent meaningful cooking activity and were not beneficial for activity classification.</a:t>
            </a:r>
          </a:p>
          <a:p>
            <a:endParaRPr lang="en-GB" b="0" dirty="0"/>
          </a:p>
          <a:p>
            <a:r>
              <a:rPr lang="en-GB" b="0" dirty="0"/>
              <a:t>However, these events were retained for anomaly detection, where they can be indicative of abnormal behaviour.</a:t>
            </a:r>
          </a:p>
          <a:p>
            <a:endParaRPr lang="en-GB" b="0" dirty="0"/>
          </a:p>
          <a:p>
            <a:r>
              <a:rPr lang="en-GB" b="0" dirty="0"/>
              <a:t>These are the high level DST implementation steps that were undertaken.</a:t>
            </a:r>
          </a:p>
          <a:p>
            <a:endParaRPr lang="en-GB" b="0" dirty="0"/>
          </a:p>
          <a:p>
            <a:r>
              <a:rPr lang="en-GB" dirty="0"/>
              <a:t>Steps 1-2 capture the evidence strength. How frequently does this sensor-message appear for this activity vs others?</a:t>
            </a:r>
          </a:p>
          <a:p>
            <a:pPr marL="0" marR="0" indent="0" algn="l" defTabSz="914400" rtl="0" eaLnBrk="1" fontAlgn="auto" latinLnBrk="0" hangingPunct="1">
              <a:lnSpc>
                <a:spcPct val="100000"/>
              </a:lnSpc>
              <a:spcBef>
                <a:spcPts val="0"/>
              </a:spcBef>
              <a:spcAft>
                <a:spcPts val="0"/>
              </a:spcAft>
              <a:buClrTx/>
              <a:buSzTx/>
              <a:buFontTx/>
              <a:buNone/>
              <a:tabLst/>
              <a:defRPr/>
            </a:pPr>
            <a:r>
              <a:rPr lang="en-GB" b="0" dirty="0"/>
              <a:t>In step 3 the distinctiveness score captures d</a:t>
            </a:r>
            <a:r>
              <a:rPr lang="en-GB" dirty="0"/>
              <a:t>oes this sensor-message uniquely identify this activity, or does it appear across many activities?</a:t>
            </a:r>
          </a:p>
          <a:p>
            <a:pPr marL="0" marR="0" indent="0" algn="l" defTabSz="914400" rtl="0" eaLnBrk="1" fontAlgn="auto" latinLnBrk="0" hangingPunct="1">
              <a:lnSpc>
                <a:spcPct val="100000"/>
              </a:lnSpc>
              <a:spcBef>
                <a:spcPts val="0"/>
              </a:spcBef>
              <a:spcAft>
                <a:spcPts val="0"/>
              </a:spcAft>
              <a:buClrTx/>
              <a:buSzTx/>
              <a:buFontTx/>
              <a:buNone/>
              <a:tabLst/>
              <a:defRPr/>
            </a:pPr>
            <a:r>
              <a:rPr lang="en-GB" dirty="0"/>
              <a:t>Step 4 accounts for the reliability of each sensor type, where motion sensors are given lower reliability as they can be noisy and frequently triggered by general movement, while item and tap sensors provide more activity-specific indication and reliable evidence.</a:t>
            </a:r>
          </a:p>
          <a:p>
            <a:pPr marL="0" marR="0" indent="0" algn="l" defTabSz="914400" rtl="0" eaLnBrk="1" fontAlgn="auto" latinLnBrk="0" hangingPunct="1">
              <a:lnSpc>
                <a:spcPct val="100000"/>
              </a:lnSpc>
              <a:spcBef>
                <a:spcPts val="0"/>
              </a:spcBef>
              <a:spcAft>
                <a:spcPts val="0"/>
              </a:spcAft>
              <a:buClrTx/>
              <a:buSzTx/>
              <a:buFontTx/>
              <a:buNone/>
              <a:tabLst/>
              <a:defRPr/>
            </a:pPr>
            <a:r>
              <a:rPr lang="en-GB" dirty="0"/>
              <a:t>The final steps combine all the evidence using </a:t>
            </a:r>
            <a:r>
              <a:rPr lang="en-GB" dirty="0" err="1"/>
              <a:t>Dempsters</a:t>
            </a:r>
            <a:r>
              <a:rPr lang="en-GB" dirty="0"/>
              <a:t> Rule of Combination and select the activity with the highest belief as the most likely activity.</a:t>
            </a:r>
            <a:endParaRPr lang="en-GB" b="0" dirty="0"/>
          </a:p>
        </p:txBody>
      </p:sp>
      <p:sp>
        <p:nvSpPr>
          <p:cNvPr id="4" name="Slide Number Placeholder 3">
            <a:extLst>
              <a:ext uri="{FF2B5EF4-FFF2-40B4-BE49-F238E27FC236}">
                <a16:creationId xmlns:a16="http://schemas.microsoft.com/office/drawing/2014/main" id="{8BE08082-B888-F260-BDA3-CC798C22F452}"/>
              </a:ext>
            </a:extLst>
          </p:cNvPr>
          <p:cNvSpPr>
            <a:spLocks noGrp="1"/>
          </p:cNvSpPr>
          <p:nvPr>
            <p:ph type="sldNum" sz="quarter" idx="5"/>
          </p:nvPr>
        </p:nvSpPr>
        <p:spPr/>
        <p:txBody>
          <a:bodyPr/>
          <a:lstStyle/>
          <a:p>
            <a:fld id="{E40E7E90-A9B2-1C4C-B2A9-6D636210D550}" type="slidenum">
              <a:rPr lang="en-US" smtClean="0"/>
              <a:t>6</a:t>
            </a:fld>
            <a:endParaRPr lang="en-US"/>
          </a:p>
        </p:txBody>
      </p:sp>
    </p:spTree>
    <p:extLst>
      <p:ext uri="{BB962C8B-B14F-4D97-AF65-F5344CB8AC3E}">
        <p14:creationId xmlns:p14="http://schemas.microsoft.com/office/powerpoint/2010/main" val="3347445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C9CA7-CE73-7725-60F6-F9258FA97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109A3-4035-D865-19D6-8A8E41B3A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D92302-6582-79BA-70D0-B7085DB8C15E}"/>
              </a:ext>
            </a:extLst>
          </p:cNvPr>
          <p:cNvSpPr>
            <a:spLocks noGrp="1"/>
          </p:cNvSpPr>
          <p:nvPr>
            <p:ph type="body" idx="1"/>
          </p:nvPr>
        </p:nvSpPr>
        <p:spPr/>
        <p:txBody>
          <a:bodyPr/>
          <a:lstStyle/>
          <a:p>
            <a:r>
              <a:rPr lang="en-GB" dirty="0"/>
              <a:t>I have only included the best performing ML model results to compare against DST.</a:t>
            </a:r>
          </a:p>
          <a:p>
            <a:endParaRPr lang="en-GB" dirty="0"/>
          </a:p>
          <a:p>
            <a:r>
              <a:rPr lang="en-GB" dirty="0"/>
              <a:t>The most important metrics are f1 and overall accuracy</a:t>
            </a:r>
          </a:p>
          <a:p>
            <a:endParaRPr lang="en-GB" dirty="0"/>
          </a:p>
          <a:p>
            <a:r>
              <a:rPr lang="en-GB" dirty="0"/>
              <a:t>Accuracy is the proportion of all predictions that the model gets correct.</a:t>
            </a:r>
          </a:p>
          <a:p>
            <a:r>
              <a:rPr lang="en-GB" dirty="0"/>
              <a:t>F1 score balances precision and recall into a single metric.</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They are important as together they show how many activities are classified correctly overall and ensure performance is </a:t>
            </a:r>
            <a:r>
              <a:rPr lang="en-GB" b="0" dirty="0"/>
              <a:t>consistent across all activities</a:t>
            </a:r>
            <a:r>
              <a:rPr lang="en-GB" dirty="0"/>
              <a:t>, not just overall.</a:t>
            </a:r>
          </a:p>
          <a:p>
            <a:endParaRPr lang="en-GB" dirty="0"/>
          </a:p>
          <a:p>
            <a:r>
              <a:rPr lang="en-GB" dirty="0"/>
              <a:t>DST performed very strongly, with 96% accuracy on normal data and f1 score of 0.88 and above and was more stable on error conditions than LSTM.</a:t>
            </a:r>
          </a:p>
          <a:p>
            <a:endParaRPr lang="en-GB" dirty="0"/>
          </a:p>
          <a:p>
            <a:r>
              <a:rPr lang="en-GB" dirty="0"/>
              <a:t>In the LSTM error results many t5 activities got classified as t2 which has many overlapping sensors.</a:t>
            </a:r>
          </a:p>
          <a:p>
            <a:br>
              <a:rPr lang="en-GB" dirty="0"/>
            </a:br>
            <a:r>
              <a:rPr lang="en-GB" dirty="0"/>
              <a:t>In addition, DST is inherently explainable, as it provides interpretable belief, disbelief, and uncertainty measures.</a:t>
            </a:r>
            <a:endParaRPr lang="en-US" dirty="0"/>
          </a:p>
        </p:txBody>
      </p:sp>
      <p:sp>
        <p:nvSpPr>
          <p:cNvPr id="4" name="Slide Number Placeholder 3">
            <a:extLst>
              <a:ext uri="{FF2B5EF4-FFF2-40B4-BE49-F238E27FC236}">
                <a16:creationId xmlns:a16="http://schemas.microsoft.com/office/drawing/2014/main" id="{F4653D04-3E52-AA5F-C098-E8F4B8FEDA5D}"/>
              </a:ext>
            </a:extLst>
          </p:cNvPr>
          <p:cNvSpPr>
            <a:spLocks noGrp="1"/>
          </p:cNvSpPr>
          <p:nvPr>
            <p:ph type="sldNum" sz="quarter" idx="5"/>
          </p:nvPr>
        </p:nvSpPr>
        <p:spPr/>
        <p:txBody>
          <a:bodyPr/>
          <a:lstStyle/>
          <a:p>
            <a:fld id="{E40E7E90-A9B2-1C4C-B2A9-6D636210D550}" type="slidenum">
              <a:rPr lang="en-US" smtClean="0"/>
              <a:t>7</a:t>
            </a:fld>
            <a:endParaRPr lang="en-US"/>
          </a:p>
        </p:txBody>
      </p:sp>
    </p:spTree>
    <p:extLst>
      <p:ext uri="{BB962C8B-B14F-4D97-AF65-F5344CB8AC3E}">
        <p14:creationId xmlns:p14="http://schemas.microsoft.com/office/powerpoint/2010/main" val="357970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36641-6BDE-3223-3471-5666C55BE9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0C130B-03B1-746B-B8CD-F29C3EBD3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2109E9-2F33-5460-ADA5-C90C561CDE0C}"/>
              </a:ext>
            </a:extLst>
          </p:cNvPr>
          <p:cNvSpPr>
            <a:spLocks noGrp="1"/>
          </p:cNvSpPr>
          <p:nvPr>
            <p:ph type="body" idx="1"/>
          </p:nvPr>
        </p:nvSpPr>
        <p:spPr/>
        <p:txBody>
          <a:bodyPr/>
          <a:lstStyle/>
          <a:p>
            <a:r>
              <a:rPr lang="en-US" dirty="0"/>
              <a:t>Now that we have decided what activity is being carried out we want to detect if it is abnormal or not.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All models are designed to learn normal behaviour patterns and identify abnormalities as deviations from this learned baseline.</a:t>
            </a:r>
          </a:p>
          <a:p>
            <a:endParaRPr lang="en-US" dirty="0"/>
          </a:p>
          <a:p>
            <a:r>
              <a:rPr lang="en-GB" dirty="0"/>
              <a:t>The features engineered for anomaly detection were more complex than simple event counts, which made them more sensitive to noise from analogue sensors.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Feature engineering was carried out in stages. Analogue-based statistical features were created early in the process, while features such as P90 were computed later, once the data had been cleaned and </a:t>
            </a:r>
            <a:r>
              <a:rPr lang="en-US" dirty="0" err="1"/>
              <a:t>stabilised</a:t>
            </a:r>
            <a:r>
              <a:rPr lang="en-US" dirty="0"/>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Each activity used a different feature set, although some features were shared. This is because each activity involves distinct behaviour patterns and sensor interactions, requiring activity-specific features for effective modelling e.g. activities with involved tap usage contain tap-based features.</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Notes</a:t>
            </a:r>
            <a:br>
              <a:rPr lang="en-US" dirty="0"/>
            </a:br>
            <a:br>
              <a:rPr lang="en-US" dirty="0"/>
            </a:br>
            <a:r>
              <a:rPr lang="en-GB" b="0" dirty="0"/>
              <a:t>Temporal / statistical features</a:t>
            </a:r>
          </a:p>
          <a:p>
            <a:r>
              <a:rPr lang="en-GB" b="0" dirty="0" err="1"/>
              <a:t>mean_dt</a:t>
            </a:r>
            <a:r>
              <a:rPr lang="en-GB" b="0" dirty="0"/>
              <a:t> - Average time between consecutive sensor events. </a:t>
            </a:r>
          </a:p>
          <a:p>
            <a:r>
              <a:rPr lang="en-GB" b="0" dirty="0" err="1"/>
              <a:t>mean_transition_log_lik</a:t>
            </a:r>
            <a:r>
              <a:rPr lang="en-GB" b="0" dirty="0"/>
              <a:t> - Average likelihood of observed sensor transitions based on normal patterns. </a:t>
            </a:r>
          </a:p>
          <a:p>
            <a:r>
              <a:rPr lang="en-GB" b="0" dirty="0"/>
              <a:t>p90_minus_p50 - Spread of event timing (difference between 90th percentile and median).</a:t>
            </a:r>
          </a:p>
          <a:p>
            <a:r>
              <a:rPr lang="en-GB" b="0" dirty="0"/>
              <a:t>p90</a:t>
            </a:r>
            <a:r>
              <a:rPr lang="en-GB" dirty="0"/>
              <a:t> - 90th percentile of time between events (captures longer delays).</a:t>
            </a:r>
            <a:r>
              <a:rPr lang="en-GB" b="0" dirty="0"/>
              <a:t> </a:t>
            </a:r>
          </a:p>
          <a:p>
            <a:r>
              <a:rPr lang="en-GB" b="0" dirty="0" err="1"/>
              <a:t>event_rate</a:t>
            </a:r>
            <a:r>
              <a:rPr lang="en-GB" b="0" dirty="0"/>
              <a:t> - Number of events per unit time (activity speed). </a:t>
            </a:r>
          </a:p>
          <a:p>
            <a:r>
              <a:rPr lang="en-GB" b="0" dirty="0" err="1"/>
              <a:t>episode_duration</a:t>
            </a:r>
            <a:r>
              <a:rPr lang="en-GB" b="0" dirty="0"/>
              <a:t> -</a:t>
            </a:r>
            <a:r>
              <a:rPr lang="en-GB" dirty="0"/>
              <a:t> Total duration of the activity.</a:t>
            </a:r>
            <a:endParaRPr lang="en-GB" b="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r>
              <a:rPr lang="en-GB" b="0" dirty="0"/>
              <a:t>Tap / activity-specific features (T2)</a:t>
            </a:r>
          </a:p>
          <a:p>
            <a:r>
              <a:rPr lang="en-GB" b="0" dirty="0" err="1"/>
              <a:t>unexpected_sensor_during_tap_usage</a:t>
            </a:r>
            <a:r>
              <a:rPr lang="en-GB" b="0" dirty="0"/>
              <a:t> - Indicates if unusual sensors activate while the tap is in use. </a:t>
            </a:r>
          </a:p>
          <a:p>
            <a:r>
              <a:rPr lang="en-GB" b="0" dirty="0"/>
              <a:t>tap_active_last_8s -Whether the tap was active in the final 8 seconds of the activity. </a:t>
            </a:r>
          </a:p>
          <a:p>
            <a:r>
              <a:rPr lang="en-GB" b="0" dirty="0"/>
              <a:t>last_tap_value_lt_2_5 - Whether the final tap reading is below a threshold (low flow).</a:t>
            </a:r>
          </a:p>
          <a:p>
            <a:endParaRPr lang="en-GB" b="0" dirty="0"/>
          </a:p>
          <a:p>
            <a:r>
              <a:rPr lang="en-GB" b="0" dirty="0"/>
              <a:t>Cooking-related</a:t>
            </a:r>
          </a:p>
          <a:p>
            <a:r>
              <a:rPr lang="en-GB" b="0" dirty="0" err="1"/>
              <a:t>burner_last_value</a:t>
            </a:r>
            <a:r>
              <a:rPr lang="en-GB" b="0" dirty="0"/>
              <a:t> - Final value of the burner sensor at the end of the activity. </a:t>
            </a:r>
          </a:p>
          <a:p>
            <a:endParaRPr lang="en-GB" b="0" dirty="0"/>
          </a:p>
          <a:p>
            <a:endParaRPr lang="en-GB" b="0" dirty="0"/>
          </a:p>
          <a:p>
            <a:r>
              <a:rPr lang="en-GB" b="0" dirty="0"/>
              <a:t>sensor::I06 (medication) -</a:t>
            </a:r>
            <a:r>
              <a:rPr lang="en-GB" dirty="0"/>
              <a:t> Whether the medication item sensor was activated.</a:t>
            </a:r>
            <a:endParaRPr lang="en-GB" b="0" dirty="0"/>
          </a:p>
          <a:p>
            <a:r>
              <a:rPr lang="en-GB" b="0" dirty="0" err="1"/>
              <a:t>extra_event_ratio</a:t>
            </a:r>
            <a:r>
              <a:rPr lang="en-GB" b="0" dirty="0"/>
              <a:t> - Proportion of unexpected or additional events beyond normal patterns.</a:t>
            </a:r>
          </a:p>
          <a:p>
            <a:r>
              <a:rPr lang="en-GB" b="0" dirty="0" err="1"/>
              <a:t>unique_sensor_message_count</a:t>
            </a:r>
            <a:r>
              <a:rPr lang="en-GB" b="0" dirty="0"/>
              <a:t> -</a:t>
            </a:r>
            <a:r>
              <a:rPr lang="en-GB" dirty="0"/>
              <a:t>Number of unique sensor-message combinations used.</a:t>
            </a:r>
            <a:endParaRPr lang="en-GB" b="0" dirty="0"/>
          </a:p>
          <a:p>
            <a:pPr marL="0" marR="0" indent="0" algn="l" defTabSz="914400" rtl="0" eaLnBrk="1" fontAlgn="auto" latinLnBrk="0" hangingPunct="1">
              <a:lnSpc>
                <a:spcPct val="100000"/>
              </a:lnSpc>
              <a:spcBef>
                <a:spcPts val="0"/>
              </a:spcBef>
              <a:spcAft>
                <a:spcPts val="0"/>
              </a:spcAft>
              <a:buClrTx/>
              <a:buSzTx/>
              <a:buFontTx/>
              <a:buNone/>
              <a:tabLst/>
              <a:defRPr/>
            </a:pPr>
            <a:r>
              <a:rPr lang="en-GB" b="0" dirty="0" err="1"/>
              <a:t>num_events</a:t>
            </a:r>
            <a:r>
              <a:rPr lang="en-GB" b="0" dirty="0"/>
              <a:t> -</a:t>
            </a:r>
            <a:r>
              <a:rPr lang="en-GB" dirty="0"/>
              <a:t> Total number of sensor events.</a:t>
            </a:r>
          </a:p>
          <a:p>
            <a:pPr marL="0" marR="0" indent="0" algn="l" defTabSz="914400" rtl="0" eaLnBrk="1" fontAlgn="auto" latinLnBrk="0" hangingPunct="1">
              <a:lnSpc>
                <a:spcPct val="100000"/>
              </a:lnSpc>
              <a:spcBef>
                <a:spcPts val="0"/>
              </a:spcBef>
              <a:spcAft>
                <a:spcPts val="0"/>
              </a:spcAft>
              <a:buClrTx/>
              <a:buSzTx/>
              <a:buFontTx/>
              <a:buNone/>
              <a:tabLst/>
              <a:defRPr/>
            </a:pPr>
            <a:r>
              <a:rPr lang="en-GB" b="0" dirty="0" err="1"/>
              <a:t>missing_event_ratio</a:t>
            </a:r>
            <a:r>
              <a:rPr lang="en-GB" b="0" dirty="0"/>
              <a:t> -</a:t>
            </a:r>
            <a:r>
              <a:rPr lang="en-GB" dirty="0"/>
              <a:t> Proportion of expected events that are absent.</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Switch rate </a:t>
            </a:r>
            <a:r>
              <a:rPr lang="en-US"/>
              <a:t>- Measures </a:t>
            </a:r>
            <a:r>
              <a:rPr lang="en-US" dirty="0"/>
              <a:t>how often the sensor sequence changes from one sensor (or sensor–message pair) to another.</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0E13091-6209-75C5-E02B-EEA785D90D37}"/>
              </a:ext>
            </a:extLst>
          </p:cNvPr>
          <p:cNvSpPr>
            <a:spLocks noGrp="1"/>
          </p:cNvSpPr>
          <p:nvPr>
            <p:ph type="sldNum" sz="quarter" idx="5"/>
          </p:nvPr>
        </p:nvSpPr>
        <p:spPr/>
        <p:txBody>
          <a:bodyPr/>
          <a:lstStyle/>
          <a:p>
            <a:fld id="{E40E7E90-A9B2-1C4C-B2A9-6D636210D550}" type="slidenum">
              <a:rPr lang="en-US" smtClean="0"/>
              <a:t>8</a:t>
            </a:fld>
            <a:endParaRPr lang="en-US"/>
          </a:p>
        </p:txBody>
      </p:sp>
    </p:spTree>
    <p:extLst>
      <p:ext uri="{BB962C8B-B14F-4D97-AF65-F5344CB8AC3E}">
        <p14:creationId xmlns:p14="http://schemas.microsoft.com/office/powerpoint/2010/main" val="32382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BF272-E98C-4547-526B-012089418D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D9E586-EDB3-8988-9861-6DF3FEAECF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68CC34-1002-A6EA-F307-65B0F88248A2}"/>
              </a:ext>
            </a:extLst>
          </p:cNvPr>
          <p:cNvSpPr>
            <a:spLocks noGrp="1"/>
          </p:cNvSpPr>
          <p:nvPr>
            <p:ph type="body" idx="1"/>
          </p:nvPr>
        </p:nvSpPr>
        <p:spPr/>
        <p:txBody>
          <a:bodyPr/>
          <a:lstStyle/>
          <a:p>
            <a:r>
              <a:rPr lang="en-US" dirty="0"/>
              <a:t>Overall, Isolation Forest achieved the best performance, although each model showed strengths for different activities.</a:t>
            </a:r>
          </a:p>
          <a:p>
            <a:r>
              <a:rPr lang="en-US" dirty="0"/>
              <a:t>A potential extension would be to implement a AIOps pipeline that trains and tunes all models per activity and automatically selects the best-performing model based on evaluation metrics.</a:t>
            </a:r>
          </a:p>
          <a:p>
            <a:endParaRPr lang="en-US" dirty="0"/>
          </a:p>
          <a:p>
            <a:r>
              <a:rPr lang="en-GB" dirty="0"/>
              <a:t>Recall measures how many actual abnormal behaviours are correctly detected. It is the priority metric here as missing a</a:t>
            </a:r>
            <a:r>
              <a:rPr lang="en-US" dirty="0" err="1"/>
              <a:t>bnormal</a:t>
            </a:r>
            <a:r>
              <a:rPr lang="en-US" dirty="0"/>
              <a:t> </a:t>
            </a:r>
            <a:r>
              <a:rPr lang="en-US" dirty="0" err="1"/>
              <a:t>behaviour</a:t>
            </a:r>
            <a:r>
              <a:rPr lang="en-US" dirty="0"/>
              <a:t> can have real consequences such as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 person forgetting to turn off the cooker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or a medication routine not being completed properly</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2C3806D4-293C-6164-3ACA-09920CE1AA40}"/>
              </a:ext>
            </a:extLst>
          </p:cNvPr>
          <p:cNvSpPr>
            <a:spLocks noGrp="1"/>
          </p:cNvSpPr>
          <p:nvPr>
            <p:ph type="sldNum" sz="quarter" idx="5"/>
          </p:nvPr>
        </p:nvSpPr>
        <p:spPr/>
        <p:txBody>
          <a:bodyPr/>
          <a:lstStyle/>
          <a:p>
            <a:fld id="{E40E7E90-A9B2-1C4C-B2A9-6D636210D550}" type="slidenum">
              <a:rPr lang="en-US" smtClean="0"/>
              <a:t>9</a:t>
            </a:fld>
            <a:endParaRPr lang="en-US"/>
          </a:p>
        </p:txBody>
      </p:sp>
    </p:spTree>
    <p:extLst>
      <p:ext uri="{BB962C8B-B14F-4D97-AF65-F5344CB8AC3E}">
        <p14:creationId xmlns:p14="http://schemas.microsoft.com/office/powerpoint/2010/main" val="4181968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75E4A-72AF-DCC4-41FF-8A6741AF5F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1C301-95E3-D304-FB19-5F1B294A35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5EC37F-3DD0-BA23-AC3F-00BC1D7E1CB6}"/>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When using a single global model, performance drops significantly across all models </a:t>
            </a:r>
            <a:r>
              <a:rPr lang="en-GB" dirty="0"/>
              <a:t>because each activity has different behaviour patterns and a global model can’t capture these differences effectively. You are also having to balance how successful the predictions are for one activity are against another's.</a:t>
            </a:r>
            <a:endParaRPr lang="en-US" dirty="0"/>
          </a:p>
        </p:txBody>
      </p:sp>
      <p:sp>
        <p:nvSpPr>
          <p:cNvPr id="4" name="Slide Number Placeholder 3">
            <a:extLst>
              <a:ext uri="{FF2B5EF4-FFF2-40B4-BE49-F238E27FC236}">
                <a16:creationId xmlns:a16="http://schemas.microsoft.com/office/drawing/2014/main" id="{6BAFAB68-91A3-04F3-8C0B-2EC9A0DB5665}"/>
              </a:ext>
            </a:extLst>
          </p:cNvPr>
          <p:cNvSpPr>
            <a:spLocks noGrp="1"/>
          </p:cNvSpPr>
          <p:nvPr>
            <p:ph type="sldNum" sz="quarter" idx="5"/>
          </p:nvPr>
        </p:nvSpPr>
        <p:spPr/>
        <p:txBody>
          <a:bodyPr/>
          <a:lstStyle/>
          <a:p>
            <a:fld id="{E40E7E90-A9B2-1C4C-B2A9-6D636210D550}" type="slidenum">
              <a:rPr lang="en-US" smtClean="0"/>
              <a:t>10</a:t>
            </a:fld>
            <a:endParaRPr lang="en-US"/>
          </a:p>
        </p:txBody>
      </p:sp>
    </p:spTree>
    <p:extLst>
      <p:ext uri="{BB962C8B-B14F-4D97-AF65-F5344CB8AC3E}">
        <p14:creationId xmlns:p14="http://schemas.microsoft.com/office/powerpoint/2010/main" val="2896109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9B7C0-5B3E-0773-DF8F-5BED255C6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C4C9E-9E11-B118-F6F3-2E81A2A06C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E57AF5-C429-7E80-3FBA-999EA3FDD8EE}"/>
              </a:ext>
            </a:extLst>
          </p:cNvPr>
          <p:cNvSpPr>
            <a:spLocks noGrp="1"/>
          </p:cNvSpPr>
          <p:nvPr>
            <p:ph type="body" idx="1"/>
          </p:nvPr>
        </p:nvSpPr>
        <p:spPr/>
        <p:txBody>
          <a:bodyPr/>
          <a:lstStyle/>
          <a:p>
            <a:r>
              <a:rPr lang="en-US" dirty="0"/>
              <a:t>To conclude </a:t>
            </a:r>
            <a:br>
              <a:rPr lang="en-US" dirty="0"/>
            </a:br>
            <a:endParaRPr lang="en-US" dirty="0"/>
          </a:p>
          <a:p>
            <a:r>
              <a:rPr lang="en-GB" dirty="0"/>
              <a:t>DST provides robust activity classification.</a:t>
            </a:r>
          </a:p>
          <a:p>
            <a:r>
              <a:rPr lang="en-GB" dirty="0"/>
              <a:t>Per-activity models are effective at identifying abnormal behaviour. Global models were not.</a:t>
            </a:r>
          </a:p>
          <a:p>
            <a:endParaRPr lang="en-GB" dirty="0"/>
          </a:p>
          <a:p>
            <a:r>
              <a:rPr lang="en-GB" dirty="0"/>
              <a:t>In terms of future work, this could be extended by evaluating on real-world, non-scripted anomalies, as well as introducing more complex and realistic noise conditions, such as sensor faults and missing data. This would help assess how well the system generalises to real-world environments.</a:t>
            </a:r>
          </a:p>
          <a:p>
            <a:endParaRPr lang="en-GB" dirty="0"/>
          </a:p>
          <a:p>
            <a:r>
              <a:rPr lang="en-GB" dirty="0"/>
              <a:t>Overall, the two-stage approach provides a strong and practical framework for smart home monitoring.</a:t>
            </a:r>
          </a:p>
          <a:p>
            <a:endParaRPr lang="en-US" dirty="0"/>
          </a:p>
        </p:txBody>
      </p:sp>
      <p:sp>
        <p:nvSpPr>
          <p:cNvPr id="4" name="Slide Number Placeholder 3">
            <a:extLst>
              <a:ext uri="{FF2B5EF4-FFF2-40B4-BE49-F238E27FC236}">
                <a16:creationId xmlns:a16="http://schemas.microsoft.com/office/drawing/2014/main" id="{67620C67-7AE7-B230-DCA6-F07A2DA9AB87}"/>
              </a:ext>
            </a:extLst>
          </p:cNvPr>
          <p:cNvSpPr>
            <a:spLocks noGrp="1"/>
          </p:cNvSpPr>
          <p:nvPr>
            <p:ph type="sldNum" sz="quarter" idx="5"/>
          </p:nvPr>
        </p:nvSpPr>
        <p:spPr/>
        <p:txBody>
          <a:bodyPr/>
          <a:lstStyle/>
          <a:p>
            <a:fld id="{E40E7E90-A9B2-1C4C-B2A9-6D636210D550}" type="slidenum">
              <a:rPr lang="en-US" smtClean="0"/>
              <a:t>11</a:t>
            </a:fld>
            <a:endParaRPr lang="en-US"/>
          </a:p>
        </p:txBody>
      </p:sp>
    </p:spTree>
    <p:extLst>
      <p:ext uri="{BB962C8B-B14F-4D97-AF65-F5344CB8AC3E}">
        <p14:creationId xmlns:p14="http://schemas.microsoft.com/office/powerpoint/2010/main" val="1291712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AF0D0-4265-308D-C0E4-C84AE5185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8650E3-A6DF-C809-BF83-46D501A5FF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8068B7-9B73-627D-E3C4-6D94A2BD2D46}"/>
              </a:ext>
            </a:extLst>
          </p:cNvPr>
          <p:cNvSpPr>
            <a:spLocks noGrp="1"/>
          </p:cNvSpPr>
          <p:nvPr>
            <p:ph type="body" idx="1"/>
          </p:nvPr>
        </p:nvSpPr>
        <p:spPr/>
        <p:txBody>
          <a:bodyPr/>
          <a:lstStyle/>
          <a:p>
            <a:r>
              <a:rPr lang="en-US" dirty="0"/>
              <a:t>These are the references using through out this presentation.</a:t>
            </a:r>
          </a:p>
        </p:txBody>
      </p:sp>
      <p:sp>
        <p:nvSpPr>
          <p:cNvPr id="4" name="Slide Number Placeholder 3">
            <a:extLst>
              <a:ext uri="{FF2B5EF4-FFF2-40B4-BE49-F238E27FC236}">
                <a16:creationId xmlns:a16="http://schemas.microsoft.com/office/drawing/2014/main" id="{11FCE5A5-85A1-98CE-7622-884567CA22F4}"/>
              </a:ext>
            </a:extLst>
          </p:cNvPr>
          <p:cNvSpPr>
            <a:spLocks noGrp="1"/>
          </p:cNvSpPr>
          <p:nvPr>
            <p:ph type="sldNum" sz="quarter" idx="5"/>
          </p:nvPr>
        </p:nvSpPr>
        <p:spPr/>
        <p:txBody>
          <a:bodyPr/>
          <a:lstStyle/>
          <a:p>
            <a:fld id="{E40E7E90-A9B2-1C4C-B2A9-6D636210D550}" type="slidenum">
              <a:rPr lang="en-US" smtClean="0"/>
              <a:t>12</a:t>
            </a:fld>
            <a:endParaRPr lang="en-US"/>
          </a:p>
        </p:txBody>
      </p:sp>
    </p:spTree>
    <p:extLst>
      <p:ext uri="{BB962C8B-B14F-4D97-AF65-F5344CB8AC3E}">
        <p14:creationId xmlns:p14="http://schemas.microsoft.com/office/powerpoint/2010/main" val="1010278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46B61-ABE6-7D5B-A259-60B3E5C35A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B09C5-BA29-6AB1-42DE-2C041561C6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71788A-1F12-3C4B-9518-C3331CDBAB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C93794-771E-BF28-74BE-CAD30FDA19B9}"/>
              </a:ext>
            </a:extLst>
          </p:cNvPr>
          <p:cNvSpPr>
            <a:spLocks noGrp="1"/>
          </p:cNvSpPr>
          <p:nvPr>
            <p:ph type="sldNum" sz="quarter" idx="5"/>
          </p:nvPr>
        </p:nvSpPr>
        <p:spPr/>
        <p:txBody>
          <a:bodyPr/>
          <a:lstStyle/>
          <a:p>
            <a:fld id="{E40E7E90-A9B2-1C4C-B2A9-6D636210D550}" type="slidenum">
              <a:rPr lang="en-US" smtClean="0"/>
              <a:t>13</a:t>
            </a:fld>
            <a:endParaRPr lang="en-US"/>
          </a:p>
        </p:txBody>
      </p:sp>
    </p:spTree>
    <p:extLst>
      <p:ext uri="{BB962C8B-B14F-4D97-AF65-F5344CB8AC3E}">
        <p14:creationId xmlns:p14="http://schemas.microsoft.com/office/powerpoint/2010/main" val="3549530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2FAFB-EB89-542F-CF40-68767753B10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5717403-F787-9BC7-EC0A-D076350855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3334A92-A3F1-13CC-29B4-56E563984E1D}"/>
              </a:ext>
            </a:extLst>
          </p:cNvPr>
          <p:cNvSpPr>
            <a:spLocks noGrp="1"/>
          </p:cNvSpPr>
          <p:nvPr>
            <p:ph type="dt" sz="half" idx="10"/>
          </p:nvPr>
        </p:nvSpPr>
        <p:spPr/>
        <p:txBody>
          <a:bodyPr/>
          <a:lstStyle/>
          <a:p>
            <a:fld id="{98B81252-0E0C-4E4F-9F77-30B4BCF57B12}" type="datetimeFigureOut">
              <a:rPr lang="en-US" smtClean="0"/>
              <a:t>10/21/26</a:t>
            </a:fld>
            <a:endParaRPr lang="en-US"/>
          </a:p>
        </p:txBody>
      </p:sp>
      <p:sp>
        <p:nvSpPr>
          <p:cNvPr id="5" name="Footer Placeholder 4">
            <a:extLst>
              <a:ext uri="{FF2B5EF4-FFF2-40B4-BE49-F238E27FC236}">
                <a16:creationId xmlns:a16="http://schemas.microsoft.com/office/drawing/2014/main" id="{3B9845DE-05B8-D069-0C11-CB3C7CBFC2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12CC06-AA2C-96CC-1EB3-4AB2A49338E6}"/>
              </a:ext>
            </a:extLst>
          </p:cNvPr>
          <p:cNvSpPr>
            <a:spLocks noGrp="1"/>
          </p:cNvSpPr>
          <p:nvPr>
            <p:ph type="sldNum" sz="quarter" idx="12"/>
          </p:nvPr>
        </p:nvSpPr>
        <p:spPr/>
        <p:txBody>
          <a:bodyPr/>
          <a:lstStyle/>
          <a:p>
            <a:fld id="{1FA57F08-595F-1C45-B5CA-E3C7C71EC8D5}" type="slidenum">
              <a:rPr lang="en-US" smtClean="0"/>
              <a:t>‹#›</a:t>
            </a:fld>
            <a:endParaRPr lang="en-US"/>
          </a:p>
        </p:txBody>
      </p:sp>
    </p:spTree>
    <p:extLst>
      <p:ext uri="{BB962C8B-B14F-4D97-AF65-F5344CB8AC3E}">
        <p14:creationId xmlns:p14="http://schemas.microsoft.com/office/powerpoint/2010/main" val="794214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B3BD7-E4D6-F845-40A1-6EA4DA04977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01A95B1-8ACE-2B45-2073-1C557621B6C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B483A9E-94FE-0329-C032-E85B1077893D}"/>
              </a:ext>
            </a:extLst>
          </p:cNvPr>
          <p:cNvSpPr>
            <a:spLocks noGrp="1"/>
          </p:cNvSpPr>
          <p:nvPr>
            <p:ph type="dt" sz="half" idx="10"/>
          </p:nvPr>
        </p:nvSpPr>
        <p:spPr/>
        <p:txBody>
          <a:bodyPr/>
          <a:lstStyle/>
          <a:p>
            <a:fld id="{98B81252-0E0C-4E4F-9F77-30B4BCF57B12}" type="datetimeFigureOut">
              <a:rPr lang="en-US" smtClean="0"/>
              <a:t>10/21/26</a:t>
            </a:fld>
            <a:endParaRPr lang="en-US"/>
          </a:p>
        </p:txBody>
      </p:sp>
      <p:sp>
        <p:nvSpPr>
          <p:cNvPr id="5" name="Footer Placeholder 4">
            <a:extLst>
              <a:ext uri="{FF2B5EF4-FFF2-40B4-BE49-F238E27FC236}">
                <a16:creationId xmlns:a16="http://schemas.microsoft.com/office/drawing/2014/main" id="{16995192-F15B-4675-8D8F-C8106CAA1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EC2E66-4099-FFD1-E46A-11D12FDBEE17}"/>
              </a:ext>
            </a:extLst>
          </p:cNvPr>
          <p:cNvSpPr>
            <a:spLocks noGrp="1"/>
          </p:cNvSpPr>
          <p:nvPr>
            <p:ph type="sldNum" sz="quarter" idx="12"/>
          </p:nvPr>
        </p:nvSpPr>
        <p:spPr/>
        <p:txBody>
          <a:bodyPr/>
          <a:lstStyle/>
          <a:p>
            <a:fld id="{1FA57F08-595F-1C45-B5CA-E3C7C71EC8D5}" type="slidenum">
              <a:rPr lang="en-US" smtClean="0"/>
              <a:t>‹#›</a:t>
            </a:fld>
            <a:endParaRPr lang="en-US"/>
          </a:p>
        </p:txBody>
      </p:sp>
    </p:spTree>
    <p:extLst>
      <p:ext uri="{BB962C8B-B14F-4D97-AF65-F5344CB8AC3E}">
        <p14:creationId xmlns:p14="http://schemas.microsoft.com/office/powerpoint/2010/main" val="1681043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64154-7188-D6D9-BCB6-D61E25B17E4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7322A73-CA89-C368-DFDD-EF1636A6FD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06A8903-0C9D-FC1A-2806-0C4589D8C228}"/>
              </a:ext>
            </a:extLst>
          </p:cNvPr>
          <p:cNvSpPr>
            <a:spLocks noGrp="1"/>
          </p:cNvSpPr>
          <p:nvPr>
            <p:ph type="dt" sz="half" idx="10"/>
          </p:nvPr>
        </p:nvSpPr>
        <p:spPr/>
        <p:txBody>
          <a:bodyPr/>
          <a:lstStyle/>
          <a:p>
            <a:fld id="{98B81252-0E0C-4E4F-9F77-30B4BCF57B12}" type="datetimeFigureOut">
              <a:rPr lang="en-US" smtClean="0"/>
              <a:t>10/21/26</a:t>
            </a:fld>
            <a:endParaRPr lang="en-US"/>
          </a:p>
        </p:txBody>
      </p:sp>
      <p:sp>
        <p:nvSpPr>
          <p:cNvPr id="5" name="Footer Placeholder 4">
            <a:extLst>
              <a:ext uri="{FF2B5EF4-FFF2-40B4-BE49-F238E27FC236}">
                <a16:creationId xmlns:a16="http://schemas.microsoft.com/office/drawing/2014/main" id="{DD519A15-6AE0-35B1-2E68-7AA6E725F4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6047F7-AB7A-CD65-5E25-AB83A92DEED6}"/>
              </a:ext>
            </a:extLst>
          </p:cNvPr>
          <p:cNvSpPr>
            <a:spLocks noGrp="1"/>
          </p:cNvSpPr>
          <p:nvPr>
            <p:ph type="sldNum" sz="quarter" idx="12"/>
          </p:nvPr>
        </p:nvSpPr>
        <p:spPr/>
        <p:txBody>
          <a:bodyPr/>
          <a:lstStyle/>
          <a:p>
            <a:fld id="{1FA57F08-595F-1C45-B5CA-E3C7C71EC8D5}" type="slidenum">
              <a:rPr lang="en-US" smtClean="0"/>
              <a:t>‹#›</a:t>
            </a:fld>
            <a:endParaRPr lang="en-US"/>
          </a:p>
        </p:txBody>
      </p:sp>
    </p:spTree>
    <p:extLst>
      <p:ext uri="{BB962C8B-B14F-4D97-AF65-F5344CB8AC3E}">
        <p14:creationId xmlns:p14="http://schemas.microsoft.com/office/powerpoint/2010/main" val="3027999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600B2-15B3-FC7C-A79B-36F98FBBA60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8EF41DB-2DE9-8AB0-DA3D-F8BF7B09365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1A50534-B536-3D45-D0A4-AD52B8D31F3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75ABCEA-6C2F-1F4C-2718-1841336A67C8}"/>
              </a:ext>
            </a:extLst>
          </p:cNvPr>
          <p:cNvSpPr>
            <a:spLocks noGrp="1"/>
          </p:cNvSpPr>
          <p:nvPr>
            <p:ph type="dt" sz="half" idx="10"/>
          </p:nvPr>
        </p:nvSpPr>
        <p:spPr/>
        <p:txBody>
          <a:bodyPr/>
          <a:lstStyle/>
          <a:p>
            <a:fld id="{98B81252-0E0C-4E4F-9F77-30B4BCF57B12}" type="datetimeFigureOut">
              <a:rPr lang="en-US" smtClean="0"/>
              <a:t>10/21/26</a:t>
            </a:fld>
            <a:endParaRPr lang="en-US"/>
          </a:p>
        </p:txBody>
      </p:sp>
      <p:sp>
        <p:nvSpPr>
          <p:cNvPr id="6" name="Footer Placeholder 5">
            <a:extLst>
              <a:ext uri="{FF2B5EF4-FFF2-40B4-BE49-F238E27FC236}">
                <a16:creationId xmlns:a16="http://schemas.microsoft.com/office/drawing/2014/main" id="{27FE1986-CBB6-E719-5214-19A45580F6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440AFA-E702-81CA-F2B0-F2B06667A9EB}"/>
              </a:ext>
            </a:extLst>
          </p:cNvPr>
          <p:cNvSpPr>
            <a:spLocks noGrp="1"/>
          </p:cNvSpPr>
          <p:nvPr>
            <p:ph type="sldNum" sz="quarter" idx="12"/>
          </p:nvPr>
        </p:nvSpPr>
        <p:spPr/>
        <p:txBody>
          <a:bodyPr/>
          <a:lstStyle/>
          <a:p>
            <a:fld id="{1FA57F08-595F-1C45-B5CA-E3C7C71EC8D5}" type="slidenum">
              <a:rPr lang="en-US" smtClean="0"/>
              <a:t>‹#›</a:t>
            </a:fld>
            <a:endParaRPr lang="en-US"/>
          </a:p>
        </p:txBody>
      </p:sp>
    </p:spTree>
    <p:extLst>
      <p:ext uri="{BB962C8B-B14F-4D97-AF65-F5344CB8AC3E}">
        <p14:creationId xmlns:p14="http://schemas.microsoft.com/office/powerpoint/2010/main" val="1211077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46733-C112-5B38-5C5F-E9B6795525C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0867455-3FE9-7A63-7CC1-2EF13F7EBB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D8CE376-E263-91E5-C775-C229E069AC1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81F2F5E-77D9-5B99-772A-21E0038467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758D5B1-2F00-0354-8EC3-FDF79970E3A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86F91E0-07BC-1C6F-007A-63D50D889778}"/>
              </a:ext>
            </a:extLst>
          </p:cNvPr>
          <p:cNvSpPr>
            <a:spLocks noGrp="1"/>
          </p:cNvSpPr>
          <p:nvPr>
            <p:ph type="dt" sz="half" idx="10"/>
          </p:nvPr>
        </p:nvSpPr>
        <p:spPr/>
        <p:txBody>
          <a:bodyPr/>
          <a:lstStyle/>
          <a:p>
            <a:fld id="{98B81252-0E0C-4E4F-9F77-30B4BCF57B12}" type="datetimeFigureOut">
              <a:rPr lang="en-US" smtClean="0"/>
              <a:t>10/21/26</a:t>
            </a:fld>
            <a:endParaRPr lang="en-US"/>
          </a:p>
        </p:txBody>
      </p:sp>
      <p:sp>
        <p:nvSpPr>
          <p:cNvPr id="8" name="Footer Placeholder 7">
            <a:extLst>
              <a:ext uri="{FF2B5EF4-FFF2-40B4-BE49-F238E27FC236}">
                <a16:creationId xmlns:a16="http://schemas.microsoft.com/office/drawing/2014/main" id="{8E634E00-C366-81BC-1DC9-22D6A21248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11872C-7AE3-3658-04B8-96E0249AF02F}"/>
              </a:ext>
            </a:extLst>
          </p:cNvPr>
          <p:cNvSpPr>
            <a:spLocks noGrp="1"/>
          </p:cNvSpPr>
          <p:nvPr>
            <p:ph type="sldNum" sz="quarter" idx="12"/>
          </p:nvPr>
        </p:nvSpPr>
        <p:spPr/>
        <p:txBody>
          <a:bodyPr/>
          <a:lstStyle/>
          <a:p>
            <a:fld id="{1FA57F08-595F-1C45-B5CA-E3C7C71EC8D5}" type="slidenum">
              <a:rPr lang="en-US" smtClean="0"/>
              <a:t>‹#›</a:t>
            </a:fld>
            <a:endParaRPr lang="en-US"/>
          </a:p>
        </p:txBody>
      </p:sp>
    </p:spTree>
    <p:extLst>
      <p:ext uri="{BB962C8B-B14F-4D97-AF65-F5344CB8AC3E}">
        <p14:creationId xmlns:p14="http://schemas.microsoft.com/office/powerpoint/2010/main" val="299716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06B60-045D-44BF-028D-36B1A2FCD30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B114F-45E6-060A-8F6C-9571E359740D}"/>
              </a:ext>
            </a:extLst>
          </p:cNvPr>
          <p:cNvSpPr>
            <a:spLocks noGrp="1"/>
          </p:cNvSpPr>
          <p:nvPr>
            <p:ph type="dt" sz="half" idx="10"/>
          </p:nvPr>
        </p:nvSpPr>
        <p:spPr/>
        <p:txBody>
          <a:bodyPr/>
          <a:lstStyle/>
          <a:p>
            <a:fld id="{98B81252-0E0C-4E4F-9F77-30B4BCF57B12}" type="datetimeFigureOut">
              <a:rPr lang="en-US" smtClean="0"/>
              <a:t>10/21/26</a:t>
            </a:fld>
            <a:endParaRPr lang="en-US"/>
          </a:p>
        </p:txBody>
      </p:sp>
      <p:sp>
        <p:nvSpPr>
          <p:cNvPr id="4" name="Footer Placeholder 3">
            <a:extLst>
              <a:ext uri="{FF2B5EF4-FFF2-40B4-BE49-F238E27FC236}">
                <a16:creationId xmlns:a16="http://schemas.microsoft.com/office/drawing/2014/main" id="{D1A36247-1052-1251-B56A-9D9345A9AE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6D48A9E-C47D-2EE1-C564-6E40DF8E8859}"/>
              </a:ext>
            </a:extLst>
          </p:cNvPr>
          <p:cNvSpPr>
            <a:spLocks noGrp="1"/>
          </p:cNvSpPr>
          <p:nvPr>
            <p:ph type="sldNum" sz="quarter" idx="12"/>
          </p:nvPr>
        </p:nvSpPr>
        <p:spPr/>
        <p:txBody>
          <a:bodyPr/>
          <a:lstStyle/>
          <a:p>
            <a:fld id="{1FA57F08-595F-1C45-B5CA-E3C7C71EC8D5}" type="slidenum">
              <a:rPr lang="en-US" smtClean="0"/>
              <a:t>‹#›</a:t>
            </a:fld>
            <a:endParaRPr lang="en-US"/>
          </a:p>
        </p:txBody>
      </p:sp>
    </p:spTree>
    <p:extLst>
      <p:ext uri="{BB962C8B-B14F-4D97-AF65-F5344CB8AC3E}">
        <p14:creationId xmlns:p14="http://schemas.microsoft.com/office/powerpoint/2010/main" val="629675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E241EB-FBD4-AC2B-A5E9-C7219416042C}"/>
              </a:ext>
            </a:extLst>
          </p:cNvPr>
          <p:cNvSpPr>
            <a:spLocks noGrp="1"/>
          </p:cNvSpPr>
          <p:nvPr>
            <p:ph type="dt" sz="half" idx="10"/>
          </p:nvPr>
        </p:nvSpPr>
        <p:spPr/>
        <p:txBody>
          <a:bodyPr/>
          <a:lstStyle/>
          <a:p>
            <a:fld id="{98B81252-0E0C-4E4F-9F77-30B4BCF57B12}" type="datetimeFigureOut">
              <a:rPr lang="en-US" smtClean="0"/>
              <a:t>10/21/26</a:t>
            </a:fld>
            <a:endParaRPr lang="en-US"/>
          </a:p>
        </p:txBody>
      </p:sp>
      <p:sp>
        <p:nvSpPr>
          <p:cNvPr id="3" name="Footer Placeholder 2">
            <a:extLst>
              <a:ext uri="{FF2B5EF4-FFF2-40B4-BE49-F238E27FC236}">
                <a16:creationId xmlns:a16="http://schemas.microsoft.com/office/drawing/2014/main" id="{09BAF3C6-67E2-4E6C-56F8-EA6AF1F194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4465AB-C3CD-5EC4-12B0-F10FF1B661CF}"/>
              </a:ext>
            </a:extLst>
          </p:cNvPr>
          <p:cNvSpPr>
            <a:spLocks noGrp="1"/>
          </p:cNvSpPr>
          <p:nvPr>
            <p:ph type="sldNum" sz="quarter" idx="12"/>
          </p:nvPr>
        </p:nvSpPr>
        <p:spPr/>
        <p:txBody>
          <a:bodyPr/>
          <a:lstStyle/>
          <a:p>
            <a:fld id="{1FA57F08-595F-1C45-B5CA-E3C7C71EC8D5}" type="slidenum">
              <a:rPr lang="en-US" smtClean="0"/>
              <a:t>‹#›</a:t>
            </a:fld>
            <a:endParaRPr lang="en-US"/>
          </a:p>
        </p:txBody>
      </p:sp>
    </p:spTree>
    <p:extLst>
      <p:ext uri="{BB962C8B-B14F-4D97-AF65-F5344CB8AC3E}">
        <p14:creationId xmlns:p14="http://schemas.microsoft.com/office/powerpoint/2010/main" val="4115064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86EE1-A247-4344-9657-91DDD87165A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7D9EE2F-CA2D-DDE8-CDCF-DD282EE229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F4CAD88-C71C-864C-DC3E-95712EF3B4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D64E1FD-007F-60F3-9E36-C5B31041F88A}"/>
              </a:ext>
            </a:extLst>
          </p:cNvPr>
          <p:cNvSpPr>
            <a:spLocks noGrp="1"/>
          </p:cNvSpPr>
          <p:nvPr>
            <p:ph type="dt" sz="half" idx="10"/>
          </p:nvPr>
        </p:nvSpPr>
        <p:spPr/>
        <p:txBody>
          <a:bodyPr/>
          <a:lstStyle/>
          <a:p>
            <a:fld id="{98B81252-0E0C-4E4F-9F77-30B4BCF57B12}" type="datetimeFigureOut">
              <a:rPr lang="en-US" smtClean="0"/>
              <a:t>10/21/26</a:t>
            </a:fld>
            <a:endParaRPr lang="en-US"/>
          </a:p>
        </p:txBody>
      </p:sp>
      <p:sp>
        <p:nvSpPr>
          <p:cNvPr id="6" name="Footer Placeholder 5">
            <a:extLst>
              <a:ext uri="{FF2B5EF4-FFF2-40B4-BE49-F238E27FC236}">
                <a16:creationId xmlns:a16="http://schemas.microsoft.com/office/drawing/2014/main" id="{5FCEDA21-4DA4-39FE-E24E-CE56DA8872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84DAB9-183C-A22A-4A03-3655E0181BC6}"/>
              </a:ext>
            </a:extLst>
          </p:cNvPr>
          <p:cNvSpPr>
            <a:spLocks noGrp="1"/>
          </p:cNvSpPr>
          <p:nvPr>
            <p:ph type="sldNum" sz="quarter" idx="12"/>
          </p:nvPr>
        </p:nvSpPr>
        <p:spPr/>
        <p:txBody>
          <a:bodyPr/>
          <a:lstStyle/>
          <a:p>
            <a:fld id="{1FA57F08-595F-1C45-B5CA-E3C7C71EC8D5}" type="slidenum">
              <a:rPr lang="en-US" smtClean="0"/>
              <a:t>‹#›</a:t>
            </a:fld>
            <a:endParaRPr lang="en-US"/>
          </a:p>
        </p:txBody>
      </p:sp>
    </p:spTree>
    <p:extLst>
      <p:ext uri="{BB962C8B-B14F-4D97-AF65-F5344CB8AC3E}">
        <p14:creationId xmlns:p14="http://schemas.microsoft.com/office/powerpoint/2010/main" val="2023429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088EB-8A0C-FEEC-EF8A-7316F2D230D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FC10F6A-BEC7-BF38-A06E-9384FA11AC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C1BCAD-401B-E981-87CE-58D0A92AC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85F6866-FFCD-DB0D-E9F8-7D3C99CE0AE6}"/>
              </a:ext>
            </a:extLst>
          </p:cNvPr>
          <p:cNvSpPr>
            <a:spLocks noGrp="1"/>
          </p:cNvSpPr>
          <p:nvPr>
            <p:ph type="dt" sz="half" idx="10"/>
          </p:nvPr>
        </p:nvSpPr>
        <p:spPr/>
        <p:txBody>
          <a:bodyPr/>
          <a:lstStyle/>
          <a:p>
            <a:fld id="{98B81252-0E0C-4E4F-9F77-30B4BCF57B12}" type="datetimeFigureOut">
              <a:rPr lang="en-US" smtClean="0"/>
              <a:t>10/21/26</a:t>
            </a:fld>
            <a:endParaRPr lang="en-US"/>
          </a:p>
        </p:txBody>
      </p:sp>
      <p:sp>
        <p:nvSpPr>
          <p:cNvPr id="6" name="Footer Placeholder 5">
            <a:extLst>
              <a:ext uri="{FF2B5EF4-FFF2-40B4-BE49-F238E27FC236}">
                <a16:creationId xmlns:a16="http://schemas.microsoft.com/office/drawing/2014/main" id="{105C951B-1BBA-D654-2CB0-933D561C09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65FADE-FF8D-EFA0-5A2B-7A53E304728C}"/>
              </a:ext>
            </a:extLst>
          </p:cNvPr>
          <p:cNvSpPr>
            <a:spLocks noGrp="1"/>
          </p:cNvSpPr>
          <p:nvPr>
            <p:ph type="sldNum" sz="quarter" idx="12"/>
          </p:nvPr>
        </p:nvSpPr>
        <p:spPr/>
        <p:txBody>
          <a:bodyPr/>
          <a:lstStyle/>
          <a:p>
            <a:fld id="{1FA57F08-595F-1C45-B5CA-E3C7C71EC8D5}" type="slidenum">
              <a:rPr lang="en-US" smtClean="0"/>
              <a:t>‹#›</a:t>
            </a:fld>
            <a:endParaRPr lang="en-US"/>
          </a:p>
        </p:txBody>
      </p:sp>
    </p:spTree>
    <p:extLst>
      <p:ext uri="{BB962C8B-B14F-4D97-AF65-F5344CB8AC3E}">
        <p14:creationId xmlns:p14="http://schemas.microsoft.com/office/powerpoint/2010/main" val="790612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D2F29-2E0C-8880-96FE-C839EE23E69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1788358-4A16-7EEE-1BBE-FA1B31CA37B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5A28A37-20C8-3829-6F23-E2CF6CC26BFB}"/>
              </a:ext>
            </a:extLst>
          </p:cNvPr>
          <p:cNvSpPr>
            <a:spLocks noGrp="1"/>
          </p:cNvSpPr>
          <p:nvPr>
            <p:ph type="dt" sz="half" idx="10"/>
          </p:nvPr>
        </p:nvSpPr>
        <p:spPr/>
        <p:txBody>
          <a:bodyPr/>
          <a:lstStyle/>
          <a:p>
            <a:fld id="{98B81252-0E0C-4E4F-9F77-30B4BCF57B12}" type="datetimeFigureOut">
              <a:rPr lang="en-US" smtClean="0"/>
              <a:t>10/21/26</a:t>
            </a:fld>
            <a:endParaRPr lang="en-US"/>
          </a:p>
        </p:txBody>
      </p:sp>
      <p:sp>
        <p:nvSpPr>
          <p:cNvPr id="5" name="Footer Placeholder 4">
            <a:extLst>
              <a:ext uri="{FF2B5EF4-FFF2-40B4-BE49-F238E27FC236}">
                <a16:creationId xmlns:a16="http://schemas.microsoft.com/office/drawing/2014/main" id="{80144594-0BCF-9679-31FF-85BC5F777D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31604F-CF73-AFB7-FDFC-EEF40A3DCFD9}"/>
              </a:ext>
            </a:extLst>
          </p:cNvPr>
          <p:cNvSpPr>
            <a:spLocks noGrp="1"/>
          </p:cNvSpPr>
          <p:nvPr>
            <p:ph type="sldNum" sz="quarter" idx="12"/>
          </p:nvPr>
        </p:nvSpPr>
        <p:spPr/>
        <p:txBody>
          <a:bodyPr/>
          <a:lstStyle/>
          <a:p>
            <a:fld id="{1FA57F08-595F-1C45-B5CA-E3C7C71EC8D5}" type="slidenum">
              <a:rPr lang="en-US" smtClean="0"/>
              <a:t>‹#›</a:t>
            </a:fld>
            <a:endParaRPr lang="en-US"/>
          </a:p>
        </p:txBody>
      </p:sp>
    </p:spTree>
    <p:extLst>
      <p:ext uri="{BB962C8B-B14F-4D97-AF65-F5344CB8AC3E}">
        <p14:creationId xmlns:p14="http://schemas.microsoft.com/office/powerpoint/2010/main" val="1442823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8432D9-1C36-6F20-1A53-C3FC20E7646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44401D9-1BDA-49DA-FE27-885D348AE67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202CB21-BA39-4289-269E-C35039BDC382}"/>
              </a:ext>
            </a:extLst>
          </p:cNvPr>
          <p:cNvSpPr>
            <a:spLocks noGrp="1"/>
          </p:cNvSpPr>
          <p:nvPr>
            <p:ph type="dt" sz="half" idx="10"/>
          </p:nvPr>
        </p:nvSpPr>
        <p:spPr/>
        <p:txBody>
          <a:bodyPr/>
          <a:lstStyle/>
          <a:p>
            <a:fld id="{98B81252-0E0C-4E4F-9F77-30B4BCF57B12}" type="datetimeFigureOut">
              <a:rPr lang="en-US" smtClean="0"/>
              <a:t>10/21/26</a:t>
            </a:fld>
            <a:endParaRPr lang="en-US"/>
          </a:p>
        </p:txBody>
      </p:sp>
      <p:sp>
        <p:nvSpPr>
          <p:cNvPr id="5" name="Footer Placeholder 4">
            <a:extLst>
              <a:ext uri="{FF2B5EF4-FFF2-40B4-BE49-F238E27FC236}">
                <a16:creationId xmlns:a16="http://schemas.microsoft.com/office/drawing/2014/main" id="{6075372C-5235-9825-53D7-BB0B45D085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0F661C-40F0-1325-F31F-9644CABB7EC5}"/>
              </a:ext>
            </a:extLst>
          </p:cNvPr>
          <p:cNvSpPr>
            <a:spLocks noGrp="1"/>
          </p:cNvSpPr>
          <p:nvPr>
            <p:ph type="sldNum" sz="quarter" idx="12"/>
          </p:nvPr>
        </p:nvSpPr>
        <p:spPr/>
        <p:txBody>
          <a:bodyPr/>
          <a:lstStyle/>
          <a:p>
            <a:fld id="{1FA57F08-595F-1C45-B5CA-E3C7C71EC8D5}" type="slidenum">
              <a:rPr lang="en-US" smtClean="0"/>
              <a:t>‹#›</a:t>
            </a:fld>
            <a:endParaRPr lang="en-US"/>
          </a:p>
        </p:txBody>
      </p:sp>
    </p:spTree>
    <p:extLst>
      <p:ext uri="{BB962C8B-B14F-4D97-AF65-F5344CB8AC3E}">
        <p14:creationId xmlns:p14="http://schemas.microsoft.com/office/powerpoint/2010/main" val="1389449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B4BED1-7217-6843-CE24-EB6DEBBB85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D7964CC-FF57-769D-CE9B-CB4F3ADCB5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C09DC32-795B-9E99-8F44-D946AE80F0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B81252-0E0C-4E4F-9F77-30B4BCF57B12}" type="datetimeFigureOut">
              <a:rPr lang="en-US" smtClean="0"/>
              <a:t>10/21/26</a:t>
            </a:fld>
            <a:endParaRPr lang="en-US"/>
          </a:p>
        </p:txBody>
      </p:sp>
      <p:sp>
        <p:nvSpPr>
          <p:cNvPr id="5" name="Footer Placeholder 4">
            <a:extLst>
              <a:ext uri="{FF2B5EF4-FFF2-40B4-BE49-F238E27FC236}">
                <a16:creationId xmlns:a16="http://schemas.microsoft.com/office/drawing/2014/main" id="{C8641988-3981-5606-B648-6B8B2948B4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BEC896E-0462-B0A9-3C31-E0AE32A291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A57F08-595F-1C45-B5CA-E3C7C71EC8D5}" type="slidenum">
              <a:rPr lang="en-US" smtClean="0"/>
              <a:t>‹#›</a:t>
            </a:fld>
            <a:endParaRPr lang="en-US"/>
          </a:p>
        </p:txBody>
      </p:sp>
    </p:spTree>
    <p:extLst>
      <p:ext uri="{BB962C8B-B14F-4D97-AF65-F5344CB8AC3E}">
        <p14:creationId xmlns:p14="http://schemas.microsoft.com/office/powerpoint/2010/main" val="3157749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9876F9-E9AB-D20D-F1BC-C0E868089757}"/>
              </a:ext>
            </a:extLst>
          </p:cNvPr>
          <p:cNvSpPr>
            <a:spLocks noGrp="1"/>
          </p:cNvSpPr>
          <p:nvPr>
            <p:ph type="ctrTitle"/>
          </p:nvPr>
        </p:nvSpPr>
        <p:spPr>
          <a:xfrm>
            <a:off x="890337" y="640080"/>
            <a:ext cx="4507337" cy="3566160"/>
          </a:xfrm>
        </p:spPr>
        <p:txBody>
          <a:bodyPr anchor="b">
            <a:normAutofit/>
          </a:bodyPr>
          <a:lstStyle/>
          <a:p>
            <a:pPr algn="l"/>
            <a:r>
              <a:rPr lang="en-US" sz="3800" dirty="0">
                <a:solidFill>
                  <a:srgbClr val="0E2841"/>
                </a:solidFill>
              </a:rPr>
              <a:t>Abnormal Activity Detections in Smart Homes Using Normal </a:t>
            </a:r>
            <a:r>
              <a:rPr lang="en-US" sz="3800" dirty="0" err="1">
                <a:solidFill>
                  <a:srgbClr val="0E2841"/>
                </a:solidFill>
              </a:rPr>
              <a:t>Behaviour</a:t>
            </a:r>
            <a:r>
              <a:rPr lang="en-US" sz="3800" dirty="0">
                <a:solidFill>
                  <a:srgbClr val="0E2841"/>
                </a:solidFill>
              </a:rPr>
              <a:t> Modelling</a:t>
            </a:r>
          </a:p>
        </p:txBody>
      </p:sp>
      <p:sp>
        <p:nvSpPr>
          <p:cNvPr id="17"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60F96DC-DE29-3568-4627-EC18ECBDCC34}"/>
              </a:ext>
            </a:extLst>
          </p:cNvPr>
          <p:cNvSpPr txBox="1"/>
          <p:nvPr/>
        </p:nvSpPr>
        <p:spPr>
          <a:xfrm>
            <a:off x="3047505" y="3244334"/>
            <a:ext cx="6095010" cy="369332"/>
          </a:xfrm>
          <a:prstGeom prst="rect">
            <a:avLst/>
          </a:prstGeom>
          <a:noFill/>
        </p:spPr>
        <p:txBody>
          <a:bodyPr wrap="square">
            <a:spAutoFit/>
          </a:bodyPr>
          <a:lstStyle/>
          <a:p>
            <a:endParaRPr lang="en-US" dirty="0"/>
          </a:p>
        </p:txBody>
      </p:sp>
      <p:pic>
        <p:nvPicPr>
          <p:cNvPr id="56" name="Picture 55">
            <a:extLst>
              <a:ext uri="{FF2B5EF4-FFF2-40B4-BE49-F238E27FC236}">
                <a16:creationId xmlns:a16="http://schemas.microsoft.com/office/drawing/2014/main" id="{C31C2E59-7D6F-2CA6-2C6C-924C4F0747AD}"/>
              </a:ext>
            </a:extLst>
          </p:cNvPr>
          <p:cNvPicPr>
            <a:picLocks noChangeAspect="1"/>
          </p:cNvPicPr>
          <p:nvPr/>
        </p:nvPicPr>
        <p:blipFill>
          <a:blip r:embed="rId3"/>
          <a:stretch>
            <a:fillRect/>
          </a:stretch>
        </p:blipFill>
        <p:spPr>
          <a:xfrm>
            <a:off x="3662953" y="4857583"/>
            <a:ext cx="575347" cy="447492"/>
          </a:xfrm>
          <a:prstGeom prst="rect">
            <a:avLst/>
          </a:prstGeom>
        </p:spPr>
      </p:pic>
      <p:grpSp>
        <p:nvGrpSpPr>
          <p:cNvPr id="69" name="Group 68">
            <a:extLst>
              <a:ext uri="{FF2B5EF4-FFF2-40B4-BE49-F238E27FC236}">
                <a16:creationId xmlns:a16="http://schemas.microsoft.com/office/drawing/2014/main" id="{EF0A2CCB-8D28-B492-75D5-2739C0A9AC50}"/>
              </a:ext>
            </a:extLst>
          </p:cNvPr>
          <p:cNvGrpSpPr/>
          <p:nvPr/>
        </p:nvGrpSpPr>
        <p:grpSpPr>
          <a:xfrm>
            <a:off x="5187272" y="0"/>
            <a:ext cx="6858000" cy="6858000"/>
            <a:chOff x="5105992" y="4525"/>
            <a:chExt cx="6858000" cy="6858000"/>
          </a:xfrm>
        </p:grpSpPr>
        <p:pic>
          <p:nvPicPr>
            <p:cNvPr id="57" name="Picture 56">
              <a:extLst>
                <a:ext uri="{FF2B5EF4-FFF2-40B4-BE49-F238E27FC236}">
                  <a16:creationId xmlns:a16="http://schemas.microsoft.com/office/drawing/2014/main" id="{8D308C77-3FB2-0137-353E-00106C80AADA}"/>
                </a:ext>
              </a:extLst>
            </p:cNvPr>
            <p:cNvPicPr>
              <a:picLocks noChangeAspect="1"/>
            </p:cNvPicPr>
            <p:nvPr/>
          </p:nvPicPr>
          <p:blipFill>
            <a:blip r:embed="rId3"/>
            <a:stretch>
              <a:fillRect/>
            </a:stretch>
          </p:blipFill>
          <p:spPr>
            <a:xfrm>
              <a:off x="6244012" y="4920115"/>
              <a:ext cx="414283" cy="447492"/>
            </a:xfrm>
            <a:prstGeom prst="rect">
              <a:avLst/>
            </a:prstGeom>
          </p:spPr>
        </p:pic>
        <p:pic>
          <p:nvPicPr>
            <p:cNvPr id="62" name="Picture 61">
              <a:extLst>
                <a:ext uri="{FF2B5EF4-FFF2-40B4-BE49-F238E27FC236}">
                  <a16:creationId xmlns:a16="http://schemas.microsoft.com/office/drawing/2014/main" id="{9EC6F76E-1A57-E890-2D02-929D9D95EC9B}"/>
                </a:ext>
              </a:extLst>
            </p:cNvPr>
            <p:cNvPicPr>
              <a:picLocks noChangeAspect="1"/>
            </p:cNvPicPr>
            <p:nvPr/>
          </p:nvPicPr>
          <p:blipFill>
            <a:blip r:embed="rId4"/>
            <a:stretch>
              <a:fillRect/>
            </a:stretch>
          </p:blipFill>
          <p:spPr>
            <a:xfrm>
              <a:off x="5801571" y="2811397"/>
              <a:ext cx="442441" cy="432937"/>
            </a:xfrm>
            <a:prstGeom prst="rect">
              <a:avLst/>
            </a:prstGeom>
          </p:spPr>
        </p:pic>
        <p:pic>
          <p:nvPicPr>
            <p:cNvPr id="59" name="Picture 58" descr="A diagram of a house with icons&#10;&#10;AI-generated content may be incorrect.">
              <a:extLst>
                <a:ext uri="{FF2B5EF4-FFF2-40B4-BE49-F238E27FC236}">
                  <a16:creationId xmlns:a16="http://schemas.microsoft.com/office/drawing/2014/main" id="{25196037-EAB6-640B-5091-1F913CA84FA7}"/>
                </a:ext>
              </a:extLst>
            </p:cNvPr>
            <p:cNvPicPr>
              <a:picLocks noChangeAspect="1"/>
            </p:cNvPicPr>
            <p:nvPr/>
          </p:nvPicPr>
          <p:blipFill>
            <a:blip r:embed="rId5"/>
            <a:stretch>
              <a:fillRect/>
            </a:stretch>
          </p:blipFill>
          <p:spPr>
            <a:xfrm>
              <a:off x="5105992" y="4525"/>
              <a:ext cx="6858000" cy="6858000"/>
            </a:xfrm>
            <a:prstGeom prst="rect">
              <a:avLst/>
            </a:prstGeom>
          </p:spPr>
        </p:pic>
        <p:pic>
          <p:nvPicPr>
            <p:cNvPr id="64" name="Picture 63" descr="A blue faucet with a drop of water&#10;&#10;AI-generated content may be incorrect.">
              <a:extLst>
                <a:ext uri="{FF2B5EF4-FFF2-40B4-BE49-F238E27FC236}">
                  <a16:creationId xmlns:a16="http://schemas.microsoft.com/office/drawing/2014/main" id="{6C87D11E-923F-DCFC-E91A-757D21D86C62}"/>
                </a:ext>
              </a:extLst>
            </p:cNvPr>
            <p:cNvPicPr>
              <a:picLocks noChangeAspect="1"/>
            </p:cNvPicPr>
            <p:nvPr/>
          </p:nvPicPr>
          <p:blipFill>
            <a:blip r:embed="rId6"/>
            <a:srcRect b="8090"/>
            <a:stretch>
              <a:fillRect/>
            </a:stretch>
          </p:blipFill>
          <p:spPr>
            <a:xfrm>
              <a:off x="10226046" y="2624862"/>
              <a:ext cx="556222" cy="556735"/>
            </a:xfrm>
            <a:prstGeom prst="rect">
              <a:avLst/>
            </a:prstGeom>
          </p:spPr>
        </p:pic>
        <p:pic>
          <p:nvPicPr>
            <p:cNvPr id="67" name="Picture 66">
              <a:extLst>
                <a:ext uri="{FF2B5EF4-FFF2-40B4-BE49-F238E27FC236}">
                  <a16:creationId xmlns:a16="http://schemas.microsoft.com/office/drawing/2014/main" id="{28F576F6-B526-A690-3B51-D54E62B27005}"/>
                </a:ext>
              </a:extLst>
            </p:cNvPr>
            <p:cNvPicPr>
              <a:picLocks noChangeAspect="1"/>
            </p:cNvPicPr>
            <p:nvPr/>
          </p:nvPicPr>
          <p:blipFill>
            <a:blip r:embed="rId7"/>
            <a:stretch>
              <a:fillRect/>
            </a:stretch>
          </p:blipFill>
          <p:spPr>
            <a:xfrm>
              <a:off x="5623389" y="2851029"/>
              <a:ext cx="537920" cy="388780"/>
            </a:xfrm>
            <a:prstGeom prst="rect">
              <a:avLst/>
            </a:prstGeom>
          </p:spPr>
        </p:pic>
        <p:pic>
          <p:nvPicPr>
            <p:cNvPr id="61" name="Picture 60" descr="A blue faucet over a hand&#10;&#10;AI-generated content may be incorrect.">
              <a:extLst>
                <a:ext uri="{FF2B5EF4-FFF2-40B4-BE49-F238E27FC236}">
                  <a16:creationId xmlns:a16="http://schemas.microsoft.com/office/drawing/2014/main" id="{827E50DE-DF58-A31E-2391-8AB7505E779D}"/>
                </a:ext>
              </a:extLst>
            </p:cNvPr>
            <p:cNvPicPr>
              <a:picLocks noChangeAspect="1"/>
            </p:cNvPicPr>
            <p:nvPr/>
          </p:nvPicPr>
          <p:blipFill>
            <a:blip r:embed="rId8"/>
            <a:srcRect l="13935" t="50603" r="17228" b="7974"/>
            <a:stretch>
              <a:fillRect/>
            </a:stretch>
          </p:blipFill>
          <p:spPr>
            <a:xfrm>
              <a:off x="5695927" y="3054156"/>
              <a:ext cx="323557" cy="194703"/>
            </a:xfrm>
            <a:prstGeom prst="rect">
              <a:avLst/>
            </a:prstGeom>
          </p:spPr>
        </p:pic>
        <p:pic>
          <p:nvPicPr>
            <p:cNvPr id="65" name="Picture 64" descr="A blue faucet over a hand&#10;&#10;AI-generated content may be incorrect.">
              <a:extLst>
                <a:ext uri="{FF2B5EF4-FFF2-40B4-BE49-F238E27FC236}">
                  <a16:creationId xmlns:a16="http://schemas.microsoft.com/office/drawing/2014/main" id="{730DE401-126E-AF94-40EB-0BA12F8345ED}"/>
                </a:ext>
              </a:extLst>
            </p:cNvPr>
            <p:cNvPicPr>
              <a:picLocks noChangeAspect="1"/>
            </p:cNvPicPr>
            <p:nvPr/>
          </p:nvPicPr>
          <p:blipFill>
            <a:blip r:embed="rId8"/>
            <a:srcRect l="13935" t="7702" r="17228" b="48583"/>
            <a:stretch>
              <a:fillRect/>
            </a:stretch>
          </p:blipFill>
          <p:spPr>
            <a:xfrm>
              <a:off x="5690712" y="2823997"/>
              <a:ext cx="374910" cy="238088"/>
            </a:xfrm>
            <a:prstGeom prst="rect">
              <a:avLst/>
            </a:prstGeom>
          </p:spPr>
        </p:pic>
      </p:grpSp>
    </p:spTree>
    <p:extLst>
      <p:ext uri="{BB962C8B-B14F-4D97-AF65-F5344CB8AC3E}">
        <p14:creationId xmlns:p14="http://schemas.microsoft.com/office/powerpoint/2010/main" val="878493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491F4-26F6-7A42-F15F-FA499D39A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75F24-1934-2277-916D-7E26DA9AB92D}"/>
              </a:ext>
            </a:extLst>
          </p:cNvPr>
          <p:cNvSpPr>
            <a:spLocks noGrp="1"/>
          </p:cNvSpPr>
          <p:nvPr>
            <p:ph type="title"/>
          </p:nvPr>
        </p:nvSpPr>
        <p:spPr>
          <a:xfrm>
            <a:off x="838200" y="365126"/>
            <a:ext cx="10515600" cy="705062"/>
          </a:xfrm>
        </p:spPr>
        <p:txBody>
          <a:bodyPr/>
          <a:lstStyle/>
          <a:p>
            <a:r>
              <a:rPr lang="en-US" dirty="0">
                <a:solidFill>
                  <a:srgbClr val="0E2841"/>
                </a:solidFill>
              </a:rPr>
              <a:t>Motivation &amp; Problem</a:t>
            </a:r>
          </a:p>
        </p:txBody>
      </p:sp>
      <p:sp>
        <p:nvSpPr>
          <p:cNvPr id="11" name="Content Placeholder 5">
            <a:extLst>
              <a:ext uri="{FF2B5EF4-FFF2-40B4-BE49-F238E27FC236}">
                <a16:creationId xmlns:a16="http://schemas.microsoft.com/office/drawing/2014/main" id="{C8FC76F3-65FB-05C6-C07C-4A05E44985A2}"/>
              </a:ext>
            </a:extLst>
          </p:cNvPr>
          <p:cNvSpPr txBox="1">
            <a:spLocks/>
          </p:cNvSpPr>
          <p:nvPr/>
        </p:nvSpPr>
        <p:spPr>
          <a:xfrm>
            <a:off x="570235" y="1234002"/>
            <a:ext cx="11051530" cy="1521725"/>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buFont typeface="Arial,Sans-Serif" panose="020B0604020202020204" pitchFamily="34" charset="0"/>
            </a:pPr>
            <a:r>
              <a:rPr lang="en-GB" sz="1800" dirty="0">
                <a:solidFill>
                  <a:schemeClr val="tx2"/>
                </a:solidFill>
              </a:rPr>
              <a:t>An aging population places a heavy burden on existing healthcare systems [1].</a:t>
            </a:r>
          </a:p>
          <a:p>
            <a:pPr marL="285750" indent="-285750">
              <a:buFont typeface="Arial,Sans-Serif" panose="020B0604020202020204" pitchFamily="34" charset="0"/>
            </a:pPr>
            <a:r>
              <a:rPr lang="en-GB" sz="1800" dirty="0">
                <a:solidFill>
                  <a:schemeClr val="tx2"/>
                </a:solidFill>
              </a:rPr>
              <a:t>Need to support independent living for longer to ease that burden [2].</a:t>
            </a:r>
          </a:p>
          <a:p>
            <a:pPr marL="285750" indent="-285750">
              <a:buFont typeface="Arial,Sans-Serif" panose="020B0604020202020204" pitchFamily="34" charset="0"/>
              <a:buChar char="•"/>
            </a:pPr>
            <a:r>
              <a:rPr lang="en-GB" sz="1800" dirty="0">
                <a:solidFill>
                  <a:schemeClr val="tx2"/>
                </a:solidFill>
              </a:rPr>
              <a:t>Activities of Daily Living (ADLs) are key indicators of health and wellbeing [3].</a:t>
            </a:r>
          </a:p>
          <a:p>
            <a:pPr marL="285750" indent="-285750">
              <a:buFont typeface="Arial,Sans-Serif" panose="020B0604020202020204" pitchFamily="34" charset="0"/>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p:txBody>
      </p:sp>
      <p:sp>
        <p:nvSpPr>
          <p:cNvPr id="12" name="Rectangle: Rounded Corners 2">
            <a:extLst>
              <a:ext uri="{FF2B5EF4-FFF2-40B4-BE49-F238E27FC236}">
                <a16:creationId xmlns:a16="http://schemas.microsoft.com/office/drawing/2014/main" id="{35410A9A-DBB5-82E4-A892-19BC6C850C5F}"/>
              </a:ext>
            </a:extLst>
          </p:cNvPr>
          <p:cNvSpPr/>
          <p:nvPr/>
        </p:nvSpPr>
        <p:spPr>
          <a:xfrm>
            <a:off x="691235" y="1070188"/>
            <a:ext cx="1218845" cy="299048"/>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Problem</a:t>
            </a:r>
            <a:endParaRPr lang="en-US" dirty="0">
              <a:solidFill>
                <a:schemeClr val="tx2"/>
              </a:solidFill>
            </a:endParaRPr>
          </a:p>
        </p:txBody>
      </p:sp>
      <p:sp>
        <p:nvSpPr>
          <p:cNvPr id="13" name="Content Placeholder 5">
            <a:extLst>
              <a:ext uri="{FF2B5EF4-FFF2-40B4-BE49-F238E27FC236}">
                <a16:creationId xmlns:a16="http://schemas.microsoft.com/office/drawing/2014/main" id="{A41F4F11-0990-FF9B-6CE2-65E03C652F7D}"/>
              </a:ext>
            </a:extLst>
          </p:cNvPr>
          <p:cNvSpPr txBox="1">
            <a:spLocks/>
          </p:cNvSpPr>
          <p:nvPr/>
        </p:nvSpPr>
        <p:spPr>
          <a:xfrm>
            <a:off x="569799" y="4953926"/>
            <a:ext cx="11051530" cy="1476098"/>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lnSpc>
                <a:spcPct val="80000"/>
              </a:lnSpc>
            </a:pPr>
            <a:r>
              <a:rPr lang="en-GB" sz="1800" dirty="0">
                <a:solidFill>
                  <a:schemeClr val="tx2"/>
                </a:solidFill>
                <a:ea typeface="+mn-lt"/>
                <a:cs typeface="+mn-lt"/>
              </a:rPr>
              <a:t>Abnormal behaviour is challenging to define due to the variable nature of human behaviour [5].</a:t>
            </a:r>
          </a:p>
          <a:p>
            <a:pPr marL="285750" indent="-285750">
              <a:lnSpc>
                <a:spcPct val="80000"/>
              </a:lnSpc>
            </a:pPr>
            <a:r>
              <a:rPr lang="en-GB" sz="1800" dirty="0">
                <a:solidFill>
                  <a:schemeClr val="tx2"/>
                </a:solidFill>
                <a:ea typeface="+mn-lt"/>
                <a:cs typeface="+mn-lt"/>
              </a:rPr>
              <a:t>Limited labelled abnormal data restricts the ability to capture the variability of abnormal behaviours [6].</a:t>
            </a:r>
          </a:p>
          <a:p>
            <a:pPr marL="285750" indent="-285750">
              <a:lnSpc>
                <a:spcPct val="80000"/>
              </a:lnSpc>
            </a:pPr>
            <a:r>
              <a:rPr lang="en-GB" sz="1800" dirty="0">
                <a:solidFill>
                  <a:schemeClr val="tx2"/>
                </a:solidFill>
                <a:ea typeface="+mn-lt"/>
                <a:cs typeface="+mn-lt"/>
              </a:rPr>
              <a:t>Sensor noise can introduce spurious readings that do not reflect true user interactions [7].</a:t>
            </a:r>
          </a:p>
          <a:p>
            <a:pPr marL="285750" indent="-285750">
              <a:lnSpc>
                <a:spcPct val="80000"/>
              </a:lnSpc>
            </a:pPr>
            <a:endParaRPr lang="en-GB" sz="1800" dirty="0">
              <a:solidFill>
                <a:schemeClr val="tx2"/>
              </a:solidFill>
            </a:endParaRPr>
          </a:p>
          <a:p>
            <a:pPr marL="285750" indent="-285750">
              <a:buFont typeface="Arial,Sans-Serif" panose="020B0604020202020204" pitchFamily="34" charset="0"/>
            </a:pPr>
            <a:endParaRPr lang="en-GB" sz="2200" dirty="0">
              <a:solidFill>
                <a:schemeClr val="tx2"/>
              </a:solidFill>
            </a:endParaRPr>
          </a:p>
        </p:txBody>
      </p:sp>
      <p:sp>
        <p:nvSpPr>
          <p:cNvPr id="17" name="Content Placeholder 5">
            <a:extLst>
              <a:ext uri="{FF2B5EF4-FFF2-40B4-BE49-F238E27FC236}">
                <a16:creationId xmlns:a16="http://schemas.microsoft.com/office/drawing/2014/main" id="{8FB87285-8E0A-F13D-E1E1-28AF444BB903}"/>
              </a:ext>
            </a:extLst>
          </p:cNvPr>
          <p:cNvSpPr txBox="1">
            <a:spLocks/>
          </p:cNvSpPr>
          <p:nvPr/>
        </p:nvSpPr>
        <p:spPr>
          <a:xfrm>
            <a:off x="570235" y="3054775"/>
            <a:ext cx="11051530" cy="1521725"/>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buFont typeface="Arial,Sans-Serif" panose="020B0604020202020204" pitchFamily="34" charset="0"/>
            </a:pPr>
            <a:r>
              <a:rPr lang="en-GB" sz="1800" dirty="0">
                <a:solidFill>
                  <a:schemeClr val="tx2"/>
                </a:solidFill>
              </a:rPr>
              <a:t>Smart environments use sensors to monitor behaviour unobtrusively [4].</a:t>
            </a:r>
          </a:p>
          <a:p>
            <a:pPr marL="285750" indent="-285750">
              <a:buFont typeface="Arial,Sans-Serif" panose="020B0604020202020204" pitchFamily="34" charset="0"/>
            </a:pPr>
            <a:r>
              <a:rPr lang="en-GB" sz="1800" dirty="0">
                <a:solidFill>
                  <a:schemeClr val="tx2"/>
                </a:solidFill>
              </a:rPr>
              <a:t>Can monitor ADLs such as cooking, cleaning, and hygiene.</a:t>
            </a:r>
          </a:p>
          <a:p>
            <a:pPr marL="285750" indent="-285750">
              <a:buFont typeface="Arial,Sans-Serif" panose="020B0604020202020204" pitchFamily="34" charset="0"/>
            </a:pPr>
            <a:r>
              <a:rPr lang="en-GB" sz="1800" dirty="0">
                <a:solidFill>
                  <a:schemeClr val="tx2"/>
                </a:solidFill>
              </a:rPr>
              <a:t>AI can be used to detect if the ADLs are performed normally/abnormally.</a:t>
            </a:r>
          </a:p>
        </p:txBody>
      </p:sp>
      <p:sp>
        <p:nvSpPr>
          <p:cNvPr id="18" name="Rectangle: Rounded Corners 2">
            <a:extLst>
              <a:ext uri="{FF2B5EF4-FFF2-40B4-BE49-F238E27FC236}">
                <a16:creationId xmlns:a16="http://schemas.microsoft.com/office/drawing/2014/main" id="{1AA980D7-B85D-B28D-D92B-27729C5AF1D8}"/>
              </a:ext>
            </a:extLst>
          </p:cNvPr>
          <p:cNvSpPr/>
          <p:nvPr/>
        </p:nvSpPr>
        <p:spPr>
          <a:xfrm>
            <a:off x="691235" y="2914342"/>
            <a:ext cx="1218845" cy="280866"/>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Solution</a:t>
            </a:r>
            <a:endParaRPr lang="en-US" dirty="0">
              <a:solidFill>
                <a:schemeClr val="tx2"/>
              </a:solidFill>
            </a:endParaRPr>
          </a:p>
        </p:txBody>
      </p:sp>
      <p:sp>
        <p:nvSpPr>
          <p:cNvPr id="14" name="Rectangle: Rounded Corners 2">
            <a:extLst>
              <a:ext uri="{FF2B5EF4-FFF2-40B4-BE49-F238E27FC236}">
                <a16:creationId xmlns:a16="http://schemas.microsoft.com/office/drawing/2014/main" id="{E428465A-30C3-2DCA-BC32-EEC271F2E06D}"/>
              </a:ext>
            </a:extLst>
          </p:cNvPr>
          <p:cNvSpPr/>
          <p:nvPr/>
        </p:nvSpPr>
        <p:spPr>
          <a:xfrm>
            <a:off x="691235" y="4797629"/>
            <a:ext cx="1408498" cy="299048"/>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Challenges</a:t>
            </a:r>
            <a:endParaRPr lang="en-US" dirty="0">
              <a:solidFill>
                <a:schemeClr val="tx2"/>
              </a:solidFill>
            </a:endParaRPr>
          </a:p>
        </p:txBody>
      </p:sp>
    </p:spTree>
    <p:extLst>
      <p:ext uri="{BB962C8B-B14F-4D97-AF65-F5344CB8AC3E}">
        <p14:creationId xmlns:p14="http://schemas.microsoft.com/office/powerpoint/2010/main" val="3692381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B16C2-705A-5B8C-33BD-A96CA051D92A}"/>
            </a:ext>
          </a:extLst>
        </p:cNvPr>
        <p:cNvGrpSpPr/>
        <p:nvPr/>
      </p:nvGrpSpPr>
      <p:grpSpPr>
        <a:xfrm>
          <a:off x="0" y="0"/>
          <a:ext cx="0" cy="0"/>
          <a:chOff x="0" y="0"/>
          <a:chExt cx="0" cy="0"/>
        </a:xfrm>
      </p:grpSpPr>
      <p:pic>
        <p:nvPicPr>
          <p:cNvPr id="103" name="Picture 102" descr="A diagram of a data processing process&#10;&#10;AI-generated content may be incorrect.">
            <a:extLst>
              <a:ext uri="{FF2B5EF4-FFF2-40B4-BE49-F238E27FC236}">
                <a16:creationId xmlns:a16="http://schemas.microsoft.com/office/drawing/2014/main" id="{E0FC6F88-5660-F31A-03D3-7A8676FF3AD5}"/>
              </a:ext>
            </a:extLst>
          </p:cNvPr>
          <p:cNvPicPr>
            <a:picLocks noChangeAspect="1"/>
          </p:cNvPicPr>
          <p:nvPr/>
        </p:nvPicPr>
        <p:blipFill>
          <a:blip r:embed="rId3"/>
          <a:stretch>
            <a:fillRect/>
          </a:stretch>
        </p:blipFill>
        <p:spPr>
          <a:xfrm>
            <a:off x="5858534" y="939746"/>
            <a:ext cx="6333465" cy="5885595"/>
          </a:xfrm>
          <a:prstGeom prst="rect">
            <a:avLst/>
          </a:prstGeom>
        </p:spPr>
      </p:pic>
      <p:sp>
        <p:nvSpPr>
          <p:cNvPr id="17" name="Content Placeholder 5">
            <a:extLst>
              <a:ext uri="{FF2B5EF4-FFF2-40B4-BE49-F238E27FC236}">
                <a16:creationId xmlns:a16="http://schemas.microsoft.com/office/drawing/2014/main" id="{3FEA08D8-DCB4-1D92-DA59-D2246388BD6F}"/>
              </a:ext>
            </a:extLst>
          </p:cNvPr>
          <p:cNvSpPr txBox="1">
            <a:spLocks/>
          </p:cNvSpPr>
          <p:nvPr/>
        </p:nvSpPr>
        <p:spPr>
          <a:xfrm>
            <a:off x="570234" y="3171301"/>
            <a:ext cx="5187835" cy="3458099"/>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endParaRPr lang="en-GB" sz="1800" dirty="0">
              <a:solidFill>
                <a:schemeClr val="tx2"/>
              </a:solidFill>
            </a:endParaRPr>
          </a:p>
          <a:p>
            <a:r>
              <a:rPr lang="en-GB" sz="1800" dirty="0">
                <a:solidFill>
                  <a:schemeClr val="tx2"/>
                </a:solidFill>
              </a:rPr>
              <a:t>Proposed a two-stage approach: activity recognition + anomaly detection.  </a:t>
            </a:r>
          </a:p>
          <a:p>
            <a:pPr marL="285750" indent="-285750">
              <a:buFont typeface="Arial,Sans-Serif" panose="020B0604020202020204" pitchFamily="34" charset="0"/>
            </a:pPr>
            <a:r>
              <a:rPr lang="en-GB" sz="1800" dirty="0">
                <a:solidFill>
                  <a:schemeClr val="tx2"/>
                </a:solidFill>
              </a:rPr>
              <a:t>Applied Dempster-Shafer Theory (DST) for robust activity classification.</a:t>
            </a:r>
          </a:p>
          <a:p>
            <a:pPr marL="285750" indent="-285750">
              <a:buFont typeface="Arial,Sans-Serif" panose="020B0604020202020204" pitchFamily="34" charset="0"/>
            </a:pPr>
            <a:r>
              <a:rPr lang="en-GB" sz="1800" dirty="0">
                <a:solidFill>
                  <a:schemeClr val="tx2"/>
                </a:solidFill>
              </a:rPr>
              <a:t>Developed per-activity anomaly detection models.  </a:t>
            </a:r>
          </a:p>
          <a:p>
            <a:pPr marL="285750" indent="-285750">
              <a:buFont typeface="Arial,Sans-Serif" panose="020B0604020202020204" pitchFamily="34" charset="0"/>
            </a:pPr>
            <a:r>
              <a:rPr lang="en-GB" sz="1800" dirty="0">
                <a:solidFill>
                  <a:schemeClr val="tx2"/>
                </a:solidFill>
              </a:rPr>
              <a:t>Compared per-activity models vs global models.</a:t>
            </a:r>
          </a:p>
          <a:p>
            <a:pPr marL="285750" indent="-285750">
              <a:buFont typeface="Arial,Sans-Serif" panose="020B0604020202020204" pitchFamily="34" charset="0"/>
            </a:pPr>
            <a:r>
              <a:rPr lang="en-GB" sz="1800" dirty="0">
                <a:solidFill>
                  <a:schemeClr val="tx2"/>
                </a:solidFill>
              </a:rPr>
              <a:t>Demonstrated effectiveness using CASAS Kyoto dataset.</a:t>
            </a:r>
          </a:p>
        </p:txBody>
      </p:sp>
      <p:sp>
        <p:nvSpPr>
          <p:cNvPr id="99" name="Title 1">
            <a:extLst>
              <a:ext uri="{FF2B5EF4-FFF2-40B4-BE49-F238E27FC236}">
                <a16:creationId xmlns:a16="http://schemas.microsoft.com/office/drawing/2014/main" id="{CAB97858-B5F1-4F72-0F3D-8BFC94FB4AD9}"/>
              </a:ext>
            </a:extLst>
          </p:cNvPr>
          <p:cNvSpPr txBox="1">
            <a:spLocks/>
          </p:cNvSpPr>
          <p:nvPr/>
        </p:nvSpPr>
        <p:spPr>
          <a:xfrm>
            <a:off x="838200" y="365126"/>
            <a:ext cx="10515600" cy="7050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0E2841"/>
                </a:solidFill>
              </a:rPr>
              <a:t>Research Aim &amp; Contribution</a:t>
            </a:r>
          </a:p>
        </p:txBody>
      </p:sp>
      <p:sp>
        <p:nvSpPr>
          <p:cNvPr id="11" name="Content Placeholder 5">
            <a:extLst>
              <a:ext uri="{FF2B5EF4-FFF2-40B4-BE49-F238E27FC236}">
                <a16:creationId xmlns:a16="http://schemas.microsoft.com/office/drawing/2014/main" id="{0D206A3B-2832-2133-9C90-67328B11CC89}"/>
              </a:ext>
            </a:extLst>
          </p:cNvPr>
          <p:cNvSpPr txBox="1">
            <a:spLocks/>
          </p:cNvSpPr>
          <p:nvPr/>
        </p:nvSpPr>
        <p:spPr>
          <a:xfrm>
            <a:off x="570234" y="1161512"/>
            <a:ext cx="5187835" cy="1753038"/>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buFont typeface="Arial,Sans-Serif" panose="020B0604020202020204" pitchFamily="34" charset="0"/>
            </a:pPr>
            <a:r>
              <a:rPr lang="en-GB" sz="1800" dirty="0">
                <a:solidFill>
                  <a:schemeClr val="tx2"/>
                </a:solidFill>
              </a:rPr>
              <a:t>Detect abnormal activity in smart homes using only normal behaviour.</a:t>
            </a:r>
          </a:p>
          <a:p>
            <a:pPr marL="285750" indent="-285750">
              <a:buFont typeface="Arial,Sans-Serif" panose="020B0604020202020204" pitchFamily="34" charset="0"/>
            </a:pPr>
            <a:r>
              <a:rPr lang="en-GB" sz="1800" dirty="0"/>
              <a:t>Recognise ADLs from smart home sensor data using models trained on normal behaviour only.</a:t>
            </a:r>
            <a:endParaRPr lang="en-GB" sz="1800" dirty="0">
              <a:solidFill>
                <a:schemeClr val="tx2"/>
              </a:solidFill>
            </a:endParaRPr>
          </a:p>
        </p:txBody>
      </p:sp>
      <p:sp>
        <p:nvSpPr>
          <p:cNvPr id="12" name="Rectangle: Rounded Corners 2">
            <a:extLst>
              <a:ext uri="{FF2B5EF4-FFF2-40B4-BE49-F238E27FC236}">
                <a16:creationId xmlns:a16="http://schemas.microsoft.com/office/drawing/2014/main" id="{86788918-26EA-4EC1-31A8-7A16EE2FD12F}"/>
              </a:ext>
            </a:extLst>
          </p:cNvPr>
          <p:cNvSpPr/>
          <p:nvPr/>
        </p:nvSpPr>
        <p:spPr>
          <a:xfrm>
            <a:off x="713915" y="1011988"/>
            <a:ext cx="749312" cy="299048"/>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Aim</a:t>
            </a:r>
            <a:endParaRPr lang="en-US" dirty="0">
              <a:solidFill>
                <a:schemeClr val="tx2"/>
              </a:solidFill>
            </a:endParaRPr>
          </a:p>
        </p:txBody>
      </p:sp>
      <p:sp>
        <p:nvSpPr>
          <p:cNvPr id="18" name="Rectangle: Rounded Corners 2">
            <a:extLst>
              <a:ext uri="{FF2B5EF4-FFF2-40B4-BE49-F238E27FC236}">
                <a16:creationId xmlns:a16="http://schemas.microsoft.com/office/drawing/2014/main" id="{7ED0D263-A0C2-193E-BADC-AD460554DB2D}"/>
              </a:ext>
            </a:extLst>
          </p:cNvPr>
          <p:cNvSpPr/>
          <p:nvPr/>
        </p:nvSpPr>
        <p:spPr>
          <a:xfrm>
            <a:off x="713915" y="3064074"/>
            <a:ext cx="1652338" cy="317106"/>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Contribution</a:t>
            </a:r>
            <a:endParaRPr lang="en-US" dirty="0">
              <a:solidFill>
                <a:schemeClr val="tx2"/>
              </a:solidFill>
            </a:endParaRPr>
          </a:p>
        </p:txBody>
      </p:sp>
    </p:spTree>
    <p:extLst>
      <p:ext uri="{BB962C8B-B14F-4D97-AF65-F5344CB8AC3E}">
        <p14:creationId xmlns:p14="http://schemas.microsoft.com/office/powerpoint/2010/main" val="3233226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1753E-23D3-ED5A-E7E6-FBE6B24EF0F5}"/>
              </a:ext>
            </a:extLst>
          </p:cNvPr>
          <p:cNvSpPr>
            <a:spLocks noGrp="1"/>
          </p:cNvSpPr>
          <p:nvPr>
            <p:ph type="title"/>
          </p:nvPr>
        </p:nvSpPr>
        <p:spPr>
          <a:xfrm>
            <a:off x="838200" y="365126"/>
            <a:ext cx="10515600" cy="705062"/>
          </a:xfrm>
        </p:spPr>
        <p:txBody>
          <a:bodyPr/>
          <a:lstStyle/>
          <a:p>
            <a:r>
              <a:rPr lang="en-US" dirty="0">
                <a:solidFill>
                  <a:srgbClr val="0E2841"/>
                </a:solidFill>
              </a:rPr>
              <a:t>CASAS Kyoto One Dataset</a:t>
            </a:r>
          </a:p>
        </p:txBody>
      </p:sp>
      <p:sp>
        <p:nvSpPr>
          <p:cNvPr id="11" name="Content Placeholder 5">
            <a:extLst>
              <a:ext uri="{FF2B5EF4-FFF2-40B4-BE49-F238E27FC236}">
                <a16:creationId xmlns:a16="http://schemas.microsoft.com/office/drawing/2014/main" id="{1F4C0FAC-9A69-6A12-6859-40057ADCB5E2}"/>
              </a:ext>
            </a:extLst>
          </p:cNvPr>
          <p:cNvSpPr txBox="1">
            <a:spLocks/>
          </p:cNvSpPr>
          <p:nvPr/>
        </p:nvSpPr>
        <p:spPr>
          <a:xfrm>
            <a:off x="570235" y="1234001"/>
            <a:ext cx="5313252" cy="2388257"/>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buFont typeface="Arial,Sans-Serif" panose="020B0604020202020204" pitchFamily="34" charset="0"/>
            </a:pPr>
            <a:r>
              <a:rPr lang="en-GB" sz="1800" dirty="0">
                <a:solidFill>
                  <a:schemeClr val="tx2"/>
                </a:solidFill>
              </a:rPr>
              <a:t>220 episodes</a:t>
            </a:r>
          </a:p>
          <a:p>
            <a:pPr marL="742950" lvl="1" indent="-285750">
              <a:buFont typeface="Arial,Sans-Serif" panose="020B0604020202020204" pitchFamily="34" charset="0"/>
            </a:pPr>
            <a:r>
              <a:rPr lang="en-GB" sz="1800" dirty="0">
                <a:solidFill>
                  <a:schemeClr val="tx2"/>
                </a:solidFill>
                <a:ea typeface="Calibri"/>
                <a:cs typeface="Calibri"/>
              </a:rPr>
              <a:t>120 normal: correctly performed</a:t>
            </a:r>
          </a:p>
          <a:p>
            <a:pPr marL="742950" lvl="1" indent="-285750">
              <a:buFont typeface="Arial,Sans-Serif" panose="020B0604020202020204" pitchFamily="34" charset="0"/>
            </a:pPr>
            <a:r>
              <a:rPr lang="en-GB" sz="1800" dirty="0">
                <a:solidFill>
                  <a:schemeClr val="tx2"/>
                </a:solidFill>
                <a:ea typeface="Calibri"/>
                <a:cs typeface="Calibri"/>
              </a:rPr>
              <a:t>100 error: simulated abnormal behaviour</a:t>
            </a:r>
            <a:endParaRPr lang="en-US" sz="1800" dirty="0">
              <a:solidFill>
                <a:schemeClr val="tx2"/>
              </a:solidFill>
              <a:ea typeface="Calibri"/>
              <a:cs typeface="Calibri"/>
            </a:endParaRPr>
          </a:p>
          <a:p>
            <a:pPr marL="285750" indent="-285750">
              <a:buFont typeface="Arial,Sans-Serif" panose="020B0604020202020204" pitchFamily="34" charset="0"/>
            </a:pPr>
            <a:r>
              <a:rPr lang="en-GB" sz="1800" dirty="0">
                <a:solidFill>
                  <a:schemeClr val="tx2"/>
                </a:solidFill>
              </a:rPr>
              <a:t>44 participants</a:t>
            </a:r>
          </a:p>
          <a:p>
            <a:pPr marL="742950" lvl="1" indent="-285750">
              <a:buFont typeface="Arial,Sans-Serif" panose="020B0604020202020204" pitchFamily="34" charset="0"/>
            </a:pPr>
            <a:r>
              <a:rPr lang="en-GB" sz="1800" dirty="0">
                <a:solidFill>
                  <a:schemeClr val="tx2"/>
                </a:solidFill>
              </a:rPr>
              <a:t>24 normal</a:t>
            </a:r>
          </a:p>
          <a:p>
            <a:pPr marL="742950" lvl="1" indent="-285750">
              <a:buFont typeface="Arial,Sans-Serif" panose="020B0604020202020204" pitchFamily="34" charset="0"/>
            </a:pPr>
            <a:r>
              <a:rPr lang="en-GB" sz="1800" dirty="0">
                <a:solidFill>
                  <a:schemeClr val="tx2"/>
                </a:solidFill>
              </a:rPr>
              <a:t>20 error</a:t>
            </a:r>
          </a:p>
        </p:txBody>
      </p:sp>
      <p:sp>
        <p:nvSpPr>
          <p:cNvPr id="12" name="Rectangle: Rounded Corners 2">
            <a:extLst>
              <a:ext uri="{FF2B5EF4-FFF2-40B4-BE49-F238E27FC236}">
                <a16:creationId xmlns:a16="http://schemas.microsoft.com/office/drawing/2014/main" id="{C448D6A7-BA04-3BD8-A1EC-E28B3FDDC07C}"/>
              </a:ext>
            </a:extLst>
          </p:cNvPr>
          <p:cNvSpPr/>
          <p:nvPr/>
        </p:nvSpPr>
        <p:spPr>
          <a:xfrm>
            <a:off x="691235" y="1070187"/>
            <a:ext cx="1218845" cy="339687"/>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Overview</a:t>
            </a:r>
            <a:endParaRPr lang="en-US" dirty="0">
              <a:solidFill>
                <a:schemeClr val="tx2"/>
              </a:solidFill>
            </a:endParaRPr>
          </a:p>
        </p:txBody>
      </p:sp>
      <p:sp>
        <p:nvSpPr>
          <p:cNvPr id="13" name="Content Placeholder 5">
            <a:extLst>
              <a:ext uri="{FF2B5EF4-FFF2-40B4-BE49-F238E27FC236}">
                <a16:creationId xmlns:a16="http://schemas.microsoft.com/office/drawing/2014/main" id="{5E5192AA-EBFD-54A2-CA1B-9142613F37EB}"/>
              </a:ext>
            </a:extLst>
          </p:cNvPr>
          <p:cNvSpPr txBox="1">
            <a:spLocks/>
          </p:cNvSpPr>
          <p:nvPr/>
        </p:nvSpPr>
        <p:spPr>
          <a:xfrm>
            <a:off x="6308515" y="1234001"/>
            <a:ext cx="5313252" cy="1476098"/>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lnSpc>
                <a:spcPct val="80000"/>
              </a:lnSpc>
            </a:pPr>
            <a:r>
              <a:rPr lang="en-GB" sz="1800" dirty="0">
                <a:solidFill>
                  <a:schemeClr val="tx2"/>
                </a:solidFill>
                <a:ea typeface="+mn-lt"/>
                <a:cs typeface="+mn-lt"/>
              </a:rPr>
              <a:t>T1: Telephone use</a:t>
            </a:r>
          </a:p>
          <a:p>
            <a:pPr marL="285750" indent="-285750">
              <a:lnSpc>
                <a:spcPct val="80000"/>
              </a:lnSpc>
            </a:pPr>
            <a:r>
              <a:rPr lang="en-GB" sz="1800" dirty="0">
                <a:solidFill>
                  <a:schemeClr val="tx2"/>
                </a:solidFill>
                <a:ea typeface="+mn-lt"/>
                <a:cs typeface="+mn-lt"/>
              </a:rPr>
              <a:t>T3: Meal preparation</a:t>
            </a:r>
          </a:p>
          <a:p>
            <a:pPr marL="285750" indent="-285750">
              <a:buFont typeface="Arial,Sans-Serif" panose="020B0604020202020204" pitchFamily="34" charset="0"/>
              <a:buChar char="•"/>
            </a:pPr>
            <a:r>
              <a:rPr lang="en-GB" sz="1800" dirty="0">
                <a:solidFill>
                  <a:schemeClr val="tx2"/>
                </a:solidFill>
              </a:rPr>
              <a:t>T5: Cleaning</a:t>
            </a:r>
          </a:p>
          <a:p>
            <a:pPr marL="285750" indent="-285750">
              <a:buFont typeface="Arial,Sans-Serif" panose="020B0604020202020204" pitchFamily="34" charset="0"/>
            </a:pPr>
            <a:endParaRPr lang="en-GB" sz="2200" dirty="0">
              <a:solidFill>
                <a:schemeClr val="tx2"/>
              </a:solidFill>
            </a:endParaRPr>
          </a:p>
        </p:txBody>
      </p:sp>
      <p:sp>
        <p:nvSpPr>
          <p:cNvPr id="14" name="Rectangle: Rounded Corners 2">
            <a:extLst>
              <a:ext uri="{FF2B5EF4-FFF2-40B4-BE49-F238E27FC236}">
                <a16:creationId xmlns:a16="http://schemas.microsoft.com/office/drawing/2014/main" id="{3BB19636-A43C-28B3-2703-713F0ABEC385}"/>
              </a:ext>
            </a:extLst>
          </p:cNvPr>
          <p:cNvSpPr/>
          <p:nvPr/>
        </p:nvSpPr>
        <p:spPr>
          <a:xfrm>
            <a:off x="6443575" y="1073690"/>
            <a:ext cx="1147446" cy="339687"/>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Activities</a:t>
            </a:r>
            <a:endParaRPr lang="en-US" dirty="0">
              <a:solidFill>
                <a:schemeClr val="tx2"/>
              </a:solidFill>
            </a:endParaRPr>
          </a:p>
        </p:txBody>
      </p:sp>
      <p:sp>
        <p:nvSpPr>
          <p:cNvPr id="17" name="Content Placeholder 5">
            <a:extLst>
              <a:ext uri="{FF2B5EF4-FFF2-40B4-BE49-F238E27FC236}">
                <a16:creationId xmlns:a16="http://schemas.microsoft.com/office/drawing/2014/main" id="{21386AD4-0A3C-AF7E-B5BA-F909931CAC20}"/>
              </a:ext>
            </a:extLst>
          </p:cNvPr>
          <p:cNvSpPr txBox="1">
            <a:spLocks/>
          </p:cNvSpPr>
          <p:nvPr/>
        </p:nvSpPr>
        <p:spPr>
          <a:xfrm>
            <a:off x="570235" y="4007053"/>
            <a:ext cx="5313252" cy="2388257"/>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buFont typeface="Arial,Sans-Serif" panose="020B0604020202020204" pitchFamily="34" charset="0"/>
            </a:pPr>
            <a:r>
              <a:rPr lang="en-GB" sz="1800" dirty="0">
                <a:solidFill>
                  <a:schemeClr val="tx2"/>
                </a:solidFill>
              </a:rPr>
              <a:t>56 sensors (29 used)</a:t>
            </a:r>
          </a:p>
          <a:p>
            <a:pPr marL="285750" indent="-285750">
              <a:buFont typeface="Arial,Sans-Serif" panose="020B0604020202020204" pitchFamily="34" charset="0"/>
            </a:pPr>
            <a:r>
              <a:rPr lang="en-GB" sz="1800" dirty="0">
                <a:solidFill>
                  <a:schemeClr val="tx2"/>
                </a:solidFill>
              </a:rPr>
              <a:t>Motion (15)</a:t>
            </a:r>
          </a:p>
          <a:p>
            <a:pPr marL="285750" indent="-285750">
              <a:buFont typeface="Arial,Sans-Serif" panose="020B0604020202020204" pitchFamily="34" charset="0"/>
            </a:pPr>
            <a:r>
              <a:rPr lang="en-GB" sz="1800" dirty="0">
                <a:solidFill>
                  <a:schemeClr val="tx2"/>
                </a:solidFill>
              </a:rPr>
              <a:t>Item (9)</a:t>
            </a:r>
          </a:p>
          <a:p>
            <a:pPr marL="285750" indent="-285750">
              <a:buFont typeface="Arial,Sans-Serif" panose="020B0604020202020204" pitchFamily="34" charset="0"/>
            </a:pPr>
            <a:r>
              <a:rPr lang="en-GB" sz="1800" dirty="0">
                <a:solidFill>
                  <a:schemeClr val="tx2"/>
                </a:solidFill>
              </a:rPr>
              <a:t>Door (1)</a:t>
            </a:r>
          </a:p>
          <a:p>
            <a:pPr marL="285750" indent="-285750">
              <a:buFont typeface="Arial,Sans-Serif" panose="020B0604020202020204" pitchFamily="34" charset="0"/>
            </a:pPr>
            <a:r>
              <a:rPr lang="en-GB" sz="1800" dirty="0">
                <a:solidFill>
                  <a:schemeClr val="tx2"/>
                </a:solidFill>
              </a:rPr>
              <a:t>Phone (1)</a:t>
            </a:r>
          </a:p>
        </p:txBody>
      </p:sp>
      <p:sp>
        <p:nvSpPr>
          <p:cNvPr id="18" name="Rectangle: Rounded Corners 2">
            <a:extLst>
              <a:ext uri="{FF2B5EF4-FFF2-40B4-BE49-F238E27FC236}">
                <a16:creationId xmlns:a16="http://schemas.microsoft.com/office/drawing/2014/main" id="{7C7F06EA-23CC-7596-58B3-A6D7A10A4F79}"/>
              </a:ext>
            </a:extLst>
          </p:cNvPr>
          <p:cNvSpPr/>
          <p:nvPr/>
        </p:nvSpPr>
        <p:spPr>
          <a:xfrm>
            <a:off x="691235" y="3841487"/>
            <a:ext cx="1218845" cy="331132"/>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Sensors</a:t>
            </a:r>
            <a:endParaRPr lang="en-US" dirty="0">
              <a:solidFill>
                <a:schemeClr val="tx2"/>
              </a:solidFill>
            </a:endParaRPr>
          </a:p>
        </p:txBody>
      </p:sp>
      <p:sp>
        <p:nvSpPr>
          <p:cNvPr id="20" name="Content Placeholder 5">
            <a:extLst>
              <a:ext uri="{FF2B5EF4-FFF2-40B4-BE49-F238E27FC236}">
                <a16:creationId xmlns:a16="http://schemas.microsoft.com/office/drawing/2014/main" id="{7BAB6DCE-1B11-DC21-75BB-3D92B770A4E1}"/>
              </a:ext>
            </a:extLst>
          </p:cNvPr>
          <p:cNvSpPr txBox="1">
            <a:spLocks/>
          </p:cNvSpPr>
          <p:nvPr/>
        </p:nvSpPr>
        <p:spPr>
          <a:xfrm>
            <a:off x="8895004" y="1571904"/>
            <a:ext cx="2627488" cy="1077236"/>
          </a:xfrm>
          <a:prstGeom prst="rect">
            <a:avLst/>
          </a:prstGeom>
          <a:ln w="19050" cap="flat" cmpd="sng" algn="ctr">
            <a:no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85750" indent="-285750">
              <a:buFont typeface="Arial,Sans-Serif" panose="020B0604020202020204" pitchFamily="34" charset="0"/>
              <a:buChar char="•"/>
            </a:pPr>
            <a:r>
              <a:rPr lang="en-GB" sz="1800" dirty="0">
                <a:solidFill>
                  <a:schemeClr val="tx2"/>
                </a:solidFill>
                <a:ea typeface="+mn-lt"/>
                <a:cs typeface="+mn-lt"/>
              </a:rPr>
              <a:t>T2: Hand washing</a:t>
            </a:r>
            <a:endParaRPr lang="en-GB" sz="1800" dirty="0">
              <a:solidFill>
                <a:schemeClr val="tx2"/>
              </a:solidFill>
            </a:endParaRPr>
          </a:p>
          <a:p>
            <a:pPr marL="285750" indent="-285750">
              <a:buFont typeface="Arial,Sans-Serif" panose="020B0604020202020204" pitchFamily="34" charset="0"/>
            </a:pPr>
            <a:r>
              <a:rPr lang="en-GB" sz="1800" dirty="0">
                <a:solidFill>
                  <a:schemeClr val="tx2"/>
                </a:solidFill>
              </a:rPr>
              <a:t>T4: Eating &amp; medication use</a:t>
            </a:r>
          </a:p>
        </p:txBody>
      </p:sp>
      <p:sp>
        <p:nvSpPr>
          <p:cNvPr id="21" name="Content Placeholder 5">
            <a:extLst>
              <a:ext uri="{FF2B5EF4-FFF2-40B4-BE49-F238E27FC236}">
                <a16:creationId xmlns:a16="http://schemas.microsoft.com/office/drawing/2014/main" id="{0B5021E4-6967-7FF5-7A44-5BDF01EB56A5}"/>
              </a:ext>
            </a:extLst>
          </p:cNvPr>
          <p:cNvSpPr txBox="1">
            <a:spLocks/>
          </p:cNvSpPr>
          <p:nvPr/>
        </p:nvSpPr>
        <p:spPr>
          <a:xfrm>
            <a:off x="3174718" y="4704700"/>
            <a:ext cx="2474242" cy="1124886"/>
          </a:xfrm>
          <a:prstGeom prst="rect">
            <a:avLst/>
          </a:prstGeom>
          <a:ln w="19050" cap="flat" cmpd="sng" algn="ctr">
            <a:no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85750" indent="-285750">
              <a:buFont typeface="Arial,Sans-Serif" panose="020B0604020202020204" pitchFamily="34" charset="0"/>
            </a:pPr>
            <a:r>
              <a:rPr lang="en-GB" sz="1800" dirty="0">
                <a:solidFill>
                  <a:schemeClr val="tx2"/>
                </a:solidFill>
              </a:rPr>
              <a:t>AD1-A (burner) (1)</a:t>
            </a:r>
          </a:p>
          <a:p>
            <a:pPr marL="285750" indent="-285750">
              <a:buFont typeface="Arial,Sans-Serif" panose="020B0604020202020204" pitchFamily="34" charset="0"/>
            </a:pPr>
            <a:r>
              <a:rPr lang="en-GB" sz="1800" dirty="0">
                <a:solidFill>
                  <a:schemeClr val="tx2"/>
                </a:solidFill>
              </a:rPr>
              <a:t>AD1-B (hot tap) (1)</a:t>
            </a:r>
          </a:p>
          <a:p>
            <a:pPr marL="285750" indent="-285750">
              <a:buFont typeface="Arial,Sans-Serif" panose="020B0604020202020204" pitchFamily="34" charset="0"/>
            </a:pPr>
            <a:r>
              <a:rPr lang="en-GB" sz="1800" dirty="0">
                <a:solidFill>
                  <a:schemeClr val="tx2"/>
                </a:solidFill>
              </a:rPr>
              <a:t>AD1-C (cold tap) (1)</a:t>
            </a:r>
          </a:p>
        </p:txBody>
      </p:sp>
      <p:pic>
        <p:nvPicPr>
          <p:cNvPr id="22" name="Picture 21" descr="A screenshot of a computer&#10;&#10;AI-generated content may be incorrect.">
            <a:extLst>
              <a:ext uri="{FF2B5EF4-FFF2-40B4-BE49-F238E27FC236}">
                <a16:creationId xmlns:a16="http://schemas.microsoft.com/office/drawing/2014/main" id="{8A4CC259-45A9-6B51-5EEE-1D2FA05CF3F0}"/>
              </a:ext>
            </a:extLst>
          </p:cNvPr>
          <p:cNvPicPr>
            <a:picLocks noChangeAspect="1"/>
          </p:cNvPicPr>
          <p:nvPr/>
        </p:nvPicPr>
        <p:blipFill>
          <a:blip r:embed="rId3"/>
          <a:stretch>
            <a:fillRect/>
          </a:stretch>
        </p:blipFill>
        <p:spPr>
          <a:xfrm>
            <a:off x="6308515" y="2883445"/>
            <a:ext cx="2889092" cy="3609429"/>
          </a:xfrm>
          <a:prstGeom prst="rect">
            <a:avLst/>
          </a:prstGeom>
        </p:spPr>
      </p:pic>
      <p:pic>
        <p:nvPicPr>
          <p:cNvPr id="23" name="Picture 22" descr="A blueprint of a house&#10;&#10;AI-generated content may be incorrect.">
            <a:extLst>
              <a:ext uri="{FF2B5EF4-FFF2-40B4-BE49-F238E27FC236}">
                <a16:creationId xmlns:a16="http://schemas.microsoft.com/office/drawing/2014/main" id="{EF28381D-8575-0D2E-1635-3649D84B989C}"/>
              </a:ext>
            </a:extLst>
          </p:cNvPr>
          <p:cNvPicPr>
            <a:picLocks noChangeAspect="1"/>
          </p:cNvPicPr>
          <p:nvPr/>
        </p:nvPicPr>
        <p:blipFill>
          <a:blip r:embed="rId4"/>
          <a:srcRect l="50034"/>
          <a:stretch>
            <a:fillRect/>
          </a:stretch>
        </p:blipFill>
        <p:spPr>
          <a:xfrm>
            <a:off x="9298556" y="2883445"/>
            <a:ext cx="2323209" cy="3609429"/>
          </a:xfrm>
          <a:prstGeom prst="rect">
            <a:avLst/>
          </a:prstGeom>
        </p:spPr>
      </p:pic>
    </p:spTree>
    <p:extLst>
      <p:ext uri="{BB962C8B-B14F-4D97-AF65-F5344CB8AC3E}">
        <p14:creationId xmlns:p14="http://schemas.microsoft.com/office/powerpoint/2010/main" val="2261233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07F6A-AD4F-8176-1418-C45B37A29A6A}"/>
            </a:ext>
          </a:extLst>
        </p:cNvPr>
        <p:cNvGrpSpPr/>
        <p:nvPr/>
      </p:nvGrpSpPr>
      <p:grpSpPr>
        <a:xfrm>
          <a:off x="0" y="0"/>
          <a:ext cx="0" cy="0"/>
          <a:chOff x="0" y="0"/>
          <a:chExt cx="0" cy="0"/>
        </a:xfrm>
      </p:grpSpPr>
      <p:pic>
        <p:nvPicPr>
          <p:cNvPr id="33" name="Picture 32" descr="A screenshot of a graph&#10;&#10;AI-generated content may be incorrect.">
            <a:extLst>
              <a:ext uri="{FF2B5EF4-FFF2-40B4-BE49-F238E27FC236}">
                <a16:creationId xmlns:a16="http://schemas.microsoft.com/office/drawing/2014/main" id="{C2C20E18-60D8-1456-FEEC-BA786CB221E7}"/>
              </a:ext>
            </a:extLst>
          </p:cNvPr>
          <p:cNvPicPr>
            <a:picLocks noChangeAspect="1"/>
          </p:cNvPicPr>
          <p:nvPr/>
        </p:nvPicPr>
        <p:blipFill>
          <a:blip r:embed="rId3"/>
          <a:srcRect t="2937" r="6917"/>
          <a:stretch>
            <a:fillRect/>
          </a:stretch>
        </p:blipFill>
        <p:spPr>
          <a:xfrm>
            <a:off x="122584" y="877323"/>
            <a:ext cx="7900277" cy="5980677"/>
          </a:xfrm>
          <a:prstGeom prst="rect">
            <a:avLst/>
          </a:prstGeom>
        </p:spPr>
      </p:pic>
      <p:sp>
        <p:nvSpPr>
          <p:cNvPr id="2" name="Title 1">
            <a:extLst>
              <a:ext uri="{FF2B5EF4-FFF2-40B4-BE49-F238E27FC236}">
                <a16:creationId xmlns:a16="http://schemas.microsoft.com/office/drawing/2014/main" id="{43DE6628-BB59-9D7F-8369-7334EE6856B4}"/>
              </a:ext>
            </a:extLst>
          </p:cNvPr>
          <p:cNvSpPr>
            <a:spLocks noGrp="1"/>
          </p:cNvSpPr>
          <p:nvPr>
            <p:ph type="title"/>
          </p:nvPr>
        </p:nvSpPr>
        <p:spPr>
          <a:xfrm>
            <a:off x="838200" y="365126"/>
            <a:ext cx="10515600" cy="705062"/>
          </a:xfrm>
        </p:spPr>
        <p:txBody>
          <a:bodyPr/>
          <a:lstStyle/>
          <a:p>
            <a:r>
              <a:rPr lang="en-US" dirty="0">
                <a:solidFill>
                  <a:srgbClr val="0E2841"/>
                </a:solidFill>
              </a:rPr>
              <a:t>CASAS Kyoto One Dataset</a:t>
            </a:r>
          </a:p>
        </p:txBody>
      </p:sp>
      <p:sp>
        <p:nvSpPr>
          <p:cNvPr id="4" name="Rectangle 3">
            <a:extLst>
              <a:ext uri="{FF2B5EF4-FFF2-40B4-BE49-F238E27FC236}">
                <a16:creationId xmlns:a16="http://schemas.microsoft.com/office/drawing/2014/main" id="{E371C1CE-E0F1-D061-05AB-EADEE4BB7E16}"/>
              </a:ext>
            </a:extLst>
          </p:cNvPr>
          <p:cNvSpPr/>
          <p:nvPr/>
        </p:nvSpPr>
        <p:spPr>
          <a:xfrm>
            <a:off x="1509796" y="984093"/>
            <a:ext cx="690340" cy="5634507"/>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ubtitle 2">
            <a:extLst>
              <a:ext uri="{FF2B5EF4-FFF2-40B4-BE49-F238E27FC236}">
                <a16:creationId xmlns:a16="http://schemas.microsoft.com/office/drawing/2014/main" id="{C69ED26D-82BD-397A-B2B3-F8458F96D0C9}"/>
              </a:ext>
            </a:extLst>
          </p:cNvPr>
          <p:cNvSpPr txBox="1">
            <a:spLocks/>
          </p:cNvSpPr>
          <p:nvPr/>
        </p:nvSpPr>
        <p:spPr>
          <a:xfrm>
            <a:off x="7985794" y="983398"/>
            <a:ext cx="4206205" cy="7050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E2841"/>
                </a:solidFill>
              </a:rPr>
              <a:t>Sensor Presence Rate Per Activity</a:t>
            </a:r>
          </a:p>
        </p:txBody>
      </p:sp>
      <p:sp>
        <p:nvSpPr>
          <p:cNvPr id="23" name="Rectangle 22">
            <a:extLst>
              <a:ext uri="{FF2B5EF4-FFF2-40B4-BE49-F238E27FC236}">
                <a16:creationId xmlns:a16="http://schemas.microsoft.com/office/drawing/2014/main" id="{70864EA9-BBC3-549B-6CA2-A6A7E4D25462}"/>
              </a:ext>
            </a:extLst>
          </p:cNvPr>
          <p:cNvSpPr/>
          <p:nvPr/>
        </p:nvSpPr>
        <p:spPr>
          <a:xfrm>
            <a:off x="2912497" y="984093"/>
            <a:ext cx="690340" cy="5634507"/>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56C663E-6A8B-D9F7-C290-32B61002065F}"/>
              </a:ext>
            </a:extLst>
          </p:cNvPr>
          <p:cNvSpPr/>
          <p:nvPr/>
        </p:nvSpPr>
        <p:spPr>
          <a:xfrm>
            <a:off x="3614937" y="984092"/>
            <a:ext cx="690340" cy="5634507"/>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34EA683-8EF4-6C93-8958-9F42F7164ECE}"/>
              </a:ext>
            </a:extLst>
          </p:cNvPr>
          <p:cNvSpPr/>
          <p:nvPr/>
        </p:nvSpPr>
        <p:spPr>
          <a:xfrm>
            <a:off x="807356" y="984091"/>
            <a:ext cx="690340" cy="5634507"/>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0FBADA7-B528-C0DC-2427-906E2C0AB8B4}"/>
              </a:ext>
            </a:extLst>
          </p:cNvPr>
          <p:cNvSpPr/>
          <p:nvPr/>
        </p:nvSpPr>
        <p:spPr>
          <a:xfrm>
            <a:off x="2210302" y="983398"/>
            <a:ext cx="690340" cy="5634507"/>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913D575C-2EBF-A4DC-896C-429E54E8DBF3}"/>
              </a:ext>
            </a:extLst>
          </p:cNvPr>
          <p:cNvSpPr/>
          <p:nvPr/>
        </p:nvSpPr>
        <p:spPr>
          <a:xfrm>
            <a:off x="805413" y="983398"/>
            <a:ext cx="3499863" cy="563450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E2EBA51-C247-B05A-6892-29CB07DE65A0}"/>
              </a:ext>
            </a:extLst>
          </p:cNvPr>
          <p:cNvSpPr/>
          <p:nvPr/>
        </p:nvSpPr>
        <p:spPr>
          <a:xfrm>
            <a:off x="4485931" y="983398"/>
            <a:ext cx="3499863" cy="563450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494A7F0-7735-45B6-4C68-3144843E6682}"/>
              </a:ext>
            </a:extLst>
          </p:cNvPr>
          <p:cNvSpPr/>
          <p:nvPr/>
        </p:nvSpPr>
        <p:spPr>
          <a:xfrm>
            <a:off x="122584" y="983398"/>
            <a:ext cx="696872" cy="22998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9F71B2D-4B34-B7F7-48F6-E7607CA53D1D}"/>
              </a:ext>
            </a:extLst>
          </p:cNvPr>
          <p:cNvSpPr/>
          <p:nvPr/>
        </p:nvSpPr>
        <p:spPr>
          <a:xfrm>
            <a:off x="119318" y="1213385"/>
            <a:ext cx="696872" cy="297431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6351A3F-E55F-1820-822D-04A48D9D0E33}"/>
              </a:ext>
            </a:extLst>
          </p:cNvPr>
          <p:cNvSpPr/>
          <p:nvPr/>
        </p:nvSpPr>
        <p:spPr>
          <a:xfrm>
            <a:off x="121855" y="4187697"/>
            <a:ext cx="696872" cy="1919235"/>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92D8111E-6F4F-1EC8-BBD6-EE02D96C8F3B}"/>
              </a:ext>
            </a:extLst>
          </p:cNvPr>
          <p:cNvSpPr/>
          <p:nvPr/>
        </p:nvSpPr>
        <p:spPr>
          <a:xfrm>
            <a:off x="121066" y="6106932"/>
            <a:ext cx="696872" cy="20591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37907D6-22D0-EA0D-7490-3672E48D7382}"/>
              </a:ext>
            </a:extLst>
          </p:cNvPr>
          <p:cNvSpPr/>
          <p:nvPr/>
        </p:nvSpPr>
        <p:spPr>
          <a:xfrm>
            <a:off x="121066" y="6327393"/>
            <a:ext cx="696872" cy="29051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Content Placeholder 5">
            <a:extLst>
              <a:ext uri="{FF2B5EF4-FFF2-40B4-BE49-F238E27FC236}">
                <a16:creationId xmlns:a16="http://schemas.microsoft.com/office/drawing/2014/main" id="{2CA714FC-5C99-D8D2-97EA-F34EF7A9D4A0}"/>
              </a:ext>
            </a:extLst>
          </p:cNvPr>
          <p:cNvSpPr txBox="1">
            <a:spLocks/>
          </p:cNvSpPr>
          <p:nvPr/>
        </p:nvSpPr>
        <p:spPr>
          <a:xfrm>
            <a:off x="8203515" y="2441193"/>
            <a:ext cx="3680462" cy="1664642"/>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lnSpc>
                <a:spcPct val="80000"/>
              </a:lnSpc>
            </a:pPr>
            <a:r>
              <a:rPr lang="en-GB" sz="1800" dirty="0">
                <a:solidFill>
                  <a:schemeClr val="tx2"/>
                </a:solidFill>
                <a:ea typeface="+mn-lt"/>
                <a:cs typeface="+mn-lt"/>
              </a:rPr>
              <a:t>Invalid sensor-message pairs removed.</a:t>
            </a:r>
          </a:p>
          <a:p>
            <a:pPr marL="285750" indent="-285750">
              <a:lnSpc>
                <a:spcPct val="80000"/>
              </a:lnSpc>
            </a:pPr>
            <a:r>
              <a:rPr lang="en-GB" sz="1800" dirty="0">
                <a:solidFill>
                  <a:schemeClr val="tx2"/>
                </a:solidFill>
              </a:rPr>
              <a:t>Smooth noisy tap analogue sensors (AD1-B/C jitter removal).</a:t>
            </a:r>
          </a:p>
        </p:txBody>
      </p:sp>
      <p:sp>
        <p:nvSpPr>
          <p:cNvPr id="43" name="Rectangle: Rounded Corners 2">
            <a:extLst>
              <a:ext uri="{FF2B5EF4-FFF2-40B4-BE49-F238E27FC236}">
                <a16:creationId xmlns:a16="http://schemas.microsoft.com/office/drawing/2014/main" id="{4D938844-F841-38D2-39EC-C66D32C0E8C1}"/>
              </a:ext>
            </a:extLst>
          </p:cNvPr>
          <p:cNvSpPr/>
          <p:nvPr/>
        </p:nvSpPr>
        <p:spPr>
          <a:xfrm>
            <a:off x="8372439" y="2280882"/>
            <a:ext cx="1770863" cy="339687"/>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2"/>
                </a:solidFill>
              </a:rPr>
              <a:t>Data Cleaning</a:t>
            </a:r>
          </a:p>
        </p:txBody>
      </p:sp>
      <p:sp>
        <p:nvSpPr>
          <p:cNvPr id="44" name="Content Placeholder 5">
            <a:extLst>
              <a:ext uri="{FF2B5EF4-FFF2-40B4-BE49-F238E27FC236}">
                <a16:creationId xmlns:a16="http://schemas.microsoft.com/office/drawing/2014/main" id="{542477A1-AB8B-B262-412B-C5AF2DB35FD9}"/>
              </a:ext>
            </a:extLst>
          </p:cNvPr>
          <p:cNvSpPr txBox="1">
            <a:spLocks/>
          </p:cNvSpPr>
          <p:nvPr/>
        </p:nvSpPr>
        <p:spPr>
          <a:xfrm>
            <a:off x="8203515" y="4408241"/>
            <a:ext cx="3680462" cy="2177657"/>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lnSpc>
                <a:spcPct val="80000"/>
              </a:lnSpc>
            </a:pPr>
            <a:r>
              <a:rPr lang="en-GB" sz="1800" dirty="0">
                <a:solidFill>
                  <a:schemeClr val="tx2"/>
                </a:solidFill>
                <a:ea typeface="+mn-lt"/>
                <a:cs typeface="+mn-lt"/>
              </a:rPr>
              <a:t>Trained exclusively on normal data.</a:t>
            </a:r>
          </a:p>
          <a:p>
            <a:pPr marL="285750" indent="-285750">
              <a:lnSpc>
                <a:spcPct val="80000"/>
              </a:lnSpc>
            </a:pPr>
            <a:r>
              <a:rPr lang="en-GB" sz="1800" dirty="0">
                <a:solidFill>
                  <a:schemeClr val="tx2"/>
                </a:solidFill>
              </a:rPr>
              <a:t>5-fold </a:t>
            </a:r>
            <a:r>
              <a:rPr lang="en-GB" sz="1800" dirty="0" err="1">
                <a:solidFill>
                  <a:schemeClr val="tx2"/>
                </a:solidFill>
              </a:rPr>
              <a:t>GroupKFold</a:t>
            </a:r>
            <a:r>
              <a:rPr lang="en-GB" sz="1800" dirty="0">
                <a:solidFill>
                  <a:schemeClr val="tx2"/>
                </a:solidFill>
              </a:rPr>
              <a:t> cross-validation (by participant).</a:t>
            </a:r>
          </a:p>
          <a:p>
            <a:pPr marL="285750" indent="-285750">
              <a:lnSpc>
                <a:spcPct val="80000"/>
              </a:lnSpc>
            </a:pPr>
            <a:r>
              <a:rPr lang="en-GB" sz="1800" dirty="0">
                <a:solidFill>
                  <a:schemeClr val="tx2"/>
                </a:solidFill>
              </a:rPr>
              <a:t>Evaluated on error dataset (inference only).</a:t>
            </a:r>
          </a:p>
        </p:txBody>
      </p:sp>
      <p:sp>
        <p:nvSpPr>
          <p:cNvPr id="45" name="Rectangle: Rounded Corners 2">
            <a:extLst>
              <a:ext uri="{FF2B5EF4-FFF2-40B4-BE49-F238E27FC236}">
                <a16:creationId xmlns:a16="http://schemas.microsoft.com/office/drawing/2014/main" id="{1CA6F9BC-26B3-AE67-34B8-60676A9ED059}"/>
              </a:ext>
            </a:extLst>
          </p:cNvPr>
          <p:cNvSpPr/>
          <p:nvPr/>
        </p:nvSpPr>
        <p:spPr>
          <a:xfrm>
            <a:off x="8372439" y="4247931"/>
            <a:ext cx="1969645" cy="339687"/>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2"/>
                </a:solidFill>
              </a:rPr>
              <a:t>Training Strategy</a:t>
            </a:r>
          </a:p>
        </p:txBody>
      </p:sp>
      <p:pic>
        <p:nvPicPr>
          <p:cNvPr id="46" name="Picture 45" descr="A screenshot of a graph&#10;&#10;AI-generated content may be incorrect.">
            <a:extLst>
              <a:ext uri="{FF2B5EF4-FFF2-40B4-BE49-F238E27FC236}">
                <a16:creationId xmlns:a16="http://schemas.microsoft.com/office/drawing/2014/main" id="{5F0BD9FE-1412-B59E-6466-D31774E9B2BA}"/>
              </a:ext>
            </a:extLst>
          </p:cNvPr>
          <p:cNvPicPr>
            <a:picLocks noChangeAspect="1"/>
          </p:cNvPicPr>
          <p:nvPr/>
        </p:nvPicPr>
        <p:blipFill>
          <a:blip r:embed="rId3"/>
          <a:srcRect l="94710" t="44339" r="166" b="42963"/>
          <a:stretch>
            <a:fillRect/>
          </a:stretch>
        </p:blipFill>
        <p:spPr>
          <a:xfrm>
            <a:off x="8072831" y="1351883"/>
            <a:ext cx="434898" cy="782375"/>
          </a:xfrm>
          <a:prstGeom prst="rect">
            <a:avLst/>
          </a:prstGeom>
        </p:spPr>
      </p:pic>
      <p:sp>
        <p:nvSpPr>
          <p:cNvPr id="3" name="Rectangle 2">
            <a:extLst>
              <a:ext uri="{FF2B5EF4-FFF2-40B4-BE49-F238E27FC236}">
                <a16:creationId xmlns:a16="http://schemas.microsoft.com/office/drawing/2014/main" id="{932E5C72-6935-E367-456D-C7BF1A9FF572}"/>
              </a:ext>
            </a:extLst>
          </p:cNvPr>
          <p:cNvSpPr/>
          <p:nvPr/>
        </p:nvSpPr>
        <p:spPr>
          <a:xfrm>
            <a:off x="2900642" y="4928135"/>
            <a:ext cx="702195" cy="11069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19F4CF6-78FF-C160-8A68-0EAB5AB5BA20}"/>
              </a:ext>
            </a:extLst>
          </p:cNvPr>
          <p:cNvSpPr/>
          <p:nvPr/>
        </p:nvSpPr>
        <p:spPr>
          <a:xfrm>
            <a:off x="6587866" y="4928135"/>
            <a:ext cx="702195" cy="11069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600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3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38"/>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3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4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41"/>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4"/>
                                        </p:tgtEl>
                                        <p:attrNameLst>
                                          <p:attrName>style.visibility</p:attrName>
                                        </p:attrNameLst>
                                      </p:cBhvr>
                                      <p:to>
                                        <p:strVal val="hidden"/>
                                      </p:to>
                                    </p:set>
                                  </p:childTnLst>
                                </p:cTn>
                              </p:par>
                              <p:par>
                                <p:cTn id="71" presetID="1" presetClass="exit" presetSubtype="0" fill="hold" grpId="1" nodeType="withEffect">
                                  <p:stCondLst>
                                    <p:cond delay="0"/>
                                  </p:stCondLst>
                                  <p:childTnLst>
                                    <p:set>
                                      <p:cBhvr>
                                        <p:cTn id="72" dur="1" fill="hold">
                                          <p:stCondLst>
                                            <p:cond delay="0"/>
                                          </p:stCondLst>
                                        </p:cTn>
                                        <p:tgtEl>
                                          <p:spTgt spid="23"/>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0"/>
                                          </p:stCondLst>
                                        </p:cTn>
                                        <p:tgtEl>
                                          <p:spTgt spid="24"/>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28"/>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29"/>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grpId="1" nodeType="clickEffect">
                                  <p:stCondLst>
                                    <p:cond delay="0"/>
                                  </p:stCondLst>
                                  <p:childTnLst>
                                    <p:set>
                                      <p:cBhvr>
                                        <p:cTn id="96" dur="1" fill="hold">
                                          <p:stCondLst>
                                            <p:cond delay="0"/>
                                          </p:stCondLst>
                                        </p:cTn>
                                        <p:tgtEl>
                                          <p:spTgt spid="3"/>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23" grpId="0" animBg="1"/>
      <p:bldP spid="23" grpId="1" animBg="1"/>
      <p:bldP spid="24" grpId="0" animBg="1"/>
      <p:bldP spid="24" grpId="1" animBg="1"/>
      <p:bldP spid="28" grpId="0" animBg="1"/>
      <p:bldP spid="28" grpId="1" animBg="1"/>
      <p:bldP spid="29" grpId="0" animBg="1"/>
      <p:bldP spid="29"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3" grpId="0" animBg="1"/>
      <p:bldP spid="3" grpId="1" animBg="1"/>
      <p:bldP spid="5" grpId="0" animBg="1"/>
      <p:bldP spid="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16887-0F0C-D547-87C4-C03895B1B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E6D8C-F498-49F2-6C57-242634614D37}"/>
              </a:ext>
            </a:extLst>
          </p:cNvPr>
          <p:cNvSpPr>
            <a:spLocks noGrp="1"/>
          </p:cNvSpPr>
          <p:nvPr>
            <p:ph type="title"/>
          </p:nvPr>
        </p:nvSpPr>
        <p:spPr>
          <a:xfrm>
            <a:off x="838200" y="365126"/>
            <a:ext cx="10515600" cy="705062"/>
          </a:xfrm>
        </p:spPr>
        <p:txBody>
          <a:bodyPr/>
          <a:lstStyle/>
          <a:p>
            <a:r>
              <a:rPr lang="en-US" dirty="0">
                <a:solidFill>
                  <a:srgbClr val="0E2841"/>
                </a:solidFill>
              </a:rPr>
              <a:t>Activity Recognition Approach</a:t>
            </a:r>
          </a:p>
        </p:txBody>
      </p:sp>
      <p:sp>
        <p:nvSpPr>
          <p:cNvPr id="11" name="Content Placeholder 5">
            <a:extLst>
              <a:ext uri="{FF2B5EF4-FFF2-40B4-BE49-F238E27FC236}">
                <a16:creationId xmlns:a16="http://schemas.microsoft.com/office/drawing/2014/main" id="{13717CA6-BBB2-4055-C4C8-8E8D308B9730}"/>
              </a:ext>
            </a:extLst>
          </p:cNvPr>
          <p:cNvSpPr txBox="1">
            <a:spLocks/>
          </p:cNvSpPr>
          <p:nvPr/>
        </p:nvSpPr>
        <p:spPr>
          <a:xfrm>
            <a:off x="491512" y="3429000"/>
            <a:ext cx="5313252" cy="3107885"/>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buFont typeface="Arial,Sans-Serif" panose="020B0604020202020204" pitchFamily="34" charset="0"/>
            </a:pPr>
            <a:r>
              <a:rPr lang="en-GB" sz="1800" dirty="0">
                <a:solidFill>
                  <a:schemeClr val="tx2"/>
                </a:solidFill>
              </a:rPr>
              <a:t>Remove AD1-A (burner) activations &lt;70s</a:t>
            </a:r>
          </a:p>
          <a:p>
            <a:pPr marL="285750" indent="-285750">
              <a:buFont typeface="Arial,Sans-Serif" panose="020B0604020202020204" pitchFamily="34" charset="0"/>
            </a:pPr>
            <a:r>
              <a:rPr lang="en-GB" sz="1800" dirty="0">
                <a:solidFill>
                  <a:schemeClr val="tx2"/>
                </a:solidFill>
              </a:rPr>
              <a:t>Event-based features:</a:t>
            </a:r>
          </a:p>
          <a:p>
            <a:pPr marL="742950" lvl="1" indent="-285750">
              <a:buFont typeface="Arial,Sans-Serif" panose="020B0604020202020204" pitchFamily="34" charset="0"/>
            </a:pPr>
            <a:r>
              <a:rPr lang="en-GB" sz="1800" dirty="0">
                <a:solidFill>
                  <a:schemeClr val="tx2"/>
                </a:solidFill>
              </a:rPr>
              <a:t>Sensor/message counts (LR, RF, XGB)</a:t>
            </a:r>
          </a:p>
          <a:p>
            <a:pPr marL="742950" lvl="1" indent="-285750">
              <a:buFont typeface="Arial,Sans-Serif" panose="020B0604020202020204" pitchFamily="34" charset="0"/>
            </a:pPr>
            <a:r>
              <a:rPr lang="en-GB" sz="1800" dirty="0">
                <a:solidFill>
                  <a:schemeClr val="tx2"/>
                </a:solidFill>
              </a:rPr>
              <a:t>Binary event presence (DST)</a:t>
            </a:r>
          </a:p>
          <a:p>
            <a:pPr marL="285750" indent="-285750">
              <a:buFont typeface="Arial,Sans-Serif" panose="020B0604020202020204" pitchFamily="34" charset="0"/>
            </a:pPr>
            <a:r>
              <a:rPr lang="en-GB" sz="1800" dirty="0">
                <a:solidFill>
                  <a:schemeClr val="tx2"/>
                </a:solidFill>
              </a:rPr>
              <a:t>Activity-specific features:</a:t>
            </a:r>
          </a:p>
          <a:p>
            <a:pPr marL="742950" lvl="1" indent="-285750">
              <a:buFont typeface="Arial,Sans-Serif" panose="020B0604020202020204" pitchFamily="34" charset="0"/>
            </a:pPr>
            <a:r>
              <a:rPr lang="en-GB" sz="1800" dirty="0">
                <a:solidFill>
                  <a:schemeClr val="tx2"/>
                </a:solidFill>
              </a:rPr>
              <a:t>Tap duration bins </a:t>
            </a:r>
          </a:p>
          <a:p>
            <a:pPr marL="742950" lvl="1" indent="-285750">
              <a:buFont typeface="Arial,Sans-Serif" panose="020B0604020202020204" pitchFamily="34" charset="0"/>
            </a:pPr>
            <a:r>
              <a:rPr lang="en-GB" sz="1800" dirty="0">
                <a:solidFill>
                  <a:schemeClr val="tx2"/>
                </a:solidFill>
              </a:rPr>
              <a:t>Burner ACTIVE flag (LR, RF, XGB, DST)</a:t>
            </a:r>
          </a:p>
          <a:p>
            <a:pPr marL="742950" lvl="1" indent="-285750">
              <a:buFont typeface="Arial,Sans-Serif" panose="020B0604020202020204" pitchFamily="34" charset="0"/>
            </a:pPr>
            <a:r>
              <a:rPr lang="en-GB" sz="1800" dirty="0">
                <a:solidFill>
                  <a:schemeClr val="tx2"/>
                </a:solidFill>
              </a:rPr>
              <a:t>Burner binned analogue values (LSTM)</a:t>
            </a:r>
          </a:p>
          <a:p>
            <a:pPr marL="285750" indent="-285750">
              <a:buFont typeface="Arial,Sans-Serif" panose="020B0604020202020204" pitchFamily="34" charset="0"/>
              <a:buChar char="•"/>
            </a:pPr>
            <a:r>
              <a:rPr lang="en-GB" sz="1800" dirty="0">
                <a:solidFill>
                  <a:schemeClr val="tx2"/>
                </a:solidFill>
              </a:rPr>
              <a:t>Sequence features (LSTM)</a:t>
            </a:r>
          </a:p>
          <a:p>
            <a:pPr marL="285750" indent="-285750">
              <a:buFont typeface="Arial,Sans-Serif" panose="020B0604020202020204" pitchFamily="34" charset="0"/>
              <a:buChar char="•"/>
            </a:pPr>
            <a:endParaRPr lang="en-GB" sz="1800" dirty="0">
              <a:solidFill>
                <a:schemeClr val="tx2"/>
              </a:solidFill>
            </a:endParaRPr>
          </a:p>
        </p:txBody>
      </p:sp>
      <p:sp>
        <p:nvSpPr>
          <p:cNvPr id="12" name="Rectangle: Rounded Corners 2">
            <a:extLst>
              <a:ext uri="{FF2B5EF4-FFF2-40B4-BE49-F238E27FC236}">
                <a16:creationId xmlns:a16="http://schemas.microsoft.com/office/drawing/2014/main" id="{C0F89B6B-E427-156A-3698-FFF4C067E349}"/>
              </a:ext>
            </a:extLst>
          </p:cNvPr>
          <p:cNvSpPr/>
          <p:nvPr/>
        </p:nvSpPr>
        <p:spPr>
          <a:xfrm>
            <a:off x="612512" y="3265186"/>
            <a:ext cx="2160249" cy="339687"/>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Data Preprocessing</a:t>
            </a:r>
            <a:endParaRPr lang="en-US" dirty="0">
              <a:solidFill>
                <a:schemeClr val="tx2"/>
              </a:solidFill>
            </a:endParaRPr>
          </a:p>
        </p:txBody>
      </p:sp>
      <p:sp>
        <p:nvSpPr>
          <p:cNvPr id="13" name="Content Placeholder 5">
            <a:extLst>
              <a:ext uri="{FF2B5EF4-FFF2-40B4-BE49-F238E27FC236}">
                <a16:creationId xmlns:a16="http://schemas.microsoft.com/office/drawing/2014/main" id="{A1E3AF86-6430-ECD7-C041-455BA7923F9D}"/>
              </a:ext>
            </a:extLst>
          </p:cNvPr>
          <p:cNvSpPr txBox="1">
            <a:spLocks/>
          </p:cNvSpPr>
          <p:nvPr/>
        </p:nvSpPr>
        <p:spPr>
          <a:xfrm>
            <a:off x="491511" y="1234001"/>
            <a:ext cx="5313251" cy="1805925"/>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lnSpc>
                <a:spcPct val="80000"/>
              </a:lnSpc>
            </a:pPr>
            <a:r>
              <a:rPr lang="en-GB" sz="1900" dirty="0">
                <a:solidFill>
                  <a:schemeClr val="tx2"/>
                </a:solidFill>
                <a:ea typeface="+mn-lt"/>
                <a:cs typeface="+mn-lt"/>
              </a:rPr>
              <a:t>Logistic Regression (LR)</a:t>
            </a:r>
          </a:p>
          <a:p>
            <a:pPr marL="285750" indent="-285750">
              <a:lnSpc>
                <a:spcPct val="80000"/>
              </a:lnSpc>
            </a:pPr>
            <a:r>
              <a:rPr lang="en-GB" sz="1900" dirty="0">
                <a:solidFill>
                  <a:schemeClr val="tx2"/>
                </a:solidFill>
                <a:ea typeface="+mn-lt"/>
                <a:cs typeface="+mn-lt"/>
              </a:rPr>
              <a:t>Random Forest (RF)</a:t>
            </a:r>
          </a:p>
          <a:p>
            <a:pPr marL="285750" indent="-285750">
              <a:lnSpc>
                <a:spcPct val="80000"/>
              </a:lnSpc>
            </a:pPr>
            <a:r>
              <a:rPr lang="en-GB" sz="1900" dirty="0" err="1">
                <a:solidFill>
                  <a:schemeClr val="tx2"/>
                </a:solidFill>
                <a:ea typeface="+mn-lt"/>
                <a:cs typeface="+mn-lt"/>
              </a:rPr>
              <a:t>XGBoost</a:t>
            </a:r>
            <a:r>
              <a:rPr lang="en-GB" sz="1900" dirty="0">
                <a:solidFill>
                  <a:schemeClr val="tx2"/>
                </a:solidFill>
                <a:ea typeface="+mn-lt"/>
                <a:cs typeface="+mn-lt"/>
              </a:rPr>
              <a:t> (XGB)</a:t>
            </a:r>
          </a:p>
          <a:p>
            <a:pPr marL="285750" indent="-285750">
              <a:lnSpc>
                <a:spcPct val="80000"/>
              </a:lnSpc>
            </a:pPr>
            <a:r>
              <a:rPr lang="en-GB" sz="1900" dirty="0">
                <a:solidFill>
                  <a:schemeClr val="tx2"/>
                </a:solidFill>
                <a:ea typeface="+mn-lt"/>
                <a:cs typeface="+mn-lt"/>
              </a:rPr>
              <a:t>Long Short-Term Memory (LSTM)</a:t>
            </a:r>
          </a:p>
          <a:p>
            <a:pPr marL="285750" indent="-285750">
              <a:lnSpc>
                <a:spcPct val="80000"/>
              </a:lnSpc>
            </a:pPr>
            <a:r>
              <a:rPr lang="en-GB" sz="1900" dirty="0">
                <a:solidFill>
                  <a:schemeClr val="tx2"/>
                </a:solidFill>
                <a:ea typeface="+mn-lt"/>
                <a:cs typeface="+mn-lt"/>
              </a:rPr>
              <a:t>Dempster-Shafer Theory (DST)</a:t>
            </a:r>
            <a:endParaRPr lang="en-GB" sz="1900" dirty="0">
              <a:solidFill>
                <a:schemeClr val="tx2"/>
              </a:solidFill>
            </a:endParaRPr>
          </a:p>
          <a:p>
            <a:pPr marL="285750" indent="-285750">
              <a:buFont typeface="Arial,Sans-Serif" panose="020B0604020202020204" pitchFamily="34" charset="0"/>
            </a:pPr>
            <a:endParaRPr lang="en-GB" sz="2200" dirty="0">
              <a:solidFill>
                <a:schemeClr val="tx2"/>
              </a:solidFill>
            </a:endParaRPr>
          </a:p>
        </p:txBody>
      </p:sp>
      <p:sp>
        <p:nvSpPr>
          <p:cNvPr id="14" name="Rectangle: Rounded Corners 2">
            <a:extLst>
              <a:ext uri="{FF2B5EF4-FFF2-40B4-BE49-F238E27FC236}">
                <a16:creationId xmlns:a16="http://schemas.microsoft.com/office/drawing/2014/main" id="{58DD2867-AF4B-7972-A997-2C377A878A0E}"/>
              </a:ext>
            </a:extLst>
          </p:cNvPr>
          <p:cNvSpPr/>
          <p:nvPr/>
        </p:nvSpPr>
        <p:spPr>
          <a:xfrm>
            <a:off x="612512" y="1070188"/>
            <a:ext cx="3409058" cy="339687"/>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Models &amp; Modelling Approaches</a:t>
            </a:r>
            <a:endParaRPr lang="en-US" dirty="0">
              <a:solidFill>
                <a:schemeClr val="tx2"/>
              </a:solidFill>
            </a:endParaRPr>
          </a:p>
        </p:txBody>
      </p:sp>
      <p:sp>
        <p:nvSpPr>
          <p:cNvPr id="3" name="Content Placeholder 5">
            <a:extLst>
              <a:ext uri="{FF2B5EF4-FFF2-40B4-BE49-F238E27FC236}">
                <a16:creationId xmlns:a16="http://schemas.microsoft.com/office/drawing/2014/main" id="{1D7C9C3C-6DFE-DD12-8449-EAA8F5B1F3F5}"/>
              </a:ext>
            </a:extLst>
          </p:cNvPr>
          <p:cNvSpPr txBox="1">
            <a:spLocks/>
          </p:cNvSpPr>
          <p:nvPr/>
        </p:nvSpPr>
        <p:spPr>
          <a:xfrm>
            <a:off x="6387238" y="1234001"/>
            <a:ext cx="5313252" cy="5302884"/>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buFont typeface="Arial,Sans-Serif" panose="020B0604020202020204" pitchFamily="34" charset="0"/>
            </a:pPr>
            <a:r>
              <a:rPr lang="en-GB" sz="1800" dirty="0">
                <a:solidFill>
                  <a:schemeClr val="tx2"/>
                </a:solidFill>
              </a:rPr>
              <a:t>Step One: Create two per-activity frequency tables with a row for each sensor–message pair: one for occurrences and one for non-occurrences.</a:t>
            </a:r>
          </a:p>
          <a:p>
            <a:pPr marL="285750" indent="-285750">
              <a:buFont typeface="Arial,Sans-Serif" panose="020B0604020202020204" pitchFamily="34" charset="0"/>
            </a:pPr>
            <a:r>
              <a:rPr lang="en-GB" sz="1800" dirty="0">
                <a:solidFill>
                  <a:schemeClr val="tx2"/>
                </a:solidFill>
              </a:rPr>
              <a:t>Step Two: Calculate belief, disbelief and uncertainty adding the total activity count to reduce over confidence.</a:t>
            </a:r>
          </a:p>
          <a:p>
            <a:pPr marL="285750" indent="-285750">
              <a:buFont typeface="Arial,Sans-Serif" panose="020B0604020202020204" pitchFamily="34" charset="0"/>
            </a:pPr>
            <a:r>
              <a:rPr lang="en-GB" sz="1800" dirty="0">
                <a:solidFill>
                  <a:schemeClr val="tx2"/>
                </a:solidFill>
              </a:rPr>
              <a:t>Step Three: Calculate distinctiveness score of each sensor-message.</a:t>
            </a:r>
          </a:p>
          <a:p>
            <a:pPr marL="285750" indent="-285750">
              <a:buFont typeface="Arial,Sans-Serif" panose="020B0604020202020204" pitchFamily="34" charset="0"/>
            </a:pPr>
            <a:r>
              <a:rPr lang="en-GB" sz="1800" dirty="0">
                <a:solidFill>
                  <a:schemeClr val="tx2"/>
                </a:solidFill>
              </a:rPr>
              <a:t>Step Four: Set reliability weighting based on sensor-type.</a:t>
            </a:r>
          </a:p>
          <a:p>
            <a:pPr marL="285750" indent="-285750">
              <a:buFont typeface="Arial,Sans-Serif" panose="020B0604020202020204" pitchFamily="34" charset="0"/>
            </a:pPr>
            <a:r>
              <a:rPr lang="en-GB" sz="1800" dirty="0">
                <a:solidFill>
                  <a:schemeClr val="tx2"/>
                </a:solidFill>
              </a:rPr>
              <a:t>Step Five: Calculate the discounted belief, disbelief and uncertainty using the distinctiveness score and reliability weighting.</a:t>
            </a:r>
          </a:p>
          <a:p>
            <a:pPr marL="285750" indent="-285750">
              <a:buFont typeface="Arial,Sans-Serif" panose="020B0604020202020204" pitchFamily="34" charset="0"/>
            </a:pPr>
            <a:r>
              <a:rPr lang="en-GB" sz="1800" dirty="0">
                <a:solidFill>
                  <a:schemeClr val="tx2"/>
                </a:solidFill>
              </a:rPr>
              <a:t>Step Six: Combine evidence using Dempster’s Rule of Combination.</a:t>
            </a:r>
          </a:p>
          <a:p>
            <a:pPr marL="285750" indent="-285750">
              <a:buFont typeface="Arial,Sans-Serif" panose="020B0604020202020204" pitchFamily="34" charset="0"/>
            </a:pPr>
            <a:r>
              <a:rPr lang="en-GB" sz="1800" dirty="0">
                <a:solidFill>
                  <a:schemeClr val="tx2"/>
                </a:solidFill>
              </a:rPr>
              <a:t>Step Seven: Select activity with highest belief score.</a:t>
            </a:r>
          </a:p>
        </p:txBody>
      </p:sp>
      <p:sp>
        <p:nvSpPr>
          <p:cNvPr id="4" name="Rectangle: Rounded Corners 2">
            <a:extLst>
              <a:ext uri="{FF2B5EF4-FFF2-40B4-BE49-F238E27FC236}">
                <a16:creationId xmlns:a16="http://schemas.microsoft.com/office/drawing/2014/main" id="{30AFA64F-3A46-0406-41FB-B4E7608706A6}"/>
              </a:ext>
            </a:extLst>
          </p:cNvPr>
          <p:cNvSpPr/>
          <p:nvPr/>
        </p:nvSpPr>
        <p:spPr>
          <a:xfrm>
            <a:off x="6508238" y="1070187"/>
            <a:ext cx="2296647" cy="339687"/>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DST Implementation</a:t>
            </a:r>
            <a:endParaRPr lang="en-US" dirty="0">
              <a:solidFill>
                <a:schemeClr val="tx2"/>
              </a:solidFill>
            </a:endParaRPr>
          </a:p>
        </p:txBody>
      </p:sp>
    </p:spTree>
    <p:extLst>
      <p:ext uri="{BB962C8B-B14F-4D97-AF65-F5344CB8AC3E}">
        <p14:creationId xmlns:p14="http://schemas.microsoft.com/office/powerpoint/2010/main" val="3109129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8F848-A6D9-5538-268F-5FEDD4138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F9D6D-325C-2A1D-0EB8-968117646BAE}"/>
              </a:ext>
            </a:extLst>
          </p:cNvPr>
          <p:cNvSpPr>
            <a:spLocks noGrp="1"/>
          </p:cNvSpPr>
          <p:nvPr>
            <p:ph type="title"/>
          </p:nvPr>
        </p:nvSpPr>
        <p:spPr>
          <a:xfrm>
            <a:off x="838200" y="365126"/>
            <a:ext cx="10515600" cy="705062"/>
          </a:xfrm>
        </p:spPr>
        <p:txBody>
          <a:bodyPr/>
          <a:lstStyle/>
          <a:p>
            <a:r>
              <a:rPr lang="en-US" dirty="0">
                <a:solidFill>
                  <a:srgbClr val="0E2841"/>
                </a:solidFill>
              </a:rPr>
              <a:t>Activity Recognition</a:t>
            </a:r>
          </a:p>
        </p:txBody>
      </p:sp>
      <p:sp>
        <p:nvSpPr>
          <p:cNvPr id="11" name="Content Placeholder 5">
            <a:extLst>
              <a:ext uri="{FF2B5EF4-FFF2-40B4-BE49-F238E27FC236}">
                <a16:creationId xmlns:a16="http://schemas.microsoft.com/office/drawing/2014/main" id="{DFF10730-390D-A400-B0DF-24549E2B009B}"/>
              </a:ext>
            </a:extLst>
          </p:cNvPr>
          <p:cNvSpPr txBox="1">
            <a:spLocks/>
          </p:cNvSpPr>
          <p:nvPr/>
        </p:nvSpPr>
        <p:spPr>
          <a:xfrm>
            <a:off x="558801" y="1234002"/>
            <a:ext cx="5537199" cy="2596129"/>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0" indent="0">
              <a:buNone/>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p:txBody>
      </p:sp>
      <p:sp>
        <p:nvSpPr>
          <p:cNvPr id="12" name="Rectangle: Rounded Corners 2">
            <a:extLst>
              <a:ext uri="{FF2B5EF4-FFF2-40B4-BE49-F238E27FC236}">
                <a16:creationId xmlns:a16="http://schemas.microsoft.com/office/drawing/2014/main" id="{1EBBA6ED-809B-141B-1742-6D1CA5159BDC}"/>
              </a:ext>
            </a:extLst>
          </p:cNvPr>
          <p:cNvSpPr/>
          <p:nvPr/>
        </p:nvSpPr>
        <p:spPr>
          <a:xfrm>
            <a:off x="691236" y="1070188"/>
            <a:ext cx="2194204" cy="299048"/>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rgbClr val="0E2841"/>
                </a:solidFill>
              </a:rPr>
              <a:t>DST Results Normal</a:t>
            </a:r>
            <a:endParaRPr lang="en-US" dirty="0">
              <a:solidFill>
                <a:srgbClr val="0E2841"/>
              </a:solidFill>
            </a:endParaRPr>
          </a:p>
        </p:txBody>
      </p:sp>
      <p:graphicFrame>
        <p:nvGraphicFramePr>
          <p:cNvPr id="4" name="Table 3">
            <a:extLst>
              <a:ext uri="{FF2B5EF4-FFF2-40B4-BE49-F238E27FC236}">
                <a16:creationId xmlns:a16="http://schemas.microsoft.com/office/drawing/2014/main" id="{7A51CA9D-1162-CC1B-518A-6FDD2139E4D9}"/>
              </a:ext>
            </a:extLst>
          </p:cNvPr>
          <p:cNvGraphicFramePr>
            <a:graphicFrameLocks noGrp="1"/>
          </p:cNvGraphicFramePr>
          <p:nvPr>
            <p:extLst>
              <p:ext uri="{D42A27DB-BD31-4B8C-83A1-F6EECF244321}">
                <p14:modId xmlns:p14="http://schemas.microsoft.com/office/powerpoint/2010/main" val="1327862017"/>
              </p:ext>
            </p:extLst>
          </p:nvPr>
        </p:nvGraphicFramePr>
        <p:xfrm>
          <a:off x="691236" y="1430195"/>
          <a:ext cx="5336005" cy="2346960"/>
        </p:xfrm>
        <a:graphic>
          <a:graphicData uri="http://schemas.openxmlformats.org/drawingml/2006/table">
            <a:tbl>
              <a:tblPr>
                <a:tableStyleId>{2D5ABB26-0587-4C30-8999-92F81FD0307C}</a:tableStyleId>
              </a:tblPr>
              <a:tblGrid>
                <a:gridCol w="1067201">
                  <a:extLst>
                    <a:ext uri="{9D8B030D-6E8A-4147-A177-3AD203B41FA5}">
                      <a16:colId xmlns:a16="http://schemas.microsoft.com/office/drawing/2014/main" val="1139794895"/>
                    </a:ext>
                  </a:extLst>
                </a:gridCol>
                <a:gridCol w="1067201">
                  <a:extLst>
                    <a:ext uri="{9D8B030D-6E8A-4147-A177-3AD203B41FA5}">
                      <a16:colId xmlns:a16="http://schemas.microsoft.com/office/drawing/2014/main" val="534915434"/>
                    </a:ext>
                  </a:extLst>
                </a:gridCol>
                <a:gridCol w="1067201">
                  <a:extLst>
                    <a:ext uri="{9D8B030D-6E8A-4147-A177-3AD203B41FA5}">
                      <a16:colId xmlns:a16="http://schemas.microsoft.com/office/drawing/2014/main" val="2776301754"/>
                    </a:ext>
                  </a:extLst>
                </a:gridCol>
                <a:gridCol w="1067201">
                  <a:extLst>
                    <a:ext uri="{9D8B030D-6E8A-4147-A177-3AD203B41FA5}">
                      <a16:colId xmlns:a16="http://schemas.microsoft.com/office/drawing/2014/main" val="1589939299"/>
                    </a:ext>
                  </a:extLst>
                </a:gridCol>
                <a:gridCol w="1067201">
                  <a:extLst>
                    <a:ext uri="{9D8B030D-6E8A-4147-A177-3AD203B41FA5}">
                      <a16:colId xmlns:a16="http://schemas.microsoft.com/office/drawing/2014/main" val="2643448621"/>
                    </a:ext>
                  </a:extLst>
                </a:gridCol>
              </a:tblGrid>
              <a:tr h="334800">
                <a:tc gridSpan="5">
                  <a:txBody>
                    <a:bodyPr/>
                    <a:lstStyle/>
                    <a:p>
                      <a:pPr algn="ctr">
                        <a:buNone/>
                      </a:pPr>
                      <a:r>
                        <a:rPr lang="en-GB" sz="1600" dirty="0">
                          <a:solidFill>
                            <a:srgbClr val="0E2841"/>
                          </a:solidFill>
                        </a:rPr>
                        <a:t>Accuracy = 0.96</a:t>
                      </a:r>
                    </a:p>
                  </a:txBody>
                  <a:tcPr anchor="ctr">
                    <a:solidFill>
                      <a:srgbClr val="C3DACA"/>
                    </a:solidFill>
                  </a:tcPr>
                </a:tc>
                <a:tc hMerge="1">
                  <a:txBody>
                    <a:bodyPr/>
                    <a:lstStyle/>
                    <a:p>
                      <a:endParaRPr dirty="0"/>
                    </a:p>
                  </a:txBody>
                  <a:tcPr anchor="ctr">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55960034"/>
                  </a:ext>
                </a:extLst>
              </a:tr>
              <a:tr h="323224">
                <a:tc>
                  <a:txBody>
                    <a:bodyPr/>
                    <a:lstStyle/>
                    <a:p>
                      <a:pPr>
                        <a:buNone/>
                      </a:pPr>
                      <a:r>
                        <a:rPr lang="en-GB" sz="1600" dirty="0">
                          <a:solidFill>
                            <a:srgbClr val="0E2841"/>
                          </a:solidFill>
                        </a:rPr>
                        <a:t>Activity</a:t>
                      </a:r>
                    </a:p>
                  </a:txBody>
                  <a:tcPr anchor="ctr"/>
                </a:tc>
                <a:tc>
                  <a:txBody>
                    <a:bodyPr/>
                    <a:lstStyle/>
                    <a:p>
                      <a:pPr>
                        <a:buNone/>
                      </a:pPr>
                      <a:r>
                        <a:rPr lang="en-GB" sz="1600" dirty="0">
                          <a:solidFill>
                            <a:srgbClr val="0E2841"/>
                          </a:solidFill>
                        </a:rPr>
                        <a:t>Recall</a:t>
                      </a:r>
                    </a:p>
                  </a:txBody>
                  <a:tcPr anchor="ctr"/>
                </a:tc>
                <a:tc>
                  <a:txBody>
                    <a:bodyPr/>
                    <a:lstStyle/>
                    <a:p>
                      <a:pPr>
                        <a:buNone/>
                      </a:pPr>
                      <a:r>
                        <a:rPr lang="en-GB" sz="1600" dirty="0">
                          <a:solidFill>
                            <a:srgbClr val="0E2841"/>
                          </a:solidFill>
                        </a:rPr>
                        <a:t>FPR</a:t>
                      </a:r>
                    </a:p>
                  </a:txBody>
                  <a:tcPr anchor="ctr"/>
                </a:tc>
                <a:tc>
                  <a:txBody>
                    <a:bodyPr/>
                    <a:lstStyle/>
                    <a:p>
                      <a:pPr>
                        <a:buNone/>
                      </a:pPr>
                      <a:r>
                        <a:rPr lang="en-GB" sz="1600" dirty="0">
                          <a:solidFill>
                            <a:srgbClr val="0E2841"/>
                          </a:solidFill>
                        </a:rPr>
                        <a:t>Precision</a:t>
                      </a:r>
                    </a:p>
                  </a:txBody>
                  <a:tcPr anchor="ctr"/>
                </a:tc>
                <a:tc>
                  <a:txBody>
                    <a:bodyPr/>
                    <a:lstStyle/>
                    <a:p>
                      <a:pPr>
                        <a:buNone/>
                      </a:pPr>
                      <a:r>
                        <a:rPr lang="en-GB" sz="1600" dirty="0">
                          <a:solidFill>
                            <a:srgbClr val="0E2841"/>
                          </a:solidFill>
                        </a:rPr>
                        <a:t>F1 </a:t>
                      </a:r>
                    </a:p>
                  </a:txBody>
                  <a:tcPr anchor="ctr"/>
                </a:tc>
                <a:extLst>
                  <a:ext uri="{0D108BD9-81ED-4DB2-BD59-A6C34878D82A}">
                    <a16:rowId xmlns:a16="http://schemas.microsoft.com/office/drawing/2014/main" val="2866620304"/>
                  </a:ext>
                </a:extLst>
              </a:tr>
              <a:tr h="323224">
                <a:tc>
                  <a:txBody>
                    <a:bodyPr/>
                    <a:lstStyle/>
                    <a:p>
                      <a:pPr>
                        <a:buNone/>
                      </a:pPr>
                      <a:r>
                        <a:rPr lang="en-GB" sz="1600" dirty="0">
                          <a:solidFill>
                            <a:srgbClr val="0E2841"/>
                          </a:solidFill>
                        </a:rPr>
                        <a:t>T1</a:t>
                      </a:r>
                    </a:p>
                  </a:txBody>
                  <a:tcPr anchor="ctr"/>
                </a:tc>
                <a:tc>
                  <a:txBody>
                    <a:bodyPr/>
                    <a:lstStyle/>
                    <a:p>
                      <a:pPr>
                        <a:buNone/>
                      </a:pPr>
                      <a:r>
                        <a:rPr lang="en-GB" sz="1600" dirty="0">
                          <a:solidFill>
                            <a:srgbClr val="0E2841"/>
                          </a:solidFill>
                        </a:rPr>
                        <a:t>1.00</a:t>
                      </a:r>
                    </a:p>
                  </a:txBody>
                  <a:tcPr anchor="ctr">
                    <a:noFill/>
                  </a:tcPr>
                </a:tc>
                <a:tc>
                  <a:txBody>
                    <a:bodyPr/>
                    <a:lstStyle/>
                    <a:p>
                      <a:pPr>
                        <a:buNone/>
                      </a:pPr>
                      <a:r>
                        <a:rPr lang="en-GB" sz="1600" dirty="0">
                          <a:solidFill>
                            <a:srgbClr val="0E2841"/>
                          </a:solidFill>
                        </a:rPr>
                        <a:t>0.00</a:t>
                      </a:r>
                    </a:p>
                  </a:txBody>
                  <a:tcPr anchor="ctr"/>
                </a:tc>
                <a:tc>
                  <a:txBody>
                    <a:bodyPr/>
                    <a:lstStyle/>
                    <a:p>
                      <a:pPr>
                        <a:buNone/>
                      </a:pPr>
                      <a:r>
                        <a:rPr lang="en-GB" sz="1600">
                          <a:solidFill>
                            <a:srgbClr val="0E2841"/>
                          </a:solidFill>
                        </a:rPr>
                        <a:t>1.00</a:t>
                      </a:r>
                    </a:p>
                  </a:txBody>
                  <a:tcPr anchor="ctr"/>
                </a:tc>
                <a:tc>
                  <a:txBody>
                    <a:bodyPr/>
                    <a:lstStyle/>
                    <a:p>
                      <a:pPr>
                        <a:buNone/>
                      </a:pPr>
                      <a:r>
                        <a:rPr lang="en-GB" sz="1600" dirty="0">
                          <a:solidFill>
                            <a:srgbClr val="0E2841"/>
                          </a:solidFill>
                        </a:rPr>
                        <a:t>1.00</a:t>
                      </a:r>
                    </a:p>
                  </a:txBody>
                  <a:tcPr anchor="ctr">
                    <a:solidFill>
                      <a:srgbClr val="C3DACA"/>
                    </a:solidFill>
                  </a:tcPr>
                </a:tc>
                <a:extLst>
                  <a:ext uri="{0D108BD9-81ED-4DB2-BD59-A6C34878D82A}">
                    <a16:rowId xmlns:a16="http://schemas.microsoft.com/office/drawing/2014/main" val="1089780419"/>
                  </a:ext>
                </a:extLst>
              </a:tr>
              <a:tr h="323224">
                <a:tc>
                  <a:txBody>
                    <a:bodyPr/>
                    <a:lstStyle/>
                    <a:p>
                      <a:pPr>
                        <a:buNone/>
                      </a:pPr>
                      <a:r>
                        <a:rPr lang="en-GB" sz="1600">
                          <a:solidFill>
                            <a:srgbClr val="0E2841"/>
                          </a:solidFill>
                        </a:rPr>
                        <a:t>T2</a:t>
                      </a:r>
                    </a:p>
                  </a:txBody>
                  <a:tcPr anchor="ctr"/>
                </a:tc>
                <a:tc>
                  <a:txBody>
                    <a:bodyPr/>
                    <a:lstStyle/>
                    <a:p>
                      <a:pPr>
                        <a:buNone/>
                      </a:pPr>
                      <a:r>
                        <a:rPr lang="en-GB" sz="1600">
                          <a:solidFill>
                            <a:srgbClr val="0E2841"/>
                          </a:solidFill>
                        </a:rPr>
                        <a:t>0.83</a:t>
                      </a:r>
                    </a:p>
                  </a:txBody>
                  <a:tcPr anchor="ctr">
                    <a:noFill/>
                  </a:tcPr>
                </a:tc>
                <a:tc>
                  <a:txBody>
                    <a:bodyPr/>
                    <a:lstStyle/>
                    <a:p>
                      <a:pPr>
                        <a:buNone/>
                      </a:pPr>
                      <a:r>
                        <a:rPr lang="en-GB" sz="1600" dirty="0">
                          <a:solidFill>
                            <a:srgbClr val="0E2841"/>
                          </a:solidFill>
                        </a:rPr>
                        <a:t>0.00</a:t>
                      </a:r>
                    </a:p>
                  </a:txBody>
                  <a:tcPr anchor="ctr"/>
                </a:tc>
                <a:tc>
                  <a:txBody>
                    <a:bodyPr/>
                    <a:lstStyle/>
                    <a:p>
                      <a:pPr>
                        <a:buNone/>
                      </a:pPr>
                      <a:r>
                        <a:rPr lang="en-GB" sz="1600" dirty="0">
                          <a:solidFill>
                            <a:srgbClr val="0E2841"/>
                          </a:solidFill>
                        </a:rPr>
                        <a:t>1.00</a:t>
                      </a:r>
                    </a:p>
                  </a:txBody>
                  <a:tcPr anchor="ctr"/>
                </a:tc>
                <a:tc>
                  <a:txBody>
                    <a:bodyPr/>
                    <a:lstStyle/>
                    <a:p>
                      <a:pPr>
                        <a:buNone/>
                      </a:pPr>
                      <a:r>
                        <a:rPr lang="en-GB" sz="1600" dirty="0">
                          <a:solidFill>
                            <a:srgbClr val="0E2841"/>
                          </a:solidFill>
                        </a:rPr>
                        <a:t>0.91</a:t>
                      </a:r>
                    </a:p>
                  </a:txBody>
                  <a:tcPr anchor="ctr"/>
                </a:tc>
                <a:extLst>
                  <a:ext uri="{0D108BD9-81ED-4DB2-BD59-A6C34878D82A}">
                    <a16:rowId xmlns:a16="http://schemas.microsoft.com/office/drawing/2014/main" val="1092680866"/>
                  </a:ext>
                </a:extLst>
              </a:tr>
              <a:tr h="323224">
                <a:tc>
                  <a:txBody>
                    <a:bodyPr/>
                    <a:lstStyle/>
                    <a:p>
                      <a:pPr>
                        <a:buNone/>
                      </a:pPr>
                      <a:r>
                        <a:rPr lang="en-GB" sz="1600">
                          <a:solidFill>
                            <a:srgbClr val="0E2841"/>
                          </a:solidFill>
                        </a:rPr>
                        <a:t>T3</a:t>
                      </a:r>
                    </a:p>
                  </a:txBody>
                  <a:tcPr anchor="ctr"/>
                </a:tc>
                <a:tc>
                  <a:txBody>
                    <a:bodyPr/>
                    <a:lstStyle/>
                    <a:p>
                      <a:pPr>
                        <a:buNone/>
                      </a:pPr>
                      <a:r>
                        <a:rPr lang="en-GB" sz="1600" dirty="0">
                          <a:solidFill>
                            <a:srgbClr val="0E2841"/>
                          </a:solidFill>
                        </a:rPr>
                        <a:t>1.00</a:t>
                      </a:r>
                    </a:p>
                  </a:txBody>
                  <a:tcPr anchor="ctr">
                    <a:noFill/>
                  </a:tcPr>
                </a:tc>
                <a:tc>
                  <a:txBody>
                    <a:bodyPr/>
                    <a:lstStyle/>
                    <a:p>
                      <a:pPr>
                        <a:buNone/>
                      </a:pPr>
                      <a:r>
                        <a:rPr lang="en-GB" sz="1600">
                          <a:solidFill>
                            <a:srgbClr val="0E2841"/>
                          </a:solidFill>
                        </a:rPr>
                        <a:t>0.01</a:t>
                      </a:r>
                    </a:p>
                  </a:txBody>
                  <a:tcPr anchor="ctr"/>
                </a:tc>
                <a:tc>
                  <a:txBody>
                    <a:bodyPr/>
                    <a:lstStyle/>
                    <a:p>
                      <a:pPr>
                        <a:buNone/>
                      </a:pPr>
                      <a:r>
                        <a:rPr lang="en-GB" sz="1600" dirty="0">
                          <a:solidFill>
                            <a:srgbClr val="0E2841"/>
                          </a:solidFill>
                        </a:rPr>
                        <a:t>0.96</a:t>
                      </a:r>
                    </a:p>
                  </a:txBody>
                  <a:tcPr anchor="ctr"/>
                </a:tc>
                <a:tc>
                  <a:txBody>
                    <a:bodyPr/>
                    <a:lstStyle/>
                    <a:p>
                      <a:pPr>
                        <a:buNone/>
                      </a:pPr>
                      <a:r>
                        <a:rPr lang="en-GB" sz="1600" dirty="0">
                          <a:solidFill>
                            <a:srgbClr val="0E2841"/>
                          </a:solidFill>
                        </a:rPr>
                        <a:t>0.98</a:t>
                      </a:r>
                    </a:p>
                  </a:txBody>
                  <a:tcPr anchor="ctr">
                    <a:solidFill>
                      <a:srgbClr val="C3DACA"/>
                    </a:solidFill>
                  </a:tcPr>
                </a:tc>
                <a:extLst>
                  <a:ext uri="{0D108BD9-81ED-4DB2-BD59-A6C34878D82A}">
                    <a16:rowId xmlns:a16="http://schemas.microsoft.com/office/drawing/2014/main" val="562334876"/>
                  </a:ext>
                </a:extLst>
              </a:tr>
              <a:tr h="323224">
                <a:tc>
                  <a:txBody>
                    <a:bodyPr/>
                    <a:lstStyle/>
                    <a:p>
                      <a:pPr>
                        <a:buNone/>
                      </a:pPr>
                      <a:r>
                        <a:rPr lang="en-GB" sz="1600">
                          <a:solidFill>
                            <a:srgbClr val="0E2841"/>
                          </a:solidFill>
                        </a:rPr>
                        <a:t>T4</a:t>
                      </a:r>
                    </a:p>
                  </a:txBody>
                  <a:tcPr anchor="ctr"/>
                </a:tc>
                <a:tc>
                  <a:txBody>
                    <a:bodyPr/>
                    <a:lstStyle/>
                    <a:p>
                      <a:pPr>
                        <a:buNone/>
                      </a:pPr>
                      <a:r>
                        <a:rPr lang="en-GB" sz="1600" dirty="0">
                          <a:solidFill>
                            <a:srgbClr val="0E2841"/>
                          </a:solidFill>
                        </a:rPr>
                        <a:t>0.96</a:t>
                      </a:r>
                    </a:p>
                  </a:txBody>
                  <a:tcPr anchor="ctr">
                    <a:noFill/>
                  </a:tcPr>
                </a:tc>
                <a:tc>
                  <a:txBody>
                    <a:bodyPr/>
                    <a:lstStyle/>
                    <a:p>
                      <a:pPr>
                        <a:buNone/>
                      </a:pPr>
                      <a:r>
                        <a:rPr lang="en-GB" sz="1600">
                          <a:solidFill>
                            <a:srgbClr val="0E2841"/>
                          </a:solidFill>
                        </a:rPr>
                        <a:t>0.02</a:t>
                      </a:r>
                    </a:p>
                  </a:txBody>
                  <a:tcPr anchor="ctr"/>
                </a:tc>
                <a:tc>
                  <a:txBody>
                    <a:bodyPr/>
                    <a:lstStyle/>
                    <a:p>
                      <a:pPr>
                        <a:buNone/>
                      </a:pPr>
                      <a:r>
                        <a:rPr lang="en-GB" sz="1600" dirty="0">
                          <a:solidFill>
                            <a:srgbClr val="0E2841"/>
                          </a:solidFill>
                        </a:rPr>
                        <a:t>0.92</a:t>
                      </a:r>
                    </a:p>
                  </a:txBody>
                  <a:tcPr anchor="ctr"/>
                </a:tc>
                <a:tc>
                  <a:txBody>
                    <a:bodyPr/>
                    <a:lstStyle/>
                    <a:p>
                      <a:pPr>
                        <a:buNone/>
                      </a:pPr>
                      <a:r>
                        <a:rPr lang="en-GB" sz="1600" dirty="0">
                          <a:solidFill>
                            <a:srgbClr val="0E2841"/>
                          </a:solidFill>
                        </a:rPr>
                        <a:t>0.94</a:t>
                      </a:r>
                    </a:p>
                  </a:txBody>
                  <a:tcPr anchor="ctr"/>
                </a:tc>
                <a:extLst>
                  <a:ext uri="{0D108BD9-81ED-4DB2-BD59-A6C34878D82A}">
                    <a16:rowId xmlns:a16="http://schemas.microsoft.com/office/drawing/2014/main" val="3439853991"/>
                  </a:ext>
                </a:extLst>
              </a:tr>
              <a:tr h="323224">
                <a:tc>
                  <a:txBody>
                    <a:bodyPr/>
                    <a:lstStyle/>
                    <a:p>
                      <a:pPr>
                        <a:buNone/>
                      </a:pPr>
                      <a:r>
                        <a:rPr lang="en-GB" sz="1600" dirty="0">
                          <a:solidFill>
                            <a:srgbClr val="0E2841"/>
                          </a:solidFill>
                        </a:rPr>
                        <a:t>T5</a:t>
                      </a:r>
                    </a:p>
                  </a:txBody>
                  <a:tcPr anchor="ctr"/>
                </a:tc>
                <a:tc>
                  <a:txBody>
                    <a:bodyPr/>
                    <a:lstStyle/>
                    <a:p>
                      <a:pPr>
                        <a:buNone/>
                      </a:pPr>
                      <a:r>
                        <a:rPr lang="en-GB" sz="1600" dirty="0">
                          <a:solidFill>
                            <a:srgbClr val="0E2841"/>
                          </a:solidFill>
                        </a:rPr>
                        <a:t>1.00</a:t>
                      </a:r>
                    </a:p>
                  </a:txBody>
                  <a:tcPr anchor="ctr">
                    <a:noFill/>
                  </a:tcPr>
                </a:tc>
                <a:tc>
                  <a:txBody>
                    <a:bodyPr/>
                    <a:lstStyle/>
                    <a:p>
                      <a:pPr>
                        <a:buNone/>
                      </a:pPr>
                      <a:r>
                        <a:rPr lang="en-GB" sz="1600">
                          <a:solidFill>
                            <a:srgbClr val="0E2841"/>
                          </a:solidFill>
                        </a:rPr>
                        <a:t>0.02</a:t>
                      </a:r>
                    </a:p>
                  </a:txBody>
                  <a:tcPr anchor="ctr"/>
                </a:tc>
                <a:tc>
                  <a:txBody>
                    <a:bodyPr/>
                    <a:lstStyle/>
                    <a:p>
                      <a:pPr>
                        <a:buNone/>
                      </a:pPr>
                      <a:r>
                        <a:rPr lang="en-GB" sz="1600">
                          <a:solidFill>
                            <a:srgbClr val="0E2841"/>
                          </a:solidFill>
                        </a:rPr>
                        <a:t>0.92</a:t>
                      </a:r>
                    </a:p>
                  </a:txBody>
                  <a:tcPr anchor="ctr"/>
                </a:tc>
                <a:tc>
                  <a:txBody>
                    <a:bodyPr/>
                    <a:lstStyle/>
                    <a:p>
                      <a:pPr>
                        <a:buNone/>
                      </a:pPr>
                      <a:r>
                        <a:rPr lang="en-GB" sz="1600" dirty="0">
                          <a:solidFill>
                            <a:srgbClr val="0E2841"/>
                          </a:solidFill>
                        </a:rPr>
                        <a:t>0.96</a:t>
                      </a:r>
                    </a:p>
                  </a:txBody>
                  <a:tcPr anchor="ctr">
                    <a:solidFill>
                      <a:srgbClr val="C3DACA"/>
                    </a:solidFill>
                  </a:tcPr>
                </a:tc>
                <a:extLst>
                  <a:ext uri="{0D108BD9-81ED-4DB2-BD59-A6C34878D82A}">
                    <a16:rowId xmlns:a16="http://schemas.microsoft.com/office/drawing/2014/main" val="2564765375"/>
                  </a:ext>
                </a:extLst>
              </a:tr>
            </a:tbl>
          </a:graphicData>
        </a:graphic>
      </p:graphicFrame>
      <p:sp>
        <p:nvSpPr>
          <p:cNvPr id="5" name="Content Placeholder 5">
            <a:extLst>
              <a:ext uri="{FF2B5EF4-FFF2-40B4-BE49-F238E27FC236}">
                <a16:creationId xmlns:a16="http://schemas.microsoft.com/office/drawing/2014/main" id="{4C337144-DC22-EC52-BFE5-797E2240F428}"/>
              </a:ext>
            </a:extLst>
          </p:cNvPr>
          <p:cNvSpPr txBox="1">
            <a:spLocks/>
          </p:cNvSpPr>
          <p:nvPr/>
        </p:nvSpPr>
        <p:spPr>
          <a:xfrm>
            <a:off x="6228434" y="1222033"/>
            <a:ext cx="5537199" cy="2608098"/>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0" indent="0">
              <a:buNone/>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p:txBody>
      </p:sp>
      <p:sp>
        <p:nvSpPr>
          <p:cNvPr id="6" name="Rectangle: Rounded Corners 2">
            <a:extLst>
              <a:ext uri="{FF2B5EF4-FFF2-40B4-BE49-F238E27FC236}">
                <a16:creationId xmlns:a16="http://schemas.microsoft.com/office/drawing/2014/main" id="{9FFD1935-C704-66FE-4268-773F51511E03}"/>
              </a:ext>
            </a:extLst>
          </p:cNvPr>
          <p:cNvSpPr/>
          <p:nvPr/>
        </p:nvSpPr>
        <p:spPr>
          <a:xfrm>
            <a:off x="6360337" y="1088162"/>
            <a:ext cx="1960524" cy="299048"/>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rgbClr val="0E2841"/>
                </a:solidFill>
              </a:rPr>
              <a:t>DST Results Error</a:t>
            </a:r>
            <a:endParaRPr lang="en-US" dirty="0">
              <a:solidFill>
                <a:srgbClr val="0E2841"/>
              </a:solidFill>
            </a:endParaRPr>
          </a:p>
        </p:txBody>
      </p:sp>
      <p:graphicFrame>
        <p:nvGraphicFramePr>
          <p:cNvPr id="7" name="Table 6">
            <a:extLst>
              <a:ext uri="{FF2B5EF4-FFF2-40B4-BE49-F238E27FC236}">
                <a16:creationId xmlns:a16="http://schemas.microsoft.com/office/drawing/2014/main" id="{C30AAE73-A85B-AB7B-8023-0C21FC648118}"/>
              </a:ext>
            </a:extLst>
          </p:cNvPr>
          <p:cNvGraphicFramePr>
            <a:graphicFrameLocks noGrp="1"/>
          </p:cNvGraphicFramePr>
          <p:nvPr>
            <p:extLst>
              <p:ext uri="{D42A27DB-BD31-4B8C-83A1-F6EECF244321}">
                <p14:modId xmlns:p14="http://schemas.microsoft.com/office/powerpoint/2010/main" val="3844213624"/>
              </p:ext>
            </p:extLst>
          </p:nvPr>
        </p:nvGraphicFramePr>
        <p:xfrm>
          <a:off x="6299200" y="1440495"/>
          <a:ext cx="5394960" cy="2346960"/>
        </p:xfrm>
        <a:graphic>
          <a:graphicData uri="http://schemas.openxmlformats.org/drawingml/2006/table">
            <a:tbl>
              <a:tblPr>
                <a:tableStyleId>{2D5ABB26-0587-4C30-8999-92F81FD0307C}</a:tableStyleId>
              </a:tblPr>
              <a:tblGrid>
                <a:gridCol w="1078992">
                  <a:extLst>
                    <a:ext uri="{9D8B030D-6E8A-4147-A177-3AD203B41FA5}">
                      <a16:colId xmlns:a16="http://schemas.microsoft.com/office/drawing/2014/main" val="3525841787"/>
                    </a:ext>
                  </a:extLst>
                </a:gridCol>
                <a:gridCol w="1078992">
                  <a:extLst>
                    <a:ext uri="{9D8B030D-6E8A-4147-A177-3AD203B41FA5}">
                      <a16:colId xmlns:a16="http://schemas.microsoft.com/office/drawing/2014/main" val="110288692"/>
                    </a:ext>
                  </a:extLst>
                </a:gridCol>
                <a:gridCol w="1078992">
                  <a:extLst>
                    <a:ext uri="{9D8B030D-6E8A-4147-A177-3AD203B41FA5}">
                      <a16:colId xmlns:a16="http://schemas.microsoft.com/office/drawing/2014/main" val="3987337909"/>
                    </a:ext>
                  </a:extLst>
                </a:gridCol>
                <a:gridCol w="1078992">
                  <a:extLst>
                    <a:ext uri="{9D8B030D-6E8A-4147-A177-3AD203B41FA5}">
                      <a16:colId xmlns:a16="http://schemas.microsoft.com/office/drawing/2014/main" val="2427606108"/>
                    </a:ext>
                  </a:extLst>
                </a:gridCol>
                <a:gridCol w="1078992">
                  <a:extLst>
                    <a:ext uri="{9D8B030D-6E8A-4147-A177-3AD203B41FA5}">
                      <a16:colId xmlns:a16="http://schemas.microsoft.com/office/drawing/2014/main" val="3905634177"/>
                    </a:ext>
                  </a:extLst>
                </a:gridCol>
              </a:tblGrid>
              <a:tr h="335280">
                <a:tc gridSpan="5">
                  <a:txBody>
                    <a:bodyPr/>
                    <a:lstStyle/>
                    <a:p>
                      <a:pPr algn="ctr">
                        <a:buNone/>
                      </a:pPr>
                      <a:r>
                        <a:rPr lang="en-GB" sz="1600" dirty="0">
                          <a:solidFill>
                            <a:srgbClr val="0E2841"/>
                          </a:solidFill>
                        </a:rPr>
                        <a:t>Accuracy = 0.95</a:t>
                      </a:r>
                    </a:p>
                  </a:txBody>
                  <a:tcPr anchor="ctr">
                    <a:solidFill>
                      <a:srgbClr val="C3DACA"/>
                    </a:solidFill>
                  </a:tcPr>
                </a:tc>
                <a:tc hMerge="1">
                  <a:txBody>
                    <a:bodyPr/>
                    <a:lstStyle/>
                    <a:p>
                      <a:endParaRPr dirty="0"/>
                    </a:p>
                  </a:txBody>
                  <a:tcPr anchor="ctr">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47266419"/>
                  </a:ext>
                </a:extLst>
              </a:tr>
              <a:tr h="335280">
                <a:tc>
                  <a:txBody>
                    <a:bodyPr/>
                    <a:lstStyle/>
                    <a:p>
                      <a:pPr>
                        <a:buNone/>
                      </a:pPr>
                      <a:r>
                        <a:rPr lang="en-GB" sz="1600" dirty="0">
                          <a:solidFill>
                            <a:srgbClr val="0E2841"/>
                          </a:solidFill>
                        </a:rPr>
                        <a:t>Activity</a:t>
                      </a:r>
                    </a:p>
                  </a:txBody>
                  <a:tcPr anchor="ctr"/>
                </a:tc>
                <a:tc>
                  <a:txBody>
                    <a:bodyPr/>
                    <a:lstStyle/>
                    <a:p>
                      <a:pPr>
                        <a:buNone/>
                      </a:pPr>
                      <a:r>
                        <a:rPr lang="en-GB" sz="1600" dirty="0">
                          <a:solidFill>
                            <a:srgbClr val="0E2841"/>
                          </a:solidFill>
                        </a:rPr>
                        <a:t>Recall </a:t>
                      </a:r>
                    </a:p>
                  </a:txBody>
                  <a:tcPr anchor="ctr"/>
                </a:tc>
                <a:tc>
                  <a:txBody>
                    <a:bodyPr/>
                    <a:lstStyle/>
                    <a:p>
                      <a:pPr>
                        <a:buNone/>
                      </a:pPr>
                      <a:r>
                        <a:rPr lang="en-GB" sz="1600" dirty="0">
                          <a:solidFill>
                            <a:srgbClr val="0E2841"/>
                          </a:solidFill>
                        </a:rPr>
                        <a:t>FPR</a:t>
                      </a:r>
                    </a:p>
                  </a:txBody>
                  <a:tcPr anchor="ctr"/>
                </a:tc>
                <a:tc>
                  <a:txBody>
                    <a:bodyPr/>
                    <a:lstStyle/>
                    <a:p>
                      <a:pPr>
                        <a:buNone/>
                      </a:pPr>
                      <a:r>
                        <a:rPr lang="en-GB" sz="1600" dirty="0">
                          <a:solidFill>
                            <a:srgbClr val="0E2841"/>
                          </a:solidFill>
                        </a:rPr>
                        <a:t>Precision</a:t>
                      </a:r>
                    </a:p>
                  </a:txBody>
                  <a:tcPr anchor="ctr"/>
                </a:tc>
                <a:tc>
                  <a:txBody>
                    <a:bodyPr/>
                    <a:lstStyle/>
                    <a:p>
                      <a:pPr>
                        <a:buNone/>
                      </a:pPr>
                      <a:r>
                        <a:rPr lang="en-GB" sz="1600" dirty="0">
                          <a:solidFill>
                            <a:srgbClr val="0E2841"/>
                          </a:solidFill>
                        </a:rPr>
                        <a:t>F1</a:t>
                      </a:r>
                    </a:p>
                  </a:txBody>
                  <a:tcPr anchor="ctr"/>
                </a:tc>
                <a:extLst>
                  <a:ext uri="{0D108BD9-81ED-4DB2-BD59-A6C34878D82A}">
                    <a16:rowId xmlns:a16="http://schemas.microsoft.com/office/drawing/2014/main" val="3199986823"/>
                  </a:ext>
                </a:extLst>
              </a:tr>
              <a:tr h="335280">
                <a:tc>
                  <a:txBody>
                    <a:bodyPr/>
                    <a:lstStyle/>
                    <a:p>
                      <a:pPr>
                        <a:buNone/>
                      </a:pPr>
                      <a:r>
                        <a:rPr lang="en-GB" sz="1600" dirty="0">
                          <a:solidFill>
                            <a:srgbClr val="0E2841"/>
                          </a:solidFill>
                        </a:rPr>
                        <a:t>T1</a:t>
                      </a:r>
                    </a:p>
                  </a:txBody>
                  <a:tcPr anchor="ctr"/>
                </a:tc>
                <a:tc>
                  <a:txBody>
                    <a:bodyPr/>
                    <a:lstStyle/>
                    <a:p>
                      <a:pPr>
                        <a:buNone/>
                      </a:pPr>
                      <a:r>
                        <a:rPr lang="en-GB" sz="1600" dirty="0">
                          <a:solidFill>
                            <a:srgbClr val="0E2841"/>
                          </a:solidFill>
                        </a:rPr>
                        <a:t>1.00</a:t>
                      </a:r>
                    </a:p>
                  </a:txBody>
                  <a:tcPr anchor="ctr">
                    <a:noFill/>
                  </a:tcPr>
                </a:tc>
                <a:tc>
                  <a:txBody>
                    <a:bodyPr/>
                    <a:lstStyle/>
                    <a:p>
                      <a:pPr>
                        <a:buNone/>
                      </a:pPr>
                      <a:r>
                        <a:rPr lang="en-GB" sz="1600" dirty="0">
                          <a:solidFill>
                            <a:srgbClr val="0E2841"/>
                          </a:solidFill>
                        </a:rPr>
                        <a:t>0.00</a:t>
                      </a:r>
                    </a:p>
                  </a:txBody>
                  <a:tcPr anchor="ctr"/>
                </a:tc>
                <a:tc>
                  <a:txBody>
                    <a:bodyPr/>
                    <a:lstStyle/>
                    <a:p>
                      <a:pPr>
                        <a:buNone/>
                      </a:pPr>
                      <a:r>
                        <a:rPr lang="en-GB" sz="1600">
                          <a:solidFill>
                            <a:srgbClr val="0E2841"/>
                          </a:solidFill>
                        </a:rPr>
                        <a:t>1.00</a:t>
                      </a:r>
                    </a:p>
                  </a:txBody>
                  <a:tcPr anchor="ctr"/>
                </a:tc>
                <a:tc>
                  <a:txBody>
                    <a:bodyPr/>
                    <a:lstStyle/>
                    <a:p>
                      <a:pPr>
                        <a:buNone/>
                      </a:pPr>
                      <a:r>
                        <a:rPr lang="en-GB" sz="1600" dirty="0">
                          <a:solidFill>
                            <a:srgbClr val="0E2841"/>
                          </a:solidFill>
                        </a:rPr>
                        <a:t>1.00</a:t>
                      </a:r>
                    </a:p>
                  </a:txBody>
                  <a:tcPr anchor="ctr">
                    <a:solidFill>
                      <a:srgbClr val="C3DACA"/>
                    </a:solidFill>
                  </a:tcPr>
                </a:tc>
                <a:extLst>
                  <a:ext uri="{0D108BD9-81ED-4DB2-BD59-A6C34878D82A}">
                    <a16:rowId xmlns:a16="http://schemas.microsoft.com/office/drawing/2014/main" val="1592917607"/>
                  </a:ext>
                </a:extLst>
              </a:tr>
              <a:tr h="335280">
                <a:tc>
                  <a:txBody>
                    <a:bodyPr/>
                    <a:lstStyle/>
                    <a:p>
                      <a:pPr>
                        <a:buNone/>
                      </a:pPr>
                      <a:r>
                        <a:rPr lang="en-GB" sz="1600">
                          <a:solidFill>
                            <a:srgbClr val="0E2841"/>
                          </a:solidFill>
                        </a:rPr>
                        <a:t>T2</a:t>
                      </a:r>
                    </a:p>
                  </a:txBody>
                  <a:tcPr anchor="ctr"/>
                </a:tc>
                <a:tc>
                  <a:txBody>
                    <a:bodyPr/>
                    <a:lstStyle/>
                    <a:p>
                      <a:pPr>
                        <a:buNone/>
                      </a:pPr>
                      <a:r>
                        <a:rPr lang="en-GB" sz="1600">
                          <a:solidFill>
                            <a:srgbClr val="0E2841"/>
                          </a:solidFill>
                        </a:rPr>
                        <a:t>0.90</a:t>
                      </a:r>
                    </a:p>
                  </a:txBody>
                  <a:tcPr anchor="ctr">
                    <a:noFill/>
                  </a:tcPr>
                </a:tc>
                <a:tc>
                  <a:txBody>
                    <a:bodyPr/>
                    <a:lstStyle/>
                    <a:p>
                      <a:pPr>
                        <a:buNone/>
                      </a:pPr>
                      <a:r>
                        <a:rPr lang="en-GB" sz="1600" dirty="0">
                          <a:solidFill>
                            <a:srgbClr val="0E2841"/>
                          </a:solidFill>
                        </a:rPr>
                        <a:t>0.00</a:t>
                      </a:r>
                    </a:p>
                  </a:txBody>
                  <a:tcPr anchor="ctr"/>
                </a:tc>
                <a:tc>
                  <a:txBody>
                    <a:bodyPr/>
                    <a:lstStyle/>
                    <a:p>
                      <a:pPr>
                        <a:buNone/>
                      </a:pPr>
                      <a:r>
                        <a:rPr lang="en-GB" sz="1600">
                          <a:solidFill>
                            <a:srgbClr val="0E2841"/>
                          </a:solidFill>
                        </a:rPr>
                        <a:t>1.00</a:t>
                      </a:r>
                    </a:p>
                  </a:txBody>
                  <a:tcPr anchor="ctr"/>
                </a:tc>
                <a:tc>
                  <a:txBody>
                    <a:bodyPr/>
                    <a:lstStyle/>
                    <a:p>
                      <a:pPr>
                        <a:buNone/>
                      </a:pPr>
                      <a:r>
                        <a:rPr lang="en-GB" sz="1600" dirty="0">
                          <a:solidFill>
                            <a:srgbClr val="0E2841"/>
                          </a:solidFill>
                        </a:rPr>
                        <a:t>0.95</a:t>
                      </a:r>
                    </a:p>
                  </a:txBody>
                  <a:tcPr anchor="ctr">
                    <a:solidFill>
                      <a:srgbClr val="C3DACA"/>
                    </a:solidFill>
                  </a:tcPr>
                </a:tc>
                <a:extLst>
                  <a:ext uri="{0D108BD9-81ED-4DB2-BD59-A6C34878D82A}">
                    <a16:rowId xmlns:a16="http://schemas.microsoft.com/office/drawing/2014/main" val="3252539453"/>
                  </a:ext>
                </a:extLst>
              </a:tr>
              <a:tr h="335280">
                <a:tc>
                  <a:txBody>
                    <a:bodyPr/>
                    <a:lstStyle/>
                    <a:p>
                      <a:pPr>
                        <a:buNone/>
                      </a:pPr>
                      <a:r>
                        <a:rPr lang="en-GB" sz="1600">
                          <a:solidFill>
                            <a:srgbClr val="0E2841"/>
                          </a:solidFill>
                        </a:rPr>
                        <a:t>T3</a:t>
                      </a:r>
                    </a:p>
                  </a:txBody>
                  <a:tcPr anchor="ctr"/>
                </a:tc>
                <a:tc>
                  <a:txBody>
                    <a:bodyPr/>
                    <a:lstStyle/>
                    <a:p>
                      <a:pPr>
                        <a:buNone/>
                      </a:pPr>
                      <a:r>
                        <a:rPr lang="en-GB" sz="1600" dirty="0">
                          <a:solidFill>
                            <a:srgbClr val="0E2841"/>
                          </a:solidFill>
                        </a:rPr>
                        <a:t>1.00</a:t>
                      </a:r>
                    </a:p>
                  </a:txBody>
                  <a:tcPr anchor="ctr">
                    <a:noFill/>
                  </a:tcPr>
                </a:tc>
                <a:tc>
                  <a:txBody>
                    <a:bodyPr/>
                    <a:lstStyle/>
                    <a:p>
                      <a:pPr>
                        <a:buNone/>
                      </a:pPr>
                      <a:r>
                        <a:rPr lang="en-GB" sz="1600">
                          <a:solidFill>
                            <a:srgbClr val="0E2841"/>
                          </a:solidFill>
                        </a:rPr>
                        <a:t>0.01</a:t>
                      </a:r>
                    </a:p>
                  </a:txBody>
                  <a:tcPr anchor="ctr"/>
                </a:tc>
                <a:tc>
                  <a:txBody>
                    <a:bodyPr/>
                    <a:lstStyle/>
                    <a:p>
                      <a:pPr>
                        <a:buNone/>
                      </a:pPr>
                      <a:r>
                        <a:rPr lang="en-GB" sz="1600" dirty="0">
                          <a:solidFill>
                            <a:srgbClr val="0E2841"/>
                          </a:solidFill>
                        </a:rPr>
                        <a:t>0.95</a:t>
                      </a:r>
                    </a:p>
                  </a:txBody>
                  <a:tcPr anchor="ctr"/>
                </a:tc>
                <a:tc>
                  <a:txBody>
                    <a:bodyPr/>
                    <a:lstStyle/>
                    <a:p>
                      <a:pPr>
                        <a:buNone/>
                      </a:pPr>
                      <a:r>
                        <a:rPr lang="en-GB" sz="1600" dirty="0">
                          <a:solidFill>
                            <a:srgbClr val="0E2841"/>
                          </a:solidFill>
                        </a:rPr>
                        <a:t>0.98</a:t>
                      </a:r>
                    </a:p>
                  </a:txBody>
                  <a:tcPr anchor="ctr"/>
                </a:tc>
                <a:extLst>
                  <a:ext uri="{0D108BD9-81ED-4DB2-BD59-A6C34878D82A}">
                    <a16:rowId xmlns:a16="http://schemas.microsoft.com/office/drawing/2014/main" val="3791622936"/>
                  </a:ext>
                </a:extLst>
              </a:tr>
              <a:tr h="335280">
                <a:tc>
                  <a:txBody>
                    <a:bodyPr/>
                    <a:lstStyle/>
                    <a:p>
                      <a:pPr>
                        <a:buNone/>
                      </a:pPr>
                      <a:r>
                        <a:rPr lang="en-GB" sz="1600" dirty="0">
                          <a:solidFill>
                            <a:srgbClr val="0E2841"/>
                          </a:solidFill>
                        </a:rPr>
                        <a:t>T4</a:t>
                      </a:r>
                    </a:p>
                  </a:txBody>
                  <a:tcPr anchor="ctr"/>
                </a:tc>
                <a:tc>
                  <a:txBody>
                    <a:bodyPr/>
                    <a:lstStyle/>
                    <a:p>
                      <a:pPr>
                        <a:buNone/>
                      </a:pPr>
                      <a:r>
                        <a:rPr lang="en-GB" sz="1600" dirty="0">
                          <a:solidFill>
                            <a:srgbClr val="0E2841"/>
                          </a:solidFill>
                        </a:rPr>
                        <a:t>0.95</a:t>
                      </a:r>
                    </a:p>
                  </a:txBody>
                  <a:tcPr anchor="ctr">
                    <a:noFill/>
                  </a:tcPr>
                </a:tc>
                <a:tc>
                  <a:txBody>
                    <a:bodyPr/>
                    <a:lstStyle/>
                    <a:p>
                      <a:pPr>
                        <a:buNone/>
                      </a:pPr>
                      <a:r>
                        <a:rPr lang="en-GB" sz="1600">
                          <a:solidFill>
                            <a:srgbClr val="0E2841"/>
                          </a:solidFill>
                        </a:rPr>
                        <a:t>0.05</a:t>
                      </a:r>
                    </a:p>
                  </a:txBody>
                  <a:tcPr anchor="ctr"/>
                </a:tc>
                <a:tc>
                  <a:txBody>
                    <a:bodyPr/>
                    <a:lstStyle/>
                    <a:p>
                      <a:pPr>
                        <a:buNone/>
                      </a:pPr>
                      <a:r>
                        <a:rPr lang="en-GB" sz="1600" dirty="0">
                          <a:solidFill>
                            <a:srgbClr val="0E2841"/>
                          </a:solidFill>
                        </a:rPr>
                        <a:t>0.83</a:t>
                      </a:r>
                    </a:p>
                  </a:txBody>
                  <a:tcPr anchor="ctr"/>
                </a:tc>
                <a:tc>
                  <a:txBody>
                    <a:bodyPr/>
                    <a:lstStyle/>
                    <a:p>
                      <a:pPr>
                        <a:buNone/>
                      </a:pPr>
                      <a:r>
                        <a:rPr lang="en-GB" sz="1600" dirty="0">
                          <a:solidFill>
                            <a:srgbClr val="0E2841"/>
                          </a:solidFill>
                        </a:rPr>
                        <a:t>0.88</a:t>
                      </a:r>
                    </a:p>
                  </a:txBody>
                  <a:tcPr anchor="ctr"/>
                </a:tc>
                <a:extLst>
                  <a:ext uri="{0D108BD9-81ED-4DB2-BD59-A6C34878D82A}">
                    <a16:rowId xmlns:a16="http://schemas.microsoft.com/office/drawing/2014/main" val="2946892898"/>
                  </a:ext>
                </a:extLst>
              </a:tr>
              <a:tr h="335280">
                <a:tc>
                  <a:txBody>
                    <a:bodyPr/>
                    <a:lstStyle/>
                    <a:p>
                      <a:pPr>
                        <a:buNone/>
                      </a:pPr>
                      <a:r>
                        <a:rPr lang="en-GB" sz="1600" dirty="0">
                          <a:solidFill>
                            <a:srgbClr val="0E2841"/>
                          </a:solidFill>
                        </a:rPr>
                        <a:t>T5</a:t>
                      </a:r>
                    </a:p>
                  </a:txBody>
                  <a:tcPr anchor="ctr"/>
                </a:tc>
                <a:tc>
                  <a:txBody>
                    <a:bodyPr/>
                    <a:lstStyle/>
                    <a:p>
                      <a:pPr>
                        <a:buNone/>
                      </a:pPr>
                      <a:r>
                        <a:rPr lang="en-GB" sz="1600" dirty="0">
                          <a:solidFill>
                            <a:srgbClr val="0E2841"/>
                          </a:solidFill>
                        </a:rPr>
                        <a:t>0.90</a:t>
                      </a:r>
                    </a:p>
                  </a:txBody>
                  <a:tcPr anchor="ctr">
                    <a:noFill/>
                  </a:tcPr>
                </a:tc>
                <a:tc>
                  <a:txBody>
                    <a:bodyPr/>
                    <a:lstStyle/>
                    <a:p>
                      <a:pPr>
                        <a:buNone/>
                      </a:pPr>
                      <a:r>
                        <a:rPr lang="en-GB" sz="1600">
                          <a:solidFill>
                            <a:srgbClr val="0E2841"/>
                          </a:solidFill>
                        </a:rPr>
                        <a:t>0.00</a:t>
                      </a:r>
                    </a:p>
                  </a:txBody>
                  <a:tcPr anchor="ctr"/>
                </a:tc>
                <a:tc>
                  <a:txBody>
                    <a:bodyPr/>
                    <a:lstStyle/>
                    <a:p>
                      <a:pPr>
                        <a:buNone/>
                      </a:pPr>
                      <a:r>
                        <a:rPr lang="en-GB" sz="1600">
                          <a:solidFill>
                            <a:srgbClr val="0E2841"/>
                          </a:solidFill>
                        </a:rPr>
                        <a:t>1.00</a:t>
                      </a:r>
                    </a:p>
                  </a:txBody>
                  <a:tcPr anchor="ctr"/>
                </a:tc>
                <a:tc>
                  <a:txBody>
                    <a:bodyPr/>
                    <a:lstStyle/>
                    <a:p>
                      <a:pPr>
                        <a:buNone/>
                      </a:pPr>
                      <a:r>
                        <a:rPr lang="en-GB" sz="1600" dirty="0">
                          <a:solidFill>
                            <a:srgbClr val="0E2841"/>
                          </a:solidFill>
                        </a:rPr>
                        <a:t>0.95</a:t>
                      </a:r>
                    </a:p>
                  </a:txBody>
                  <a:tcPr anchor="ctr">
                    <a:solidFill>
                      <a:srgbClr val="C3DACA"/>
                    </a:solidFill>
                  </a:tcPr>
                </a:tc>
                <a:extLst>
                  <a:ext uri="{0D108BD9-81ED-4DB2-BD59-A6C34878D82A}">
                    <a16:rowId xmlns:a16="http://schemas.microsoft.com/office/drawing/2014/main" val="2640338925"/>
                  </a:ext>
                </a:extLst>
              </a:tr>
            </a:tbl>
          </a:graphicData>
        </a:graphic>
      </p:graphicFrame>
      <p:sp>
        <p:nvSpPr>
          <p:cNvPr id="8" name="Content Placeholder 5">
            <a:extLst>
              <a:ext uri="{FF2B5EF4-FFF2-40B4-BE49-F238E27FC236}">
                <a16:creationId xmlns:a16="http://schemas.microsoft.com/office/drawing/2014/main" id="{C7BF05B6-F4ED-3F29-BECA-908C7A8CF46D}"/>
              </a:ext>
            </a:extLst>
          </p:cNvPr>
          <p:cNvSpPr txBox="1">
            <a:spLocks/>
          </p:cNvSpPr>
          <p:nvPr/>
        </p:nvSpPr>
        <p:spPr>
          <a:xfrm>
            <a:off x="558801" y="4049854"/>
            <a:ext cx="5537199" cy="2645588"/>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0" indent="0">
              <a:buNone/>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p:txBody>
      </p:sp>
      <p:sp>
        <p:nvSpPr>
          <p:cNvPr id="9" name="Rectangle: Rounded Corners 2">
            <a:extLst>
              <a:ext uri="{FF2B5EF4-FFF2-40B4-BE49-F238E27FC236}">
                <a16:creationId xmlns:a16="http://schemas.microsoft.com/office/drawing/2014/main" id="{D2BEF238-145D-5299-4EB5-CED44B6B94CF}"/>
              </a:ext>
            </a:extLst>
          </p:cNvPr>
          <p:cNvSpPr/>
          <p:nvPr/>
        </p:nvSpPr>
        <p:spPr>
          <a:xfrm>
            <a:off x="691236" y="3899578"/>
            <a:ext cx="2397389" cy="299048"/>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rgbClr val="0E2841"/>
                </a:solidFill>
              </a:rPr>
              <a:t>LSTM Results Normal</a:t>
            </a:r>
            <a:endParaRPr lang="en-US" dirty="0">
              <a:solidFill>
                <a:srgbClr val="0E2841"/>
              </a:solidFill>
            </a:endParaRPr>
          </a:p>
        </p:txBody>
      </p:sp>
      <p:sp>
        <p:nvSpPr>
          <p:cNvPr id="10" name="Content Placeholder 5">
            <a:extLst>
              <a:ext uri="{FF2B5EF4-FFF2-40B4-BE49-F238E27FC236}">
                <a16:creationId xmlns:a16="http://schemas.microsoft.com/office/drawing/2014/main" id="{27B00637-AC52-2950-3942-AF38BCB5DB6C}"/>
              </a:ext>
            </a:extLst>
          </p:cNvPr>
          <p:cNvSpPr txBox="1">
            <a:spLocks/>
          </p:cNvSpPr>
          <p:nvPr/>
        </p:nvSpPr>
        <p:spPr>
          <a:xfrm>
            <a:off x="6228434" y="4037885"/>
            <a:ext cx="5537199" cy="2657557"/>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0" indent="0">
              <a:buNone/>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p:txBody>
      </p:sp>
      <p:sp>
        <p:nvSpPr>
          <p:cNvPr id="13" name="Rectangle: Rounded Corners 2">
            <a:extLst>
              <a:ext uri="{FF2B5EF4-FFF2-40B4-BE49-F238E27FC236}">
                <a16:creationId xmlns:a16="http://schemas.microsoft.com/office/drawing/2014/main" id="{232E25F7-A25B-8235-0A7F-01DA4E68F51B}"/>
              </a:ext>
            </a:extLst>
          </p:cNvPr>
          <p:cNvSpPr/>
          <p:nvPr/>
        </p:nvSpPr>
        <p:spPr>
          <a:xfrm>
            <a:off x="6360337" y="3899578"/>
            <a:ext cx="2082801" cy="299048"/>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rgbClr val="0E2841"/>
                </a:solidFill>
              </a:rPr>
              <a:t>LSTM Results Error</a:t>
            </a:r>
            <a:endParaRPr lang="en-US" dirty="0">
              <a:solidFill>
                <a:srgbClr val="0E2841"/>
              </a:solidFill>
            </a:endParaRPr>
          </a:p>
        </p:txBody>
      </p:sp>
      <p:graphicFrame>
        <p:nvGraphicFramePr>
          <p:cNvPr id="15" name="Table 14">
            <a:extLst>
              <a:ext uri="{FF2B5EF4-FFF2-40B4-BE49-F238E27FC236}">
                <a16:creationId xmlns:a16="http://schemas.microsoft.com/office/drawing/2014/main" id="{8A196A91-344A-DF3E-0ABD-9777FC3DAA9B}"/>
              </a:ext>
            </a:extLst>
          </p:cNvPr>
          <p:cNvGraphicFramePr>
            <a:graphicFrameLocks noGrp="1"/>
          </p:cNvGraphicFramePr>
          <p:nvPr>
            <p:extLst>
              <p:ext uri="{D42A27DB-BD31-4B8C-83A1-F6EECF244321}">
                <p14:modId xmlns:p14="http://schemas.microsoft.com/office/powerpoint/2010/main" val="2275948046"/>
              </p:ext>
            </p:extLst>
          </p:nvPr>
        </p:nvGraphicFramePr>
        <p:xfrm>
          <a:off x="627557" y="4265581"/>
          <a:ext cx="5399685" cy="2429861"/>
        </p:xfrm>
        <a:graphic>
          <a:graphicData uri="http://schemas.openxmlformats.org/drawingml/2006/table">
            <a:tbl>
              <a:tblPr>
                <a:tableStyleId>{2D5ABB26-0587-4C30-8999-92F81FD0307C}</a:tableStyleId>
              </a:tblPr>
              <a:tblGrid>
                <a:gridCol w="1079937">
                  <a:extLst>
                    <a:ext uri="{9D8B030D-6E8A-4147-A177-3AD203B41FA5}">
                      <a16:colId xmlns:a16="http://schemas.microsoft.com/office/drawing/2014/main" val="16140635"/>
                    </a:ext>
                  </a:extLst>
                </a:gridCol>
                <a:gridCol w="1079937">
                  <a:extLst>
                    <a:ext uri="{9D8B030D-6E8A-4147-A177-3AD203B41FA5}">
                      <a16:colId xmlns:a16="http://schemas.microsoft.com/office/drawing/2014/main" val="3006464421"/>
                    </a:ext>
                  </a:extLst>
                </a:gridCol>
                <a:gridCol w="1079937">
                  <a:extLst>
                    <a:ext uri="{9D8B030D-6E8A-4147-A177-3AD203B41FA5}">
                      <a16:colId xmlns:a16="http://schemas.microsoft.com/office/drawing/2014/main" val="3867366120"/>
                    </a:ext>
                  </a:extLst>
                </a:gridCol>
                <a:gridCol w="1079937">
                  <a:extLst>
                    <a:ext uri="{9D8B030D-6E8A-4147-A177-3AD203B41FA5}">
                      <a16:colId xmlns:a16="http://schemas.microsoft.com/office/drawing/2014/main" val="2027439099"/>
                    </a:ext>
                  </a:extLst>
                </a:gridCol>
                <a:gridCol w="1079937">
                  <a:extLst>
                    <a:ext uri="{9D8B030D-6E8A-4147-A177-3AD203B41FA5}">
                      <a16:colId xmlns:a16="http://schemas.microsoft.com/office/drawing/2014/main" val="868037442"/>
                    </a:ext>
                  </a:extLst>
                </a:gridCol>
              </a:tblGrid>
              <a:tr h="347123">
                <a:tc gridSpan="5">
                  <a:txBody>
                    <a:bodyPr/>
                    <a:lstStyle/>
                    <a:p>
                      <a:pPr algn="ctr">
                        <a:buNone/>
                      </a:pPr>
                      <a:r>
                        <a:rPr lang="en-GB" sz="1600" dirty="0">
                          <a:solidFill>
                            <a:srgbClr val="0E2841"/>
                          </a:solidFill>
                        </a:rPr>
                        <a:t>Accuracy = 0.96</a:t>
                      </a:r>
                    </a:p>
                  </a:txBody>
                  <a:tcPr anchor="ctr">
                    <a:solidFill>
                      <a:srgbClr val="C3DACA"/>
                    </a:solidFill>
                  </a:tcPr>
                </a:tc>
                <a:tc hMerge="1">
                  <a:txBody>
                    <a:bodyPr/>
                    <a:lstStyle/>
                    <a:p>
                      <a:pPr>
                        <a:buNone/>
                      </a:pPr>
                      <a:endParaRPr lang="en-GB" sz="1600" dirty="0"/>
                    </a:p>
                  </a:txBody>
                  <a:tcPr anchor="ctr">
                    <a:lnL>
                      <a:noFill/>
                    </a:lnL>
                    <a:lnR>
                      <a:noFill/>
                    </a:lnR>
                    <a:lnT>
                      <a:noFill/>
                    </a:lnT>
                    <a:lnB>
                      <a:noFill/>
                    </a:lnB>
                    <a:noFill/>
                  </a:tcPr>
                </a:tc>
                <a:tc hMerge="1">
                  <a:txBody>
                    <a:bodyPr/>
                    <a:lstStyle/>
                    <a:p>
                      <a:pPr>
                        <a:buNone/>
                      </a:pPr>
                      <a:endParaRPr lang="en-GB" sz="1600" dirty="0"/>
                    </a:p>
                  </a:txBody>
                  <a:tcPr anchor="ctr">
                    <a:lnL>
                      <a:noFill/>
                    </a:lnL>
                    <a:lnR>
                      <a:noFill/>
                    </a:lnR>
                    <a:lnT>
                      <a:noFill/>
                    </a:lnT>
                    <a:lnB>
                      <a:noFill/>
                    </a:lnB>
                    <a:noFill/>
                  </a:tcPr>
                </a:tc>
                <a:tc hMerge="1">
                  <a:txBody>
                    <a:bodyPr/>
                    <a:lstStyle/>
                    <a:p>
                      <a:pPr>
                        <a:buNone/>
                      </a:pPr>
                      <a:endParaRPr lang="en-GB" sz="1600" dirty="0"/>
                    </a:p>
                  </a:txBody>
                  <a:tcPr anchor="ctr">
                    <a:lnL>
                      <a:noFill/>
                    </a:lnL>
                    <a:lnR>
                      <a:noFill/>
                    </a:lnR>
                    <a:lnT>
                      <a:noFill/>
                    </a:lnT>
                    <a:lnB>
                      <a:noFill/>
                    </a:lnB>
                    <a:noFill/>
                  </a:tcPr>
                </a:tc>
                <a:tc hMerge="1">
                  <a:txBody>
                    <a:bodyPr/>
                    <a:lstStyle/>
                    <a:p>
                      <a:pPr>
                        <a:buNone/>
                      </a:pPr>
                      <a:endParaRPr lang="en-GB" sz="1600" dirty="0"/>
                    </a:p>
                  </a:txBody>
                  <a:tcPr anchor="ctr">
                    <a:lnL>
                      <a:noFill/>
                    </a:lnL>
                    <a:lnR>
                      <a:noFill/>
                    </a:lnR>
                    <a:lnT>
                      <a:noFill/>
                    </a:lnT>
                    <a:lnB>
                      <a:noFill/>
                    </a:lnB>
                    <a:noFill/>
                  </a:tcPr>
                </a:tc>
                <a:extLst>
                  <a:ext uri="{0D108BD9-81ED-4DB2-BD59-A6C34878D82A}">
                    <a16:rowId xmlns:a16="http://schemas.microsoft.com/office/drawing/2014/main" val="4038668378"/>
                  </a:ext>
                </a:extLst>
              </a:tr>
              <a:tr h="347123">
                <a:tc>
                  <a:txBody>
                    <a:bodyPr/>
                    <a:lstStyle/>
                    <a:p>
                      <a:pPr>
                        <a:buNone/>
                      </a:pPr>
                      <a:r>
                        <a:rPr lang="en-GB" sz="1600" dirty="0">
                          <a:solidFill>
                            <a:srgbClr val="0E2841"/>
                          </a:solidFill>
                        </a:rPr>
                        <a:t>Activity</a:t>
                      </a:r>
                    </a:p>
                  </a:txBody>
                  <a:tcPr anchor="ctr"/>
                </a:tc>
                <a:tc>
                  <a:txBody>
                    <a:bodyPr/>
                    <a:lstStyle/>
                    <a:p>
                      <a:pPr>
                        <a:buNone/>
                      </a:pPr>
                      <a:r>
                        <a:rPr lang="en-GB" sz="1600" dirty="0">
                          <a:solidFill>
                            <a:srgbClr val="0E2841"/>
                          </a:solidFill>
                        </a:rPr>
                        <a:t>Recall</a:t>
                      </a:r>
                    </a:p>
                  </a:txBody>
                  <a:tcPr anchor="ctr"/>
                </a:tc>
                <a:tc>
                  <a:txBody>
                    <a:bodyPr/>
                    <a:lstStyle/>
                    <a:p>
                      <a:pPr>
                        <a:buNone/>
                      </a:pPr>
                      <a:r>
                        <a:rPr lang="en-GB" sz="1600" dirty="0">
                          <a:solidFill>
                            <a:srgbClr val="0E2841"/>
                          </a:solidFill>
                        </a:rPr>
                        <a:t>FPR</a:t>
                      </a:r>
                    </a:p>
                  </a:txBody>
                  <a:tcPr anchor="ctr"/>
                </a:tc>
                <a:tc>
                  <a:txBody>
                    <a:bodyPr/>
                    <a:lstStyle/>
                    <a:p>
                      <a:pPr>
                        <a:buNone/>
                      </a:pPr>
                      <a:r>
                        <a:rPr lang="en-GB" sz="1600" dirty="0">
                          <a:solidFill>
                            <a:srgbClr val="0E2841"/>
                          </a:solidFill>
                        </a:rPr>
                        <a:t>Precision</a:t>
                      </a:r>
                    </a:p>
                  </a:txBody>
                  <a:tcPr anchor="ctr"/>
                </a:tc>
                <a:tc>
                  <a:txBody>
                    <a:bodyPr/>
                    <a:lstStyle/>
                    <a:p>
                      <a:pPr>
                        <a:buNone/>
                      </a:pPr>
                      <a:r>
                        <a:rPr lang="en-GB" sz="1600" dirty="0">
                          <a:solidFill>
                            <a:srgbClr val="0E2841"/>
                          </a:solidFill>
                        </a:rPr>
                        <a:t>F1</a:t>
                      </a:r>
                    </a:p>
                  </a:txBody>
                  <a:tcPr anchor="ctr"/>
                </a:tc>
                <a:extLst>
                  <a:ext uri="{0D108BD9-81ED-4DB2-BD59-A6C34878D82A}">
                    <a16:rowId xmlns:a16="http://schemas.microsoft.com/office/drawing/2014/main" val="4221682154"/>
                  </a:ext>
                </a:extLst>
              </a:tr>
              <a:tr h="347123">
                <a:tc>
                  <a:txBody>
                    <a:bodyPr/>
                    <a:lstStyle/>
                    <a:p>
                      <a:pPr>
                        <a:buNone/>
                      </a:pPr>
                      <a:r>
                        <a:rPr lang="en-GB" sz="1600">
                          <a:solidFill>
                            <a:srgbClr val="0E2841"/>
                          </a:solidFill>
                        </a:rPr>
                        <a:t>T1</a:t>
                      </a:r>
                    </a:p>
                  </a:txBody>
                  <a:tcPr anchor="ctr"/>
                </a:tc>
                <a:tc>
                  <a:txBody>
                    <a:bodyPr/>
                    <a:lstStyle/>
                    <a:p>
                      <a:pPr>
                        <a:buNone/>
                      </a:pPr>
                      <a:r>
                        <a:rPr lang="en-GB" sz="1600" dirty="0">
                          <a:solidFill>
                            <a:srgbClr val="0E2841"/>
                          </a:solidFill>
                        </a:rPr>
                        <a:t>1.00</a:t>
                      </a:r>
                    </a:p>
                  </a:txBody>
                  <a:tcPr anchor="ctr">
                    <a:noFill/>
                  </a:tcPr>
                </a:tc>
                <a:tc>
                  <a:txBody>
                    <a:bodyPr/>
                    <a:lstStyle/>
                    <a:p>
                      <a:pPr>
                        <a:buNone/>
                      </a:pPr>
                      <a:r>
                        <a:rPr lang="en-GB" sz="1600">
                          <a:solidFill>
                            <a:srgbClr val="0E2841"/>
                          </a:solidFill>
                        </a:rPr>
                        <a:t>0.01</a:t>
                      </a:r>
                    </a:p>
                  </a:txBody>
                  <a:tcPr anchor="ctr"/>
                </a:tc>
                <a:tc>
                  <a:txBody>
                    <a:bodyPr/>
                    <a:lstStyle/>
                    <a:p>
                      <a:pPr>
                        <a:buNone/>
                      </a:pPr>
                      <a:r>
                        <a:rPr lang="en-GB" sz="1600">
                          <a:solidFill>
                            <a:srgbClr val="0E2841"/>
                          </a:solidFill>
                        </a:rPr>
                        <a:t>0.96</a:t>
                      </a:r>
                    </a:p>
                  </a:txBody>
                  <a:tcPr anchor="ctr"/>
                </a:tc>
                <a:tc>
                  <a:txBody>
                    <a:bodyPr/>
                    <a:lstStyle/>
                    <a:p>
                      <a:pPr>
                        <a:buNone/>
                      </a:pPr>
                      <a:r>
                        <a:rPr lang="en-GB" sz="1600" dirty="0">
                          <a:solidFill>
                            <a:srgbClr val="0E2841"/>
                          </a:solidFill>
                        </a:rPr>
                        <a:t>0.98</a:t>
                      </a:r>
                    </a:p>
                  </a:txBody>
                  <a:tcPr anchor="ctr"/>
                </a:tc>
                <a:extLst>
                  <a:ext uri="{0D108BD9-81ED-4DB2-BD59-A6C34878D82A}">
                    <a16:rowId xmlns:a16="http://schemas.microsoft.com/office/drawing/2014/main" val="3852831085"/>
                  </a:ext>
                </a:extLst>
              </a:tr>
              <a:tr h="347123">
                <a:tc>
                  <a:txBody>
                    <a:bodyPr/>
                    <a:lstStyle/>
                    <a:p>
                      <a:pPr>
                        <a:buNone/>
                      </a:pPr>
                      <a:r>
                        <a:rPr lang="en-GB" sz="1600">
                          <a:solidFill>
                            <a:srgbClr val="0E2841"/>
                          </a:solidFill>
                        </a:rPr>
                        <a:t>T2</a:t>
                      </a:r>
                    </a:p>
                  </a:txBody>
                  <a:tcPr anchor="ctr"/>
                </a:tc>
                <a:tc>
                  <a:txBody>
                    <a:bodyPr/>
                    <a:lstStyle/>
                    <a:p>
                      <a:pPr>
                        <a:buNone/>
                      </a:pPr>
                      <a:r>
                        <a:rPr lang="en-GB" sz="1600" dirty="0">
                          <a:solidFill>
                            <a:srgbClr val="0E2841"/>
                          </a:solidFill>
                        </a:rPr>
                        <a:t>0.92</a:t>
                      </a:r>
                    </a:p>
                  </a:txBody>
                  <a:tcPr anchor="ctr">
                    <a:noFill/>
                  </a:tcPr>
                </a:tc>
                <a:tc>
                  <a:txBody>
                    <a:bodyPr/>
                    <a:lstStyle/>
                    <a:p>
                      <a:pPr>
                        <a:buNone/>
                      </a:pPr>
                      <a:r>
                        <a:rPr lang="en-GB" sz="1600" dirty="0">
                          <a:solidFill>
                            <a:srgbClr val="0E2841"/>
                          </a:solidFill>
                        </a:rPr>
                        <a:t>0.00</a:t>
                      </a:r>
                    </a:p>
                  </a:txBody>
                  <a:tcPr anchor="ctr"/>
                </a:tc>
                <a:tc>
                  <a:txBody>
                    <a:bodyPr/>
                    <a:lstStyle/>
                    <a:p>
                      <a:pPr>
                        <a:buNone/>
                      </a:pPr>
                      <a:r>
                        <a:rPr lang="en-GB" sz="1600">
                          <a:solidFill>
                            <a:srgbClr val="0E2841"/>
                          </a:solidFill>
                        </a:rPr>
                        <a:t>1.00</a:t>
                      </a:r>
                    </a:p>
                  </a:txBody>
                  <a:tcPr anchor="ctr"/>
                </a:tc>
                <a:tc>
                  <a:txBody>
                    <a:bodyPr/>
                    <a:lstStyle/>
                    <a:p>
                      <a:pPr>
                        <a:buNone/>
                      </a:pPr>
                      <a:r>
                        <a:rPr lang="en-GB" sz="1600" dirty="0">
                          <a:solidFill>
                            <a:srgbClr val="0E2841"/>
                          </a:solidFill>
                        </a:rPr>
                        <a:t>0.96</a:t>
                      </a:r>
                    </a:p>
                  </a:txBody>
                  <a:tcPr anchor="ctr">
                    <a:solidFill>
                      <a:srgbClr val="C3DACA"/>
                    </a:solidFill>
                  </a:tcPr>
                </a:tc>
                <a:extLst>
                  <a:ext uri="{0D108BD9-81ED-4DB2-BD59-A6C34878D82A}">
                    <a16:rowId xmlns:a16="http://schemas.microsoft.com/office/drawing/2014/main" val="3424155134"/>
                  </a:ext>
                </a:extLst>
              </a:tr>
              <a:tr h="347123">
                <a:tc>
                  <a:txBody>
                    <a:bodyPr/>
                    <a:lstStyle/>
                    <a:p>
                      <a:pPr>
                        <a:buNone/>
                      </a:pPr>
                      <a:r>
                        <a:rPr lang="en-GB" sz="1600">
                          <a:solidFill>
                            <a:srgbClr val="0E2841"/>
                          </a:solidFill>
                        </a:rPr>
                        <a:t>T3</a:t>
                      </a:r>
                    </a:p>
                  </a:txBody>
                  <a:tcPr anchor="ctr"/>
                </a:tc>
                <a:tc>
                  <a:txBody>
                    <a:bodyPr/>
                    <a:lstStyle/>
                    <a:p>
                      <a:pPr>
                        <a:buNone/>
                      </a:pPr>
                      <a:r>
                        <a:rPr lang="en-GB" sz="1600">
                          <a:solidFill>
                            <a:srgbClr val="0E2841"/>
                          </a:solidFill>
                        </a:rPr>
                        <a:t>0.96</a:t>
                      </a:r>
                    </a:p>
                  </a:txBody>
                  <a:tcPr anchor="ctr">
                    <a:noFill/>
                  </a:tcPr>
                </a:tc>
                <a:tc>
                  <a:txBody>
                    <a:bodyPr/>
                    <a:lstStyle/>
                    <a:p>
                      <a:pPr>
                        <a:buNone/>
                      </a:pPr>
                      <a:r>
                        <a:rPr lang="en-GB" sz="1600" dirty="0">
                          <a:solidFill>
                            <a:srgbClr val="0E2841"/>
                          </a:solidFill>
                        </a:rPr>
                        <a:t>0.01</a:t>
                      </a:r>
                    </a:p>
                  </a:txBody>
                  <a:tcPr anchor="ctr"/>
                </a:tc>
                <a:tc>
                  <a:txBody>
                    <a:bodyPr/>
                    <a:lstStyle/>
                    <a:p>
                      <a:pPr>
                        <a:buNone/>
                      </a:pPr>
                      <a:r>
                        <a:rPr lang="en-GB" sz="1600" dirty="0">
                          <a:solidFill>
                            <a:srgbClr val="0E2841"/>
                          </a:solidFill>
                        </a:rPr>
                        <a:t>0.96</a:t>
                      </a:r>
                    </a:p>
                  </a:txBody>
                  <a:tcPr anchor="ctr"/>
                </a:tc>
                <a:tc>
                  <a:txBody>
                    <a:bodyPr/>
                    <a:lstStyle/>
                    <a:p>
                      <a:pPr>
                        <a:buNone/>
                      </a:pPr>
                      <a:r>
                        <a:rPr lang="en-GB" sz="1600" dirty="0">
                          <a:solidFill>
                            <a:srgbClr val="0E2841"/>
                          </a:solidFill>
                        </a:rPr>
                        <a:t>0.96</a:t>
                      </a:r>
                    </a:p>
                  </a:txBody>
                  <a:tcPr anchor="ctr"/>
                </a:tc>
                <a:extLst>
                  <a:ext uri="{0D108BD9-81ED-4DB2-BD59-A6C34878D82A}">
                    <a16:rowId xmlns:a16="http://schemas.microsoft.com/office/drawing/2014/main" val="99002748"/>
                  </a:ext>
                </a:extLst>
              </a:tr>
              <a:tr h="347123">
                <a:tc>
                  <a:txBody>
                    <a:bodyPr/>
                    <a:lstStyle/>
                    <a:p>
                      <a:pPr>
                        <a:buNone/>
                      </a:pPr>
                      <a:r>
                        <a:rPr lang="en-GB" sz="1600">
                          <a:solidFill>
                            <a:srgbClr val="0E2841"/>
                          </a:solidFill>
                        </a:rPr>
                        <a:t>T4</a:t>
                      </a:r>
                    </a:p>
                  </a:txBody>
                  <a:tcPr anchor="ctr"/>
                </a:tc>
                <a:tc>
                  <a:txBody>
                    <a:bodyPr/>
                    <a:lstStyle/>
                    <a:p>
                      <a:pPr>
                        <a:buNone/>
                      </a:pPr>
                      <a:r>
                        <a:rPr lang="en-GB" sz="1600" dirty="0">
                          <a:solidFill>
                            <a:srgbClr val="0E2841"/>
                          </a:solidFill>
                        </a:rPr>
                        <a:t>0.96</a:t>
                      </a:r>
                    </a:p>
                  </a:txBody>
                  <a:tcPr anchor="ctr">
                    <a:noFill/>
                  </a:tcPr>
                </a:tc>
                <a:tc>
                  <a:txBody>
                    <a:bodyPr/>
                    <a:lstStyle/>
                    <a:p>
                      <a:pPr>
                        <a:buNone/>
                      </a:pPr>
                      <a:r>
                        <a:rPr lang="en-GB" sz="1600">
                          <a:solidFill>
                            <a:srgbClr val="0E2841"/>
                          </a:solidFill>
                        </a:rPr>
                        <a:t>0.01</a:t>
                      </a:r>
                    </a:p>
                  </a:txBody>
                  <a:tcPr anchor="ctr"/>
                </a:tc>
                <a:tc>
                  <a:txBody>
                    <a:bodyPr/>
                    <a:lstStyle/>
                    <a:p>
                      <a:pPr>
                        <a:buNone/>
                      </a:pPr>
                      <a:r>
                        <a:rPr lang="en-GB" sz="1600" dirty="0">
                          <a:solidFill>
                            <a:srgbClr val="0E2841"/>
                          </a:solidFill>
                        </a:rPr>
                        <a:t>0.96</a:t>
                      </a:r>
                    </a:p>
                  </a:txBody>
                  <a:tcPr anchor="ctr"/>
                </a:tc>
                <a:tc>
                  <a:txBody>
                    <a:bodyPr/>
                    <a:lstStyle/>
                    <a:p>
                      <a:pPr>
                        <a:buNone/>
                      </a:pPr>
                      <a:r>
                        <a:rPr lang="en-GB" sz="1600" dirty="0">
                          <a:solidFill>
                            <a:srgbClr val="0E2841"/>
                          </a:solidFill>
                        </a:rPr>
                        <a:t>0.96</a:t>
                      </a:r>
                    </a:p>
                  </a:txBody>
                  <a:tcPr anchor="ctr">
                    <a:solidFill>
                      <a:srgbClr val="C3DACA"/>
                    </a:solidFill>
                  </a:tcPr>
                </a:tc>
                <a:extLst>
                  <a:ext uri="{0D108BD9-81ED-4DB2-BD59-A6C34878D82A}">
                    <a16:rowId xmlns:a16="http://schemas.microsoft.com/office/drawing/2014/main" val="1888107445"/>
                  </a:ext>
                </a:extLst>
              </a:tr>
              <a:tr h="347123">
                <a:tc>
                  <a:txBody>
                    <a:bodyPr/>
                    <a:lstStyle/>
                    <a:p>
                      <a:pPr>
                        <a:buNone/>
                      </a:pPr>
                      <a:r>
                        <a:rPr lang="en-GB" sz="1600" dirty="0">
                          <a:solidFill>
                            <a:srgbClr val="0E2841"/>
                          </a:solidFill>
                        </a:rPr>
                        <a:t>T5</a:t>
                      </a:r>
                    </a:p>
                  </a:txBody>
                  <a:tcPr anchor="ctr"/>
                </a:tc>
                <a:tc>
                  <a:txBody>
                    <a:bodyPr/>
                    <a:lstStyle/>
                    <a:p>
                      <a:pPr>
                        <a:buNone/>
                      </a:pPr>
                      <a:r>
                        <a:rPr lang="en-GB" sz="1600" dirty="0">
                          <a:solidFill>
                            <a:srgbClr val="0E2841"/>
                          </a:solidFill>
                        </a:rPr>
                        <a:t>0.96</a:t>
                      </a:r>
                    </a:p>
                  </a:txBody>
                  <a:tcPr anchor="ctr">
                    <a:noFill/>
                  </a:tcPr>
                </a:tc>
                <a:tc>
                  <a:txBody>
                    <a:bodyPr/>
                    <a:lstStyle/>
                    <a:p>
                      <a:pPr>
                        <a:buNone/>
                      </a:pPr>
                      <a:r>
                        <a:rPr lang="en-GB" sz="1600">
                          <a:solidFill>
                            <a:srgbClr val="0E2841"/>
                          </a:solidFill>
                        </a:rPr>
                        <a:t>0.02</a:t>
                      </a:r>
                    </a:p>
                  </a:txBody>
                  <a:tcPr anchor="ctr"/>
                </a:tc>
                <a:tc>
                  <a:txBody>
                    <a:bodyPr/>
                    <a:lstStyle/>
                    <a:p>
                      <a:pPr>
                        <a:buNone/>
                      </a:pPr>
                      <a:r>
                        <a:rPr lang="en-GB" sz="1600" dirty="0">
                          <a:solidFill>
                            <a:srgbClr val="0E2841"/>
                          </a:solidFill>
                        </a:rPr>
                        <a:t>0.92</a:t>
                      </a:r>
                    </a:p>
                  </a:txBody>
                  <a:tcPr anchor="ctr"/>
                </a:tc>
                <a:tc>
                  <a:txBody>
                    <a:bodyPr/>
                    <a:lstStyle/>
                    <a:p>
                      <a:pPr>
                        <a:buNone/>
                      </a:pPr>
                      <a:r>
                        <a:rPr lang="en-GB" sz="1600" dirty="0">
                          <a:solidFill>
                            <a:srgbClr val="0E2841"/>
                          </a:solidFill>
                        </a:rPr>
                        <a:t>0.94</a:t>
                      </a:r>
                    </a:p>
                  </a:txBody>
                  <a:tcPr anchor="ctr"/>
                </a:tc>
                <a:extLst>
                  <a:ext uri="{0D108BD9-81ED-4DB2-BD59-A6C34878D82A}">
                    <a16:rowId xmlns:a16="http://schemas.microsoft.com/office/drawing/2014/main" val="2512402305"/>
                  </a:ext>
                </a:extLst>
              </a:tr>
            </a:tbl>
          </a:graphicData>
        </a:graphic>
      </p:graphicFrame>
      <p:graphicFrame>
        <p:nvGraphicFramePr>
          <p:cNvPr id="16" name="Table 15">
            <a:extLst>
              <a:ext uri="{FF2B5EF4-FFF2-40B4-BE49-F238E27FC236}">
                <a16:creationId xmlns:a16="http://schemas.microsoft.com/office/drawing/2014/main" id="{6F54DEB6-4B61-1ABE-FEED-658005C31831}"/>
              </a:ext>
            </a:extLst>
          </p:cNvPr>
          <p:cNvGraphicFramePr>
            <a:graphicFrameLocks noGrp="1"/>
          </p:cNvGraphicFramePr>
          <p:nvPr>
            <p:extLst>
              <p:ext uri="{D42A27DB-BD31-4B8C-83A1-F6EECF244321}">
                <p14:modId xmlns:p14="http://schemas.microsoft.com/office/powerpoint/2010/main" val="3846413862"/>
              </p:ext>
            </p:extLst>
          </p:nvPr>
        </p:nvGraphicFramePr>
        <p:xfrm>
          <a:off x="6288683" y="4257961"/>
          <a:ext cx="5405475" cy="2399376"/>
        </p:xfrm>
        <a:graphic>
          <a:graphicData uri="http://schemas.openxmlformats.org/drawingml/2006/table">
            <a:tbl>
              <a:tblPr>
                <a:tableStyleId>{2D5ABB26-0587-4C30-8999-92F81FD0307C}</a:tableStyleId>
              </a:tblPr>
              <a:tblGrid>
                <a:gridCol w="1081095">
                  <a:extLst>
                    <a:ext uri="{9D8B030D-6E8A-4147-A177-3AD203B41FA5}">
                      <a16:colId xmlns:a16="http://schemas.microsoft.com/office/drawing/2014/main" val="1783016677"/>
                    </a:ext>
                  </a:extLst>
                </a:gridCol>
                <a:gridCol w="1081095">
                  <a:extLst>
                    <a:ext uri="{9D8B030D-6E8A-4147-A177-3AD203B41FA5}">
                      <a16:colId xmlns:a16="http://schemas.microsoft.com/office/drawing/2014/main" val="170464478"/>
                    </a:ext>
                  </a:extLst>
                </a:gridCol>
                <a:gridCol w="1081095">
                  <a:extLst>
                    <a:ext uri="{9D8B030D-6E8A-4147-A177-3AD203B41FA5}">
                      <a16:colId xmlns:a16="http://schemas.microsoft.com/office/drawing/2014/main" val="3590174197"/>
                    </a:ext>
                  </a:extLst>
                </a:gridCol>
                <a:gridCol w="1081095">
                  <a:extLst>
                    <a:ext uri="{9D8B030D-6E8A-4147-A177-3AD203B41FA5}">
                      <a16:colId xmlns:a16="http://schemas.microsoft.com/office/drawing/2014/main" val="544137863"/>
                    </a:ext>
                  </a:extLst>
                </a:gridCol>
                <a:gridCol w="1081095">
                  <a:extLst>
                    <a:ext uri="{9D8B030D-6E8A-4147-A177-3AD203B41FA5}">
                      <a16:colId xmlns:a16="http://schemas.microsoft.com/office/drawing/2014/main" val="3624058594"/>
                    </a:ext>
                  </a:extLst>
                </a:gridCol>
              </a:tblGrid>
              <a:tr h="342768">
                <a:tc gridSpan="5">
                  <a:txBody>
                    <a:bodyPr/>
                    <a:lstStyle/>
                    <a:p>
                      <a:pPr algn="ctr">
                        <a:buNone/>
                      </a:pPr>
                      <a:r>
                        <a:rPr lang="en-GB" sz="1600" dirty="0">
                          <a:solidFill>
                            <a:srgbClr val="0E2841"/>
                          </a:solidFill>
                        </a:rPr>
                        <a:t>Accuracy = 0.91</a:t>
                      </a:r>
                    </a:p>
                  </a:txBody>
                  <a:tcPr anchor="ctr">
                    <a:noFill/>
                  </a:tcPr>
                </a:tc>
                <a:tc hMerge="1">
                  <a:txBody>
                    <a:bodyPr/>
                    <a:lstStyle/>
                    <a:p>
                      <a:pPr algn="ctr">
                        <a:buNone/>
                      </a:pPr>
                      <a:endParaRPr lang="en-GB" sz="1600" dirty="0"/>
                    </a:p>
                  </a:txBody>
                  <a:tcPr anchor="ctr"/>
                </a:tc>
                <a:tc hMerge="1">
                  <a:txBody>
                    <a:bodyPr/>
                    <a:lstStyle/>
                    <a:p>
                      <a:pPr algn="ctr">
                        <a:buNone/>
                      </a:pPr>
                      <a:endParaRPr lang="en-GB" sz="1600" dirty="0"/>
                    </a:p>
                  </a:txBody>
                  <a:tcPr anchor="ctr"/>
                </a:tc>
                <a:tc hMerge="1">
                  <a:txBody>
                    <a:bodyPr/>
                    <a:lstStyle/>
                    <a:p>
                      <a:pPr algn="ctr">
                        <a:buNone/>
                      </a:pPr>
                      <a:endParaRPr lang="en-GB" sz="1600" dirty="0"/>
                    </a:p>
                  </a:txBody>
                  <a:tcPr anchor="ctr"/>
                </a:tc>
                <a:tc hMerge="1">
                  <a:txBody>
                    <a:bodyPr/>
                    <a:lstStyle/>
                    <a:p>
                      <a:pPr algn="ctr">
                        <a:buNone/>
                      </a:pPr>
                      <a:endParaRPr lang="en-GB" sz="1600" dirty="0"/>
                    </a:p>
                  </a:txBody>
                  <a:tcPr anchor="ctr"/>
                </a:tc>
                <a:extLst>
                  <a:ext uri="{0D108BD9-81ED-4DB2-BD59-A6C34878D82A}">
                    <a16:rowId xmlns:a16="http://schemas.microsoft.com/office/drawing/2014/main" val="474242471"/>
                  </a:ext>
                </a:extLst>
              </a:tr>
              <a:tr h="342768">
                <a:tc>
                  <a:txBody>
                    <a:bodyPr/>
                    <a:lstStyle/>
                    <a:p>
                      <a:pPr>
                        <a:buNone/>
                      </a:pPr>
                      <a:r>
                        <a:rPr lang="en-GB" sz="1600" dirty="0">
                          <a:solidFill>
                            <a:srgbClr val="0E2841"/>
                          </a:solidFill>
                        </a:rPr>
                        <a:t>Activity</a:t>
                      </a:r>
                    </a:p>
                  </a:txBody>
                  <a:tcPr anchor="ctr"/>
                </a:tc>
                <a:tc>
                  <a:txBody>
                    <a:bodyPr/>
                    <a:lstStyle/>
                    <a:p>
                      <a:pPr>
                        <a:buNone/>
                      </a:pPr>
                      <a:r>
                        <a:rPr lang="en-GB" sz="1600" dirty="0">
                          <a:solidFill>
                            <a:srgbClr val="0E2841"/>
                          </a:solidFill>
                        </a:rPr>
                        <a:t>Recall</a:t>
                      </a:r>
                    </a:p>
                  </a:txBody>
                  <a:tcPr anchor="ctr"/>
                </a:tc>
                <a:tc>
                  <a:txBody>
                    <a:bodyPr/>
                    <a:lstStyle/>
                    <a:p>
                      <a:pPr>
                        <a:buNone/>
                      </a:pPr>
                      <a:r>
                        <a:rPr lang="en-GB" sz="1600" dirty="0">
                          <a:solidFill>
                            <a:srgbClr val="0E2841"/>
                          </a:solidFill>
                        </a:rPr>
                        <a:t>FPR</a:t>
                      </a:r>
                    </a:p>
                  </a:txBody>
                  <a:tcPr anchor="ctr"/>
                </a:tc>
                <a:tc>
                  <a:txBody>
                    <a:bodyPr/>
                    <a:lstStyle/>
                    <a:p>
                      <a:pPr>
                        <a:buNone/>
                      </a:pPr>
                      <a:r>
                        <a:rPr lang="en-GB" sz="1600" dirty="0">
                          <a:solidFill>
                            <a:srgbClr val="0E2841"/>
                          </a:solidFill>
                        </a:rPr>
                        <a:t>Precision</a:t>
                      </a:r>
                    </a:p>
                  </a:txBody>
                  <a:tcPr anchor="ctr"/>
                </a:tc>
                <a:tc>
                  <a:txBody>
                    <a:bodyPr/>
                    <a:lstStyle/>
                    <a:p>
                      <a:pPr>
                        <a:buNone/>
                      </a:pPr>
                      <a:r>
                        <a:rPr lang="en-GB" sz="1600" dirty="0">
                          <a:solidFill>
                            <a:srgbClr val="0E2841"/>
                          </a:solidFill>
                        </a:rPr>
                        <a:t>F1</a:t>
                      </a:r>
                    </a:p>
                  </a:txBody>
                  <a:tcPr anchor="ctr"/>
                </a:tc>
                <a:extLst>
                  <a:ext uri="{0D108BD9-81ED-4DB2-BD59-A6C34878D82A}">
                    <a16:rowId xmlns:a16="http://schemas.microsoft.com/office/drawing/2014/main" val="3303129290"/>
                  </a:ext>
                </a:extLst>
              </a:tr>
              <a:tr h="342768">
                <a:tc>
                  <a:txBody>
                    <a:bodyPr/>
                    <a:lstStyle/>
                    <a:p>
                      <a:pPr>
                        <a:buNone/>
                      </a:pPr>
                      <a:r>
                        <a:rPr lang="en-GB" sz="1600" dirty="0">
                          <a:solidFill>
                            <a:srgbClr val="0E2841"/>
                          </a:solidFill>
                        </a:rPr>
                        <a:t>T1</a:t>
                      </a:r>
                    </a:p>
                  </a:txBody>
                  <a:tcPr anchor="ctr"/>
                </a:tc>
                <a:tc>
                  <a:txBody>
                    <a:bodyPr/>
                    <a:lstStyle/>
                    <a:p>
                      <a:pPr>
                        <a:buNone/>
                      </a:pPr>
                      <a:r>
                        <a:rPr lang="en-GB" sz="1600" dirty="0">
                          <a:solidFill>
                            <a:srgbClr val="0E2841"/>
                          </a:solidFill>
                        </a:rPr>
                        <a:t>1.00</a:t>
                      </a:r>
                    </a:p>
                  </a:txBody>
                  <a:tcPr anchor="ctr">
                    <a:noFill/>
                  </a:tcPr>
                </a:tc>
                <a:tc>
                  <a:txBody>
                    <a:bodyPr/>
                    <a:lstStyle/>
                    <a:p>
                      <a:pPr>
                        <a:buNone/>
                      </a:pPr>
                      <a:r>
                        <a:rPr lang="en-GB" sz="1600" dirty="0">
                          <a:solidFill>
                            <a:srgbClr val="0E2841"/>
                          </a:solidFill>
                        </a:rPr>
                        <a:t>0.00</a:t>
                      </a:r>
                    </a:p>
                  </a:txBody>
                  <a:tcPr anchor="ctr"/>
                </a:tc>
                <a:tc>
                  <a:txBody>
                    <a:bodyPr/>
                    <a:lstStyle/>
                    <a:p>
                      <a:pPr>
                        <a:buNone/>
                      </a:pPr>
                      <a:r>
                        <a:rPr lang="en-GB" sz="1600">
                          <a:solidFill>
                            <a:srgbClr val="0E2841"/>
                          </a:solidFill>
                        </a:rPr>
                        <a:t>1.00</a:t>
                      </a:r>
                    </a:p>
                  </a:txBody>
                  <a:tcPr anchor="ctr"/>
                </a:tc>
                <a:tc>
                  <a:txBody>
                    <a:bodyPr/>
                    <a:lstStyle/>
                    <a:p>
                      <a:pPr>
                        <a:buNone/>
                      </a:pPr>
                      <a:r>
                        <a:rPr lang="en-GB" sz="1600" dirty="0">
                          <a:solidFill>
                            <a:srgbClr val="0E2841"/>
                          </a:solidFill>
                        </a:rPr>
                        <a:t>1.00</a:t>
                      </a:r>
                    </a:p>
                  </a:txBody>
                  <a:tcPr anchor="ctr">
                    <a:solidFill>
                      <a:srgbClr val="C3DACA"/>
                    </a:solidFill>
                  </a:tcPr>
                </a:tc>
                <a:extLst>
                  <a:ext uri="{0D108BD9-81ED-4DB2-BD59-A6C34878D82A}">
                    <a16:rowId xmlns:a16="http://schemas.microsoft.com/office/drawing/2014/main" val="515772407"/>
                  </a:ext>
                </a:extLst>
              </a:tr>
              <a:tr h="342768">
                <a:tc>
                  <a:txBody>
                    <a:bodyPr/>
                    <a:lstStyle/>
                    <a:p>
                      <a:pPr>
                        <a:buNone/>
                      </a:pPr>
                      <a:r>
                        <a:rPr lang="en-GB" sz="1600">
                          <a:solidFill>
                            <a:srgbClr val="0E2841"/>
                          </a:solidFill>
                        </a:rPr>
                        <a:t>T2</a:t>
                      </a:r>
                    </a:p>
                  </a:txBody>
                  <a:tcPr anchor="ctr"/>
                </a:tc>
                <a:tc>
                  <a:txBody>
                    <a:bodyPr/>
                    <a:lstStyle/>
                    <a:p>
                      <a:pPr>
                        <a:buNone/>
                      </a:pPr>
                      <a:r>
                        <a:rPr lang="en-GB" sz="1600">
                          <a:solidFill>
                            <a:srgbClr val="0E2841"/>
                          </a:solidFill>
                        </a:rPr>
                        <a:t>1.00</a:t>
                      </a:r>
                    </a:p>
                  </a:txBody>
                  <a:tcPr anchor="ctr">
                    <a:noFill/>
                  </a:tcPr>
                </a:tc>
                <a:tc>
                  <a:txBody>
                    <a:bodyPr/>
                    <a:lstStyle/>
                    <a:p>
                      <a:pPr>
                        <a:buNone/>
                      </a:pPr>
                      <a:r>
                        <a:rPr lang="en-GB" sz="1600" dirty="0">
                          <a:solidFill>
                            <a:srgbClr val="0E2841"/>
                          </a:solidFill>
                        </a:rPr>
                        <a:t>0.11</a:t>
                      </a:r>
                    </a:p>
                  </a:txBody>
                  <a:tcPr anchor="ctr"/>
                </a:tc>
                <a:tc>
                  <a:txBody>
                    <a:bodyPr/>
                    <a:lstStyle/>
                    <a:p>
                      <a:pPr>
                        <a:buNone/>
                      </a:pPr>
                      <a:r>
                        <a:rPr lang="en-GB" sz="1600">
                          <a:solidFill>
                            <a:srgbClr val="0E2841"/>
                          </a:solidFill>
                        </a:rPr>
                        <a:t>0.69</a:t>
                      </a:r>
                    </a:p>
                  </a:txBody>
                  <a:tcPr anchor="ctr"/>
                </a:tc>
                <a:tc>
                  <a:txBody>
                    <a:bodyPr/>
                    <a:lstStyle/>
                    <a:p>
                      <a:pPr>
                        <a:buNone/>
                      </a:pPr>
                      <a:r>
                        <a:rPr lang="en-GB" sz="1600" dirty="0">
                          <a:solidFill>
                            <a:srgbClr val="0E2841"/>
                          </a:solidFill>
                        </a:rPr>
                        <a:t>0.82</a:t>
                      </a:r>
                    </a:p>
                  </a:txBody>
                  <a:tcPr anchor="ctr"/>
                </a:tc>
                <a:extLst>
                  <a:ext uri="{0D108BD9-81ED-4DB2-BD59-A6C34878D82A}">
                    <a16:rowId xmlns:a16="http://schemas.microsoft.com/office/drawing/2014/main" val="2158642403"/>
                  </a:ext>
                </a:extLst>
              </a:tr>
              <a:tr h="342768">
                <a:tc>
                  <a:txBody>
                    <a:bodyPr/>
                    <a:lstStyle/>
                    <a:p>
                      <a:pPr>
                        <a:buNone/>
                      </a:pPr>
                      <a:r>
                        <a:rPr lang="en-GB" sz="1600">
                          <a:solidFill>
                            <a:srgbClr val="0E2841"/>
                          </a:solidFill>
                        </a:rPr>
                        <a:t>T3</a:t>
                      </a:r>
                    </a:p>
                  </a:txBody>
                  <a:tcPr anchor="ctr"/>
                </a:tc>
                <a:tc>
                  <a:txBody>
                    <a:bodyPr/>
                    <a:lstStyle/>
                    <a:p>
                      <a:pPr>
                        <a:buNone/>
                      </a:pPr>
                      <a:r>
                        <a:rPr lang="en-GB" sz="1600" dirty="0">
                          <a:solidFill>
                            <a:srgbClr val="0E2841"/>
                          </a:solidFill>
                        </a:rPr>
                        <a:t>1.00</a:t>
                      </a:r>
                    </a:p>
                  </a:txBody>
                  <a:tcPr anchor="ctr">
                    <a:noFill/>
                  </a:tcPr>
                </a:tc>
                <a:tc>
                  <a:txBody>
                    <a:bodyPr/>
                    <a:lstStyle/>
                    <a:p>
                      <a:pPr>
                        <a:buNone/>
                      </a:pPr>
                      <a:r>
                        <a:rPr lang="en-GB" sz="1600">
                          <a:solidFill>
                            <a:srgbClr val="0E2841"/>
                          </a:solidFill>
                        </a:rPr>
                        <a:t>0.00</a:t>
                      </a:r>
                    </a:p>
                  </a:txBody>
                  <a:tcPr anchor="ctr"/>
                </a:tc>
                <a:tc>
                  <a:txBody>
                    <a:bodyPr/>
                    <a:lstStyle/>
                    <a:p>
                      <a:pPr>
                        <a:buNone/>
                      </a:pPr>
                      <a:r>
                        <a:rPr lang="en-GB" sz="1600" dirty="0">
                          <a:solidFill>
                            <a:srgbClr val="0E2841"/>
                          </a:solidFill>
                        </a:rPr>
                        <a:t>1.00</a:t>
                      </a:r>
                    </a:p>
                  </a:txBody>
                  <a:tcPr anchor="ctr"/>
                </a:tc>
                <a:tc>
                  <a:txBody>
                    <a:bodyPr/>
                    <a:lstStyle/>
                    <a:p>
                      <a:pPr>
                        <a:buNone/>
                      </a:pPr>
                      <a:r>
                        <a:rPr lang="en-GB" sz="1600" dirty="0">
                          <a:solidFill>
                            <a:srgbClr val="0E2841"/>
                          </a:solidFill>
                        </a:rPr>
                        <a:t>1.00</a:t>
                      </a:r>
                    </a:p>
                  </a:txBody>
                  <a:tcPr anchor="ctr">
                    <a:solidFill>
                      <a:srgbClr val="C3DACA"/>
                    </a:solidFill>
                  </a:tcPr>
                </a:tc>
                <a:extLst>
                  <a:ext uri="{0D108BD9-81ED-4DB2-BD59-A6C34878D82A}">
                    <a16:rowId xmlns:a16="http://schemas.microsoft.com/office/drawing/2014/main" val="2120584620"/>
                  </a:ext>
                </a:extLst>
              </a:tr>
              <a:tr h="342768">
                <a:tc>
                  <a:txBody>
                    <a:bodyPr/>
                    <a:lstStyle/>
                    <a:p>
                      <a:pPr>
                        <a:buNone/>
                      </a:pPr>
                      <a:r>
                        <a:rPr lang="en-GB" sz="1600" dirty="0">
                          <a:solidFill>
                            <a:srgbClr val="0E2841"/>
                          </a:solidFill>
                        </a:rPr>
                        <a:t>T4</a:t>
                      </a:r>
                    </a:p>
                  </a:txBody>
                  <a:tcPr anchor="ctr"/>
                </a:tc>
                <a:tc>
                  <a:txBody>
                    <a:bodyPr/>
                    <a:lstStyle/>
                    <a:p>
                      <a:pPr>
                        <a:buNone/>
                      </a:pPr>
                      <a:r>
                        <a:rPr lang="en-GB" sz="1600" dirty="0">
                          <a:solidFill>
                            <a:srgbClr val="0E2841"/>
                          </a:solidFill>
                        </a:rPr>
                        <a:t>0.95</a:t>
                      </a:r>
                    </a:p>
                  </a:txBody>
                  <a:tcPr anchor="ctr">
                    <a:noFill/>
                  </a:tcPr>
                </a:tc>
                <a:tc>
                  <a:txBody>
                    <a:bodyPr/>
                    <a:lstStyle/>
                    <a:p>
                      <a:pPr>
                        <a:buNone/>
                      </a:pPr>
                      <a:r>
                        <a:rPr lang="en-GB" sz="1600">
                          <a:solidFill>
                            <a:srgbClr val="0E2841"/>
                          </a:solidFill>
                        </a:rPr>
                        <a:t>0.00</a:t>
                      </a:r>
                    </a:p>
                  </a:txBody>
                  <a:tcPr anchor="ctr"/>
                </a:tc>
                <a:tc>
                  <a:txBody>
                    <a:bodyPr/>
                    <a:lstStyle/>
                    <a:p>
                      <a:pPr>
                        <a:buNone/>
                      </a:pPr>
                      <a:r>
                        <a:rPr lang="en-GB" sz="1600" dirty="0">
                          <a:solidFill>
                            <a:srgbClr val="0E2841"/>
                          </a:solidFill>
                        </a:rPr>
                        <a:t>1.00</a:t>
                      </a:r>
                    </a:p>
                  </a:txBody>
                  <a:tcPr anchor="ctr"/>
                </a:tc>
                <a:tc>
                  <a:txBody>
                    <a:bodyPr/>
                    <a:lstStyle/>
                    <a:p>
                      <a:pPr>
                        <a:buNone/>
                      </a:pPr>
                      <a:r>
                        <a:rPr lang="en-GB" sz="1600" dirty="0">
                          <a:solidFill>
                            <a:srgbClr val="0E2841"/>
                          </a:solidFill>
                        </a:rPr>
                        <a:t>0.97</a:t>
                      </a:r>
                    </a:p>
                  </a:txBody>
                  <a:tcPr anchor="ctr">
                    <a:solidFill>
                      <a:srgbClr val="C3DACA"/>
                    </a:solidFill>
                  </a:tcPr>
                </a:tc>
                <a:extLst>
                  <a:ext uri="{0D108BD9-81ED-4DB2-BD59-A6C34878D82A}">
                    <a16:rowId xmlns:a16="http://schemas.microsoft.com/office/drawing/2014/main" val="834263923"/>
                  </a:ext>
                </a:extLst>
              </a:tr>
              <a:tr h="342768">
                <a:tc>
                  <a:txBody>
                    <a:bodyPr/>
                    <a:lstStyle/>
                    <a:p>
                      <a:pPr>
                        <a:buNone/>
                      </a:pPr>
                      <a:r>
                        <a:rPr lang="en-GB" sz="1600" dirty="0">
                          <a:solidFill>
                            <a:srgbClr val="0E2841"/>
                          </a:solidFill>
                        </a:rPr>
                        <a:t>T5</a:t>
                      </a:r>
                    </a:p>
                  </a:txBody>
                  <a:tcPr anchor="ctr"/>
                </a:tc>
                <a:tc>
                  <a:txBody>
                    <a:bodyPr/>
                    <a:lstStyle/>
                    <a:p>
                      <a:pPr>
                        <a:buNone/>
                      </a:pPr>
                      <a:r>
                        <a:rPr lang="en-GB" sz="1600" dirty="0">
                          <a:solidFill>
                            <a:srgbClr val="0E2841"/>
                          </a:solidFill>
                        </a:rPr>
                        <a:t>0.60</a:t>
                      </a:r>
                    </a:p>
                  </a:txBody>
                  <a:tcPr anchor="ctr">
                    <a:noFill/>
                  </a:tcPr>
                </a:tc>
                <a:tc>
                  <a:txBody>
                    <a:bodyPr/>
                    <a:lstStyle/>
                    <a:p>
                      <a:pPr>
                        <a:buNone/>
                      </a:pPr>
                      <a:r>
                        <a:rPr lang="en-GB" sz="1600">
                          <a:solidFill>
                            <a:srgbClr val="0E2841"/>
                          </a:solidFill>
                        </a:rPr>
                        <a:t>0.00</a:t>
                      </a:r>
                    </a:p>
                  </a:txBody>
                  <a:tcPr anchor="ctr"/>
                </a:tc>
                <a:tc>
                  <a:txBody>
                    <a:bodyPr/>
                    <a:lstStyle/>
                    <a:p>
                      <a:pPr>
                        <a:buNone/>
                      </a:pPr>
                      <a:r>
                        <a:rPr lang="en-GB" sz="1600">
                          <a:solidFill>
                            <a:srgbClr val="0E2841"/>
                          </a:solidFill>
                        </a:rPr>
                        <a:t>1.00</a:t>
                      </a:r>
                    </a:p>
                  </a:txBody>
                  <a:tcPr anchor="ctr"/>
                </a:tc>
                <a:tc>
                  <a:txBody>
                    <a:bodyPr/>
                    <a:lstStyle/>
                    <a:p>
                      <a:pPr>
                        <a:buNone/>
                      </a:pPr>
                      <a:r>
                        <a:rPr lang="en-GB" sz="1600" dirty="0">
                          <a:solidFill>
                            <a:srgbClr val="0E2841"/>
                          </a:solidFill>
                        </a:rPr>
                        <a:t>0.75</a:t>
                      </a:r>
                    </a:p>
                  </a:txBody>
                  <a:tcPr anchor="ctr"/>
                </a:tc>
                <a:extLst>
                  <a:ext uri="{0D108BD9-81ED-4DB2-BD59-A6C34878D82A}">
                    <a16:rowId xmlns:a16="http://schemas.microsoft.com/office/drawing/2014/main" val="3151103733"/>
                  </a:ext>
                </a:extLst>
              </a:tr>
            </a:tbl>
          </a:graphicData>
        </a:graphic>
      </p:graphicFrame>
    </p:spTree>
    <p:extLst>
      <p:ext uri="{BB962C8B-B14F-4D97-AF65-F5344CB8AC3E}">
        <p14:creationId xmlns:p14="http://schemas.microsoft.com/office/powerpoint/2010/main" val="216078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C76A3-E478-FC84-D553-2AC1234F9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FDCCE5-D487-3AF2-6AB3-F8BDD914C926}"/>
              </a:ext>
            </a:extLst>
          </p:cNvPr>
          <p:cNvSpPr>
            <a:spLocks noGrp="1"/>
          </p:cNvSpPr>
          <p:nvPr>
            <p:ph type="title"/>
          </p:nvPr>
        </p:nvSpPr>
        <p:spPr>
          <a:xfrm>
            <a:off x="838200" y="365126"/>
            <a:ext cx="10515600" cy="705062"/>
          </a:xfrm>
        </p:spPr>
        <p:txBody>
          <a:bodyPr>
            <a:normAutofit/>
          </a:bodyPr>
          <a:lstStyle/>
          <a:p>
            <a:r>
              <a:rPr lang="en-US" dirty="0">
                <a:solidFill>
                  <a:srgbClr val="0E2841"/>
                </a:solidFill>
              </a:rPr>
              <a:t>Anomaly Detection Implementation</a:t>
            </a:r>
          </a:p>
        </p:txBody>
      </p:sp>
      <p:sp>
        <p:nvSpPr>
          <p:cNvPr id="11" name="Content Placeholder 5">
            <a:extLst>
              <a:ext uri="{FF2B5EF4-FFF2-40B4-BE49-F238E27FC236}">
                <a16:creationId xmlns:a16="http://schemas.microsoft.com/office/drawing/2014/main" id="{931439A1-C5D1-9B9D-1207-332F1B60544F}"/>
              </a:ext>
            </a:extLst>
          </p:cNvPr>
          <p:cNvSpPr txBox="1">
            <a:spLocks/>
          </p:cNvSpPr>
          <p:nvPr/>
        </p:nvSpPr>
        <p:spPr>
          <a:xfrm>
            <a:off x="570235" y="1234002"/>
            <a:ext cx="5313252" cy="1476098"/>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buFont typeface="Arial,Sans-Serif" panose="020B0604020202020204" pitchFamily="34" charset="0"/>
            </a:pPr>
            <a:r>
              <a:rPr lang="en-GB" sz="1800" dirty="0">
                <a:solidFill>
                  <a:schemeClr val="tx2"/>
                </a:solidFill>
              </a:rPr>
              <a:t>Isolation Forest (IF)</a:t>
            </a:r>
          </a:p>
          <a:p>
            <a:pPr marL="285750" indent="-285750">
              <a:buFont typeface="Arial,Sans-Serif" panose="020B0604020202020204" pitchFamily="34" charset="0"/>
            </a:pPr>
            <a:r>
              <a:rPr lang="en-GB" sz="1800" dirty="0">
                <a:solidFill>
                  <a:schemeClr val="tx2"/>
                </a:solidFill>
              </a:rPr>
              <a:t>One-Class SVM (OCSVM)</a:t>
            </a:r>
          </a:p>
          <a:p>
            <a:pPr marL="285750" indent="-285750">
              <a:buFont typeface="Arial,Sans-Serif" panose="020B0604020202020204" pitchFamily="34" charset="0"/>
            </a:pPr>
            <a:r>
              <a:rPr lang="en-GB" sz="1800" dirty="0">
                <a:solidFill>
                  <a:schemeClr val="tx2"/>
                </a:solidFill>
              </a:rPr>
              <a:t>Autoencoder (AE)</a:t>
            </a:r>
          </a:p>
        </p:txBody>
      </p:sp>
      <p:sp>
        <p:nvSpPr>
          <p:cNvPr id="12" name="Rectangle: Rounded Corners 2">
            <a:extLst>
              <a:ext uri="{FF2B5EF4-FFF2-40B4-BE49-F238E27FC236}">
                <a16:creationId xmlns:a16="http://schemas.microsoft.com/office/drawing/2014/main" id="{EDDD58C3-4D10-F3EF-C0B1-9643843521A8}"/>
              </a:ext>
            </a:extLst>
          </p:cNvPr>
          <p:cNvSpPr/>
          <p:nvPr/>
        </p:nvSpPr>
        <p:spPr>
          <a:xfrm>
            <a:off x="691235" y="1070187"/>
            <a:ext cx="1485908" cy="339687"/>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Models</a:t>
            </a:r>
            <a:endParaRPr lang="en-US" dirty="0">
              <a:solidFill>
                <a:schemeClr val="tx2"/>
              </a:solidFill>
            </a:endParaRPr>
          </a:p>
        </p:txBody>
      </p:sp>
      <p:sp>
        <p:nvSpPr>
          <p:cNvPr id="13" name="Content Placeholder 5">
            <a:extLst>
              <a:ext uri="{FF2B5EF4-FFF2-40B4-BE49-F238E27FC236}">
                <a16:creationId xmlns:a16="http://schemas.microsoft.com/office/drawing/2014/main" id="{BC3202BB-D4C8-3020-578F-03AC803EB804}"/>
              </a:ext>
            </a:extLst>
          </p:cNvPr>
          <p:cNvSpPr txBox="1">
            <a:spLocks/>
          </p:cNvSpPr>
          <p:nvPr/>
        </p:nvSpPr>
        <p:spPr>
          <a:xfrm>
            <a:off x="6308513" y="1250058"/>
            <a:ext cx="5313252" cy="5242816"/>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lnSpc>
                <a:spcPct val="80000"/>
              </a:lnSpc>
            </a:pPr>
            <a:r>
              <a:rPr lang="en-GB" sz="1800" dirty="0">
                <a:solidFill>
                  <a:srgbClr val="0E2841"/>
                </a:solidFill>
              </a:rPr>
              <a:t>t1 - Telephone Use: </a:t>
            </a:r>
          </a:p>
          <a:p>
            <a:pPr marL="742950" lvl="1" indent="-285750">
              <a:lnSpc>
                <a:spcPct val="80000"/>
              </a:lnSpc>
            </a:pPr>
            <a:r>
              <a:rPr lang="en-GB" sz="1800" dirty="0" err="1">
                <a:solidFill>
                  <a:srgbClr val="0E2841"/>
                </a:solidFill>
              </a:rPr>
              <a:t>mean_dt</a:t>
            </a:r>
            <a:r>
              <a:rPr lang="en-GB" sz="1800" dirty="0">
                <a:solidFill>
                  <a:srgbClr val="0E2841"/>
                </a:solidFill>
              </a:rPr>
              <a:t>, </a:t>
            </a:r>
            <a:r>
              <a:rPr lang="en-GB" sz="1800" dirty="0" err="1">
                <a:solidFill>
                  <a:srgbClr val="0E2841"/>
                </a:solidFill>
              </a:rPr>
              <a:t>mean_transition_log_lik</a:t>
            </a:r>
            <a:r>
              <a:rPr lang="en-GB" sz="1800" dirty="0">
                <a:solidFill>
                  <a:srgbClr val="0E2841"/>
                </a:solidFill>
              </a:rPr>
              <a:t>, p90_minus_p50, </a:t>
            </a:r>
            <a:r>
              <a:rPr lang="en-GB" sz="1800" dirty="0" err="1">
                <a:solidFill>
                  <a:srgbClr val="0E2841"/>
                </a:solidFill>
              </a:rPr>
              <a:t>event_rate</a:t>
            </a:r>
            <a:r>
              <a:rPr lang="en-GB" sz="1800" dirty="0">
                <a:solidFill>
                  <a:srgbClr val="0E2841"/>
                </a:solidFill>
              </a:rPr>
              <a:t>, </a:t>
            </a:r>
            <a:r>
              <a:rPr lang="en-GB" sz="1800" dirty="0" err="1">
                <a:solidFill>
                  <a:srgbClr val="0E2841"/>
                </a:solidFill>
              </a:rPr>
              <a:t>switch_rate</a:t>
            </a:r>
            <a:r>
              <a:rPr lang="en-GB" sz="1800" dirty="0">
                <a:solidFill>
                  <a:srgbClr val="0E2841"/>
                </a:solidFill>
              </a:rPr>
              <a:t>.</a:t>
            </a:r>
          </a:p>
          <a:p>
            <a:pPr marL="285750" indent="-285750">
              <a:lnSpc>
                <a:spcPct val="80000"/>
              </a:lnSpc>
            </a:pPr>
            <a:r>
              <a:rPr lang="en-GB" sz="1800" dirty="0">
                <a:solidFill>
                  <a:srgbClr val="0E2841"/>
                </a:solidFill>
              </a:rPr>
              <a:t>t2 - Hand Washing:</a:t>
            </a:r>
          </a:p>
          <a:p>
            <a:pPr marL="742950" lvl="1" indent="-285750">
              <a:lnSpc>
                <a:spcPct val="80000"/>
              </a:lnSpc>
            </a:pPr>
            <a:r>
              <a:rPr lang="en-GB" sz="1800" dirty="0" err="1">
                <a:solidFill>
                  <a:srgbClr val="0E2841"/>
                </a:solidFill>
              </a:rPr>
              <a:t>unexpected_sensor_during_tap_usage</a:t>
            </a:r>
            <a:r>
              <a:rPr lang="en-GB" sz="1800" dirty="0">
                <a:solidFill>
                  <a:srgbClr val="0E2841"/>
                </a:solidFill>
              </a:rPr>
              <a:t>, tap_active_last_8s, last_tap_value_lt_2_5.</a:t>
            </a:r>
          </a:p>
          <a:p>
            <a:pPr marL="285750" indent="-285750">
              <a:lnSpc>
                <a:spcPct val="80000"/>
              </a:lnSpc>
            </a:pPr>
            <a:r>
              <a:rPr lang="en-GB" sz="1800" dirty="0">
                <a:solidFill>
                  <a:srgbClr val="0E2841"/>
                </a:solidFill>
              </a:rPr>
              <a:t>t3 - Meal Preparation: </a:t>
            </a:r>
          </a:p>
          <a:p>
            <a:pPr marL="742950" lvl="1" indent="-285750">
              <a:lnSpc>
                <a:spcPct val="80000"/>
              </a:lnSpc>
            </a:pPr>
            <a:r>
              <a:rPr lang="en-GB" sz="1800" dirty="0" err="1">
                <a:solidFill>
                  <a:srgbClr val="0E2841"/>
                </a:solidFill>
              </a:rPr>
              <a:t>burner_last_value</a:t>
            </a:r>
            <a:r>
              <a:rPr lang="en-GB" sz="1800" dirty="0">
                <a:solidFill>
                  <a:srgbClr val="0E2841"/>
                </a:solidFill>
              </a:rPr>
              <a:t>, </a:t>
            </a:r>
            <a:r>
              <a:rPr lang="en-GB" sz="1800" dirty="0" err="1">
                <a:solidFill>
                  <a:srgbClr val="0E2841"/>
                </a:solidFill>
              </a:rPr>
              <a:t>extra_event_ratio</a:t>
            </a:r>
            <a:r>
              <a:rPr lang="en-GB" sz="1800" dirty="0">
                <a:solidFill>
                  <a:srgbClr val="0E2841"/>
                </a:solidFill>
              </a:rPr>
              <a:t>.</a:t>
            </a:r>
          </a:p>
          <a:p>
            <a:pPr marL="285750" indent="-285750">
              <a:lnSpc>
                <a:spcPct val="80000"/>
              </a:lnSpc>
            </a:pPr>
            <a:r>
              <a:rPr lang="en-GB" sz="1800" dirty="0">
                <a:solidFill>
                  <a:srgbClr val="0E2841"/>
                </a:solidFill>
              </a:rPr>
              <a:t>t4 - Eating &amp; Medication Use: </a:t>
            </a:r>
          </a:p>
          <a:p>
            <a:pPr marL="742950" lvl="1" indent="-285750">
              <a:lnSpc>
                <a:spcPct val="80000"/>
              </a:lnSpc>
            </a:pPr>
            <a:r>
              <a:rPr lang="en-GB" sz="1800" dirty="0">
                <a:solidFill>
                  <a:srgbClr val="0E2841"/>
                </a:solidFill>
              </a:rPr>
              <a:t>sensor::I06(medication), </a:t>
            </a:r>
            <a:r>
              <a:rPr lang="en-GB" sz="1800" dirty="0" err="1">
                <a:solidFill>
                  <a:srgbClr val="0E2841"/>
                </a:solidFill>
              </a:rPr>
              <a:t>episode_duration</a:t>
            </a:r>
            <a:r>
              <a:rPr lang="en-GB" sz="1800" dirty="0">
                <a:solidFill>
                  <a:srgbClr val="0E2841"/>
                </a:solidFill>
              </a:rPr>
              <a:t>, </a:t>
            </a:r>
            <a:r>
              <a:rPr lang="en-GB" sz="1800" dirty="0" err="1">
                <a:solidFill>
                  <a:srgbClr val="0E2841"/>
                </a:solidFill>
              </a:rPr>
              <a:t>burner_last_value</a:t>
            </a:r>
            <a:r>
              <a:rPr lang="en-GB" sz="1800" dirty="0">
                <a:solidFill>
                  <a:srgbClr val="0E2841"/>
                </a:solidFill>
              </a:rPr>
              <a:t>, </a:t>
            </a:r>
            <a:r>
              <a:rPr lang="en-GB" sz="1800" dirty="0" err="1">
                <a:solidFill>
                  <a:srgbClr val="0E2841"/>
                </a:solidFill>
              </a:rPr>
              <a:t>unique_sensor_message_count</a:t>
            </a:r>
            <a:r>
              <a:rPr lang="en-GB" sz="1800" dirty="0">
                <a:solidFill>
                  <a:srgbClr val="0E2841"/>
                </a:solidFill>
              </a:rPr>
              <a:t>. </a:t>
            </a:r>
          </a:p>
          <a:p>
            <a:pPr marL="285750" indent="-285750">
              <a:lnSpc>
                <a:spcPct val="80000"/>
              </a:lnSpc>
            </a:pPr>
            <a:r>
              <a:rPr lang="en-GB" sz="1800" dirty="0">
                <a:solidFill>
                  <a:srgbClr val="0E2841"/>
                </a:solidFill>
              </a:rPr>
              <a:t>t5 - Cleaning:</a:t>
            </a:r>
          </a:p>
          <a:p>
            <a:pPr marL="742950" lvl="1" indent="-285750">
              <a:lnSpc>
                <a:spcPct val="80000"/>
              </a:lnSpc>
            </a:pPr>
            <a:r>
              <a:rPr lang="en-GB" sz="1800" dirty="0" err="1">
                <a:solidFill>
                  <a:srgbClr val="0E2841"/>
                </a:solidFill>
              </a:rPr>
              <a:t>episode_duration</a:t>
            </a:r>
            <a:r>
              <a:rPr lang="en-GB" sz="1800" dirty="0">
                <a:solidFill>
                  <a:srgbClr val="0E2841"/>
                </a:solidFill>
              </a:rPr>
              <a:t>, </a:t>
            </a:r>
            <a:r>
              <a:rPr lang="en-GB" sz="1800" dirty="0" err="1">
                <a:solidFill>
                  <a:srgbClr val="0E2841"/>
                </a:solidFill>
              </a:rPr>
              <a:t>num_events</a:t>
            </a:r>
            <a:r>
              <a:rPr lang="en-GB" sz="1800" dirty="0">
                <a:solidFill>
                  <a:srgbClr val="0E2841"/>
                </a:solidFill>
              </a:rPr>
              <a:t>, p90, </a:t>
            </a:r>
            <a:r>
              <a:rPr lang="en-GB" sz="1800" dirty="0" err="1">
                <a:solidFill>
                  <a:srgbClr val="0E2841"/>
                </a:solidFill>
              </a:rPr>
              <a:t>hot_tap_active</a:t>
            </a:r>
            <a:r>
              <a:rPr lang="en-GB" sz="1800" dirty="0">
                <a:solidFill>
                  <a:srgbClr val="0E2841"/>
                </a:solidFill>
              </a:rPr>
              <a:t>, </a:t>
            </a:r>
            <a:r>
              <a:rPr lang="en-GB" sz="1800" dirty="0" err="1">
                <a:solidFill>
                  <a:srgbClr val="0E2841"/>
                </a:solidFill>
              </a:rPr>
              <a:t>missing_event_ratio</a:t>
            </a:r>
            <a:r>
              <a:rPr lang="en-GB" sz="1800" dirty="0">
                <a:solidFill>
                  <a:srgbClr val="0E2841"/>
                </a:solidFill>
              </a:rPr>
              <a:t> </a:t>
            </a:r>
            <a:r>
              <a:rPr lang="en-GB" sz="1800" dirty="0" err="1">
                <a:solidFill>
                  <a:srgbClr val="0E2841"/>
                </a:solidFill>
              </a:rPr>
              <a:t>unique_sensor_message_count</a:t>
            </a:r>
            <a:r>
              <a:rPr lang="en-GB" sz="1800" dirty="0">
                <a:solidFill>
                  <a:srgbClr val="0E2841"/>
                </a:solidFill>
              </a:rPr>
              <a:t>.</a:t>
            </a:r>
          </a:p>
        </p:txBody>
      </p:sp>
      <p:sp>
        <p:nvSpPr>
          <p:cNvPr id="14" name="Rectangle: Rounded Corners 2">
            <a:extLst>
              <a:ext uri="{FF2B5EF4-FFF2-40B4-BE49-F238E27FC236}">
                <a16:creationId xmlns:a16="http://schemas.microsoft.com/office/drawing/2014/main" id="{21541EA3-5A2C-24B1-D773-0BD2B1366441}"/>
              </a:ext>
            </a:extLst>
          </p:cNvPr>
          <p:cNvSpPr/>
          <p:nvPr/>
        </p:nvSpPr>
        <p:spPr>
          <a:xfrm>
            <a:off x="6451173" y="1080214"/>
            <a:ext cx="1955360" cy="339687"/>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rgbClr val="0E2841"/>
                </a:solidFill>
              </a:rPr>
              <a:t>Activity Features</a:t>
            </a:r>
            <a:endParaRPr lang="en-US" dirty="0">
              <a:solidFill>
                <a:srgbClr val="0E2841"/>
              </a:solidFill>
            </a:endParaRPr>
          </a:p>
        </p:txBody>
      </p:sp>
      <p:sp>
        <p:nvSpPr>
          <p:cNvPr id="3" name="Content Placeholder 5">
            <a:extLst>
              <a:ext uri="{FF2B5EF4-FFF2-40B4-BE49-F238E27FC236}">
                <a16:creationId xmlns:a16="http://schemas.microsoft.com/office/drawing/2014/main" id="{9AF52F94-E6E2-F43C-EE58-F46978753EF2}"/>
              </a:ext>
            </a:extLst>
          </p:cNvPr>
          <p:cNvSpPr txBox="1">
            <a:spLocks/>
          </p:cNvSpPr>
          <p:nvPr/>
        </p:nvSpPr>
        <p:spPr>
          <a:xfrm>
            <a:off x="570235" y="3003989"/>
            <a:ext cx="5313252" cy="3488885"/>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0" indent="0">
              <a:buNone/>
            </a:pPr>
            <a:r>
              <a:rPr lang="en-GB" sz="1800" dirty="0">
                <a:solidFill>
                  <a:srgbClr val="0E2841"/>
                </a:solidFill>
              </a:rPr>
              <a:t>Feature processing stages (handling noisy analogue sensors):</a:t>
            </a:r>
          </a:p>
          <a:p>
            <a:r>
              <a:rPr lang="en-GB" sz="1800" dirty="0">
                <a:solidFill>
                  <a:srgbClr val="0E2841"/>
                </a:solidFill>
              </a:rPr>
              <a:t>Stage 1: Statistical features based on analogue sensors are created.</a:t>
            </a:r>
          </a:p>
          <a:p>
            <a:pPr marL="285750" indent="-285750">
              <a:buFont typeface="Arial,Sans-Serif" panose="020B0604020202020204" pitchFamily="34" charset="0"/>
            </a:pPr>
            <a:r>
              <a:rPr lang="en-GB" sz="1800" dirty="0">
                <a:solidFill>
                  <a:srgbClr val="0E2841"/>
                </a:solidFill>
              </a:rPr>
              <a:t>Stage 2: Collapse repeated tap readings.</a:t>
            </a:r>
          </a:p>
          <a:p>
            <a:pPr marL="285750" indent="-285750">
              <a:buFont typeface="Arial,Sans-Serif" panose="020B0604020202020204" pitchFamily="34" charset="0"/>
            </a:pPr>
            <a:r>
              <a:rPr lang="en-GB" sz="1800" dirty="0">
                <a:solidFill>
                  <a:srgbClr val="0E2841"/>
                </a:solidFill>
              </a:rPr>
              <a:t>Stage 3: Merge rapid tap interactions.</a:t>
            </a:r>
          </a:p>
          <a:p>
            <a:pPr marL="285750" indent="-285750">
              <a:buFont typeface="Arial,Sans-Serif" panose="020B0604020202020204" pitchFamily="34" charset="0"/>
            </a:pPr>
            <a:r>
              <a:rPr lang="en-GB" sz="1800" dirty="0">
                <a:solidFill>
                  <a:srgbClr val="0E2841"/>
                </a:solidFill>
              </a:rPr>
              <a:t>Stage 4: Convert analogue tap values into directional events.</a:t>
            </a:r>
          </a:p>
          <a:p>
            <a:pPr marL="285750" indent="-285750">
              <a:buFont typeface="Arial,Sans-Serif" panose="020B0604020202020204" pitchFamily="34" charset="0"/>
            </a:pPr>
            <a:r>
              <a:rPr lang="en-GB" sz="1800" dirty="0">
                <a:solidFill>
                  <a:srgbClr val="0E2841"/>
                </a:solidFill>
              </a:rPr>
              <a:t>Stage 5: Remove all analogue signals.</a:t>
            </a:r>
          </a:p>
          <a:p>
            <a:pPr marL="285750" indent="-285750">
              <a:buFont typeface="Arial,Sans-Serif" panose="020B0604020202020204" pitchFamily="34" charset="0"/>
              <a:buChar char="•"/>
            </a:pPr>
            <a:endParaRPr lang="en-GB" sz="1800" dirty="0">
              <a:solidFill>
                <a:schemeClr val="tx2"/>
              </a:solidFill>
            </a:endParaRPr>
          </a:p>
        </p:txBody>
      </p:sp>
      <p:sp>
        <p:nvSpPr>
          <p:cNvPr id="4" name="Rectangle: Rounded Corners 2">
            <a:extLst>
              <a:ext uri="{FF2B5EF4-FFF2-40B4-BE49-F238E27FC236}">
                <a16:creationId xmlns:a16="http://schemas.microsoft.com/office/drawing/2014/main" id="{F9B7F86E-49C4-7C86-5067-6559EEA9144B}"/>
              </a:ext>
            </a:extLst>
          </p:cNvPr>
          <p:cNvSpPr/>
          <p:nvPr/>
        </p:nvSpPr>
        <p:spPr>
          <a:xfrm>
            <a:off x="691235" y="2873914"/>
            <a:ext cx="2880396" cy="339687"/>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Data Preprocessing Stages</a:t>
            </a:r>
            <a:endParaRPr lang="en-US" dirty="0">
              <a:solidFill>
                <a:schemeClr val="tx2"/>
              </a:solidFill>
            </a:endParaRPr>
          </a:p>
        </p:txBody>
      </p:sp>
    </p:spTree>
    <p:extLst>
      <p:ext uri="{BB962C8B-B14F-4D97-AF65-F5344CB8AC3E}">
        <p14:creationId xmlns:p14="http://schemas.microsoft.com/office/powerpoint/2010/main" val="3446209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B0F6F-65C5-98B0-866E-DD5EC24E9D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E8356-47F1-4EB4-DB9A-49D461F320C4}"/>
              </a:ext>
            </a:extLst>
          </p:cNvPr>
          <p:cNvSpPr>
            <a:spLocks noGrp="1"/>
          </p:cNvSpPr>
          <p:nvPr>
            <p:ph type="title"/>
          </p:nvPr>
        </p:nvSpPr>
        <p:spPr>
          <a:xfrm>
            <a:off x="838200" y="365126"/>
            <a:ext cx="10515600" cy="705062"/>
          </a:xfrm>
        </p:spPr>
        <p:txBody>
          <a:bodyPr/>
          <a:lstStyle/>
          <a:p>
            <a:r>
              <a:rPr lang="en-US" dirty="0">
                <a:solidFill>
                  <a:srgbClr val="0E2841"/>
                </a:solidFill>
              </a:rPr>
              <a:t>Per-Activity Anomaly Detection Results</a:t>
            </a:r>
          </a:p>
        </p:txBody>
      </p:sp>
      <p:sp>
        <p:nvSpPr>
          <p:cNvPr id="11" name="Content Placeholder 5">
            <a:extLst>
              <a:ext uri="{FF2B5EF4-FFF2-40B4-BE49-F238E27FC236}">
                <a16:creationId xmlns:a16="http://schemas.microsoft.com/office/drawing/2014/main" id="{7F84B0CD-7E0C-5E20-ECC5-BB19842D07E8}"/>
              </a:ext>
            </a:extLst>
          </p:cNvPr>
          <p:cNvSpPr txBox="1">
            <a:spLocks/>
          </p:cNvSpPr>
          <p:nvPr/>
        </p:nvSpPr>
        <p:spPr>
          <a:xfrm>
            <a:off x="558801" y="1234001"/>
            <a:ext cx="5537199" cy="2564275"/>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0" indent="0">
              <a:buNone/>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p:txBody>
      </p:sp>
      <p:sp>
        <p:nvSpPr>
          <p:cNvPr id="12" name="Rectangle: Rounded Corners 2">
            <a:extLst>
              <a:ext uri="{FF2B5EF4-FFF2-40B4-BE49-F238E27FC236}">
                <a16:creationId xmlns:a16="http://schemas.microsoft.com/office/drawing/2014/main" id="{EFCF0FE7-4CA3-1644-276C-15E41BFFE823}"/>
              </a:ext>
            </a:extLst>
          </p:cNvPr>
          <p:cNvSpPr/>
          <p:nvPr/>
        </p:nvSpPr>
        <p:spPr>
          <a:xfrm>
            <a:off x="691236" y="1070188"/>
            <a:ext cx="2194204" cy="299048"/>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Isolation Forest</a:t>
            </a:r>
            <a:endParaRPr lang="en-US" dirty="0">
              <a:solidFill>
                <a:schemeClr val="tx2"/>
              </a:solidFill>
            </a:endParaRPr>
          </a:p>
        </p:txBody>
      </p:sp>
      <p:sp>
        <p:nvSpPr>
          <p:cNvPr id="5" name="Content Placeholder 5">
            <a:extLst>
              <a:ext uri="{FF2B5EF4-FFF2-40B4-BE49-F238E27FC236}">
                <a16:creationId xmlns:a16="http://schemas.microsoft.com/office/drawing/2014/main" id="{3683F3BC-5A4A-FDE5-9D4C-D464FCABB871}"/>
              </a:ext>
            </a:extLst>
          </p:cNvPr>
          <p:cNvSpPr txBox="1">
            <a:spLocks/>
          </p:cNvSpPr>
          <p:nvPr/>
        </p:nvSpPr>
        <p:spPr>
          <a:xfrm>
            <a:off x="6228435" y="1230447"/>
            <a:ext cx="5537199" cy="2564275"/>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0" indent="0">
              <a:buNone/>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p:txBody>
      </p:sp>
      <p:sp>
        <p:nvSpPr>
          <p:cNvPr id="6" name="Rectangle: Rounded Corners 2">
            <a:extLst>
              <a:ext uri="{FF2B5EF4-FFF2-40B4-BE49-F238E27FC236}">
                <a16:creationId xmlns:a16="http://schemas.microsoft.com/office/drawing/2014/main" id="{08D2FCD4-CD7A-DAFB-A0A6-D86C623FE8A0}"/>
              </a:ext>
            </a:extLst>
          </p:cNvPr>
          <p:cNvSpPr/>
          <p:nvPr/>
        </p:nvSpPr>
        <p:spPr>
          <a:xfrm>
            <a:off x="6358953" y="1119189"/>
            <a:ext cx="1057847" cy="299048"/>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OCSVM</a:t>
            </a:r>
            <a:endParaRPr lang="en-US" dirty="0">
              <a:solidFill>
                <a:schemeClr val="tx2"/>
              </a:solidFill>
            </a:endParaRPr>
          </a:p>
        </p:txBody>
      </p:sp>
      <p:graphicFrame>
        <p:nvGraphicFramePr>
          <p:cNvPr id="3" name="Table 2">
            <a:extLst>
              <a:ext uri="{FF2B5EF4-FFF2-40B4-BE49-F238E27FC236}">
                <a16:creationId xmlns:a16="http://schemas.microsoft.com/office/drawing/2014/main" id="{459A2890-2D29-7D05-21B6-843DEE62DF54}"/>
              </a:ext>
            </a:extLst>
          </p:cNvPr>
          <p:cNvGraphicFramePr>
            <a:graphicFrameLocks noGrp="1"/>
          </p:cNvGraphicFramePr>
          <p:nvPr>
            <p:extLst>
              <p:ext uri="{D42A27DB-BD31-4B8C-83A1-F6EECF244321}">
                <p14:modId xmlns:p14="http://schemas.microsoft.com/office/powerpoint/2010/main" val="1150601381"/>
              </p:ext>
            </p:extLst>
          </p:nvPr>
        </p:nvGraphicFramePr>
        <p:xfrm>
          <a:off x="585195" y="1367956"/>
          <a:ext cx="5456100" cy="2346960"/>
        </p:xfrm>
        <a:graphic>
          <a:graphicData uri="http://schemas.openxmlformats.org/drawingml/2006/table">
            <a:tbl>
              <a:tblPr/>
              <a:tblGrid>
                <a:gridCol w="909350">
                  <a:extLst>
                    <a:ext uri="{9D8B030D-6E8A-4147-A177-3AD203B41FA5}">
                      <a16:colId xmlns:a16="http://schemas.microsoft.com/office/drawing/2014/main" val="271743694"/>
                    </a:ext>
                  </a:extLst>
                </a:gridCol>
                <a:gridCol w="998563">
                  <a:extLst>
                    <a:ext uri="{9D8B030D-6E8A-4147-A177-3AD203B41FA5}">
                      <a16:colId xmlns:a16="http://schemas.microsoft.com/office/drawing/2014/main" val="307696237"/>
                    </a:ext>
                  </a:extLst>
                </a:gridCol>
                <a:gridCol w="1086338">
                  <a:extLst>
                    <a:ext uri="{9D8B030D-6E8A-4147-A177-3AD203B41FA5}">
                      <a16:colId xmlns:a16="http://schemas.microsoft.com/office/drawing/2014/main" val="140857909"/>
                    </a:ext>
                  </a:extLst>
                </a:gridCol>
                <a:gridCol w="750277">
                  <a:extLst>
                    <a:ext uri="{9D8B030D-6E8A-4147-A177-3AD203B41FA5}">
                      <a16:colId xmlns:a16="http://schemas.microsoft.com/office/drawing/2014/main" val="4249621320"/>
                    </a:ext>
                  </a:extLst>
                </a:gridCol>
                <a:gridCol w="1086339">
                  <a:extLst>
                    <a:ext uri="{9D8B030D-6E8A-4147-A177-3AD203B41FA5}">
                      <a16:colId xmlns:a16="http://schemas.microsoft.com/office/drawing/2014/main" val="672623352"/>
                    </a:ext>
                  </a:extLst>
                </a:gridCol>
                <a:gridCol w="625233">
                  <a:extLst>
                    <a:ext uri="{9D8B030D-6E8A-4147-A177-3AD203B41FA5}">
                      <a16:colId xmlns:a16="http://schemas.microsoft.com/office/drawing/2014/main" val="1854619285"/>
                    </a:ext>
                  </a:extLst>
                </a:gridCol>
              </a:tblGrid>
              <a:tr h="0">
                <a:tc>
                  <a:txBody>
                    <a:bodyPr/>
                    <a:lstStyle/>
                    <a:p>
                      <a:pPr>
                        <a:buNone/>
                      </a:pPr>
                      <a:r>
                        <a:rPr lang="en-GB" sz="1600" dirty="0">
                          <a:solidFill>
                            <a:srgbClr val="0E2841"/>
                          </a:solidFill>
                        </a:rPr>
                        <a:t>Activity</a:t>
                      </a:r>
                    </a:p>
                  </a:txBody>
                  <a:tcPr anchor="ctr">
                    <a:lnL>
                      <a:noFill/>
                    </a:lnL>
                    <a:lnR>
                      <a:noFill/>
                    </a:lnR>
                    <a:lnT>
                      <a:noFill/>
                    </a:lnT>
                    <a:lnB>
                      <a:noFill/>
                    </a:lnB>
                    <a:noFill/>
                  </a:tcPr>
                </a:tc>
                <a:tc>
                  <a:txBody>
                    <a:bodyPr/>
                    <a:lstStyle/>
                    <a:p>
                      <a:pPr>
                        <a:buNone/>
                      </a:pPr>
                      <a:r>
                        <a:rPr lang="en-GB" sz="1600" dirty="0">
                          <a:solidFill>
                            <a:srgbClr val="0E2841"/>
                          </a:solidFill>
                        </a:rPr>
                        <a:t>Accuracy</a:t>
                      </a:r>
                    </a:p>
                  </a:txBody>
                  <a:tcPr anchor="ctr">
                    <a:lnL>
                      <a:noFill/>
                    </a:lnL>
                    <a:lnR>
                      <a:noFill/>
                    </a:lnR>
                    <a:lnT>
                      <a:noFill/>
                    </a:lnT>
                    <a:lnB>
                      <a:noFill/>
                    </a:lnB>
                    <a:noFill/>
                  </a:tcPr>
                </a:tc>
                <a:tc>
                  <a:txBody>
                    <a:bodyPr/>
                    <a:lstStyle/>
                    <a:p>
                      <a:pPr>
                        <a:buNone/>
                      </a:pPr>
                      <a:r>
                        <a:rPr lang="en-GB" sz="1600">
                          <a:solidFill>
                            <a:srgbClr val="0E2841"/>
                          </a:solidFill>
                        </a:rPr>
                        <a:t>Recall</a:t>
                      </a:r>
                    </a:p>
                  </a:txBody>
                  <a:tcPr anchor="ctr">
                    <a:lnL>
                      <a:noFill/>
                    </a:lnL>
                    <a:lnR>
                      <a:noFill/>
                    </a:lnR>
                    <a:lnT>
                      <a:noFill/>
                    </a:lnT>
                    <a:lnB>
                      <a:noFill/>
                    </a:lnB>
                    <a:noFill/>
                  </a:tcPr>
                </a:tc>
                <a:tc>
                  <a:txBody>
                    <a:bodyPr/>
                    <a:lstStyle/>
                    <a:p>
                      <a:pPr>
                        <a:buNone/>
                      </a:pPr>
                      <a:r>
                        <a:rPr lang="en-GB" sz="1600" dirty="0">
                          <a:solidFill>
                            <a:srgbClr val="0E2841"/>
                          </a:solidFill>
                        </a:rPr>
                        <a:t>FPR</a:t>
                      </a:r>
                    </a:p>
                  </a:txBody>
                  <a:tcPr anchor="ctr">
                    <a:lnL>
                      <a:noFill/>
                    </a:lnL>
                    <a:lnR>
                      <a:noFill/>
                    </a:lnR>
                    <a:lnT>
                      <a:noFill/>
                    </a:lnT>
                    <a:lnB>
                      <a:noFill/>
                    </a:lnB>
                    <a:noFill/>
                  </a:tcPr>
                </a:tc>
                <a:tc>
                  <a:txBody>
                    <a:bodyPr/>
                    <a:lstStyle/>
                    <a:p>
                      <a:pPr>
                        <a:buNone/>
                      </a:pPr>
                      <a:r>
                        <a:rPr lang="en-GB" sz="1600" dirty="0">
                          <a:solidFill>
                            <a:srgbClr val="0E2841"/>
                          </a:solidFill>
                        </a:rPr>
                        <a:t>Precision</a:t>
                      </a:r>
                    </a:p>
                  </a:txBody>
                  <a:tcPr anchor="ctr">
                    <a:lnL>
                      <a:noFill/>
                    </a:lnL>
                    <a:lnR>
                      <a:noFill/>
                    </a:lnR>
                    <a:lnT>
                      <a:noFill/>
                    </a:lnT>
                    <a:lnB>
                      <a:noFill/>
                    </a:lnB>
                    <a:noFill/>
                  </a:tcPr>
                </a:tc>
                <a:tc>
                  <a:txBody>
                    <a:bodyPr/>
                    <a:lstStyle/>
                    <a:p>
                      <a:pPr>
                        <a:buNone/>
                      </a:pPr>
                      <a:r>
                        <a:rPr lang="en-GB" sz="1600" dirty="0">
                          <a:solidFill>
                            <a:srgbClr val="0E2841"/>
                          </a:solidFill>
                        </a:rPr>
                        <a:t>F1</a:t>
                      </a:r>
                    </a:p>
                  </a:txBody>
                  <a:tcPr anchor="ctr">
                    <a:lnL>
                      <a:noFill/>
                    </a:lnL>
                    <a:lnR>
                      <a:noFill/>
                    </a:lnR>
                    <a:lnT>
                      <a:noFill/>
                    </a:lnT>
                    <a:lnB>
                      <a:noFill/>
                    </a:lnB>
                    <a:noFill/>
                  </a:tcPr>
                </a:tc>
                <a:extLst>
                  <a:ext uri="{0D108BD9-81ED-4DB2-BD59-A6C34878D82A}">
                    <a16:rowId xmlns:a16="http://schemas.microsoft.com/office/drawing/2014/main" val="1296700305"/>
                  </a:ext>
                </a:extLst>
              </a:tr>
              <a:tr h="0">
                <a:tc>
                  <a:txBody>
                    <a:bodyPr/>
                    <a:lstStyle/>
                    <a:p>
                      <a:pPr>
                        <a:buNone/>
                      </a:pPr>
                      <a:r>
                        <a:rPr lang="en-GB" sz="1600">
                          <a:solidFill>
                            <a:srgbClr val="0E2841"/>
                          </a:solidFill>
                        </a:rPr>
                        <a:t>T1</a:t>
                      </a:r>
                    </a:p>
                  </a:txBody>
                  <a:tcPr anchor="ctr">
                    <a:lnL>
                      <a:noFill/>
                    </a:lnL>
                    <a:lnR>
                      <a:noFill/>
                    </a:lnR>
                    <a:lnT>
                      <a:noFill/>
                    </a:lnT>
                    <a:lnB>
                      <a:noFill/>
                    </a:lnB>
                    <a:noFill/>
                  </a:tcPr>
                </a:tc>
                <a:tc>
                  <a:txBody>
                    <a:bodyPr/>
                    <a:lstStyle/>
                    <a:p>
                      <a:pPr>
                        <a:buNone/>
                      </a:pPr>
                      <a:r>
                        <a:rPr lang="en-GB" sz="1600" dirty="0">
                          <a:solidFill>
                            <a:srgbClr val="0E2841"/>
                          </a:solidFill>
                        </a:rPr>
                        <a:t>0.73</a:t>
                      </a:r>
                    </a:p>
                  </a:txBody>
                  <a:tcPr anchor="ctr">
                    <a:lnL>
                      <a:noFill/>
                    </a:lnL>
                    <a:lnR>
                      <a:noFill/>
                    </a:lnR>
                    <a:lnT>
                      <a:noFill/>
                    </a:lnT>
                    <a:lnB>
                      <a:noFill/>
                    </a:lnB>
                    <a:solidFill>
                      <a:srgbClr val="C3DACA"/>
                    </a:solidFill>
                  </a:tcPr>
                </a:tc>
                <a:tc>
                  <a:txBody>
                    <a:bodyPr/>
                    <a:lstStyle/>
                    <a:p>
                      <a:pPr>
                        <a:buNone/>
                      </a:pPr>
                      <a:r>
                        <a:rPr lang="en-GB" sz="1600" dirty="0">
                          <a:solidFill>
                            <a:srgbClr val="0E2841"/>
                          </a:solidFill>
                        </a:rPr>
                        <a:t>0.70</a:t>
                      </a:r>
                    </a:p>
                  </a:txBody>
                  <a:tcPr anchor="ctr">
                    <a:lnL>
                      <a:noFill/>
                    </a:lnL>
                    <a:lnR>
                      <a:noFill/>
                    </a:lnR>
                    <a:lnT>
                      <a:noFill/>
                    </a:lnT>
                    <a:lnB>
                      <a:noFill/>
                    </a:lnB>
                    <a:solidFill>
                      <a:srgbClr val="C3DACA"/>
                    </a:solidFill>
                  </a:tcPr>
                </a:tc>
                <a:tc>
                  <a:txBody>
                    <a:bodyPr/>
                    <a:lstStyle/>
                    <a:p>
                      <a:pPr>
                        <a:buNone/>
                      </a:pPr>
                      <a:r>
                        <a:rPr lang="en-GB" sz="1600">
                          <a:solidFill>
                            <a:srgbClr val="0E2841"/>
                          </a:solidFill>
                        </a:rPr>
                        <a:t>0.25</a:t>
                      </a:r>
                    </a:p>
                  </a:txBody>
                  <a:tcPr anchor="ctr">
                    <a:lnL>
                      <a:noFill/>
                    </a:lnL>
                    <a:lnR>
                      <a:noFill/>
                    </a:lnR>
                    <a:lnT>
                      <a:noFill/>
                    </a:lnT>
                    <a:lnB>
                      <a:noFill/>
                    </a:lnB>
                    <a:noFill/>
                  </a:tcPr>
                </a:tc>
                <a:tc>
                  <a:txBody>
                    <a:bodyPr/>
                    <a:lstStyle/>
                    <a:p>
                      <a:pPr>
                        <a:buNone/>
                      </a:pPr>
                      <a:r>
                        <a:rPr lang="en-GB" sz="1600">
                          <a:solidFill>
                            <a:srgbClr val="0E2841"/>
                          </a:solidFill>
                        </a:rPr>
                        <a:t>0.70</a:t>
                      </a:r>
                    </a:p>
                  </a:txBody>
                  <a:tcPr anchor="ctr">
                    <a:lnL>
                      <a:noFill/>
                    </a:lnL>
                    <a:lnR>
                      <a:noFill/>
                    </a:lnR>
                    <a:lnT>
                      <a:noFill/>
                    </a:lnT>
                    <a:lnB>
                      <a:noFill/>
                    </a:lnB>
                    <a:noFill/>
                  </a:tcPr>
                </a:tc>
                <a:tc>
                  <a:txBody>
                    <a:bodyPr/>
                    <a:lstStyle/>
                    <a:p>
                      <a:pPr>
                        <a:buNone/>
                      </a:pPr>
                      <a:r>
                        <a:rPr lang="en-GB" sz="1600" dirty="0">
                          <a:solidFill>
                            <a:srgbClr val="0E2841"/>
                          </a:solidFill>
                        </a:rPr>
                        <a:t>0.70</a:t>
                      </a:r>
                    </a:p>
                  </a:txBody>
                  <a:tcPr anchor="ctr">
                    <a:lnL>
                      <a:noFill/>
                    </a:lnL>
                    <a:lnR>
                      <a:noFill/>
                    </a:lnR>
                    <a:lnT>
                      <a:noFill/>
                    </a:lnT>
                    <a:lnB>
                      <a:noFill/>
                    </a:lnB>
                    <a:noFill/>
                  </a:tcPr>
                </a:tc>
                <a:extLst>
                  <a:ext uri="{0D108BD9-81ED-4DB2-BD59-A6C34878D82A}">
                    <a16:rowId xmlns:a16="http://schemas.microsoft.com/office/drawing/2014/main" val="1477382274"/>
                  </a:ext>
                </a:extLst>
              </a:tr>
              <a:tr h="0">
                <a:tc>
                  <a:txBody>
                    <a:bodyPr/>
                    <a:lstStyle/>
                    <a:p>
                      <a:pPr>
                        <a:buNone/>
                      </a:pPr>
                      <a:r>
                        <a:rPr lang="en-GB" sz="1600">
                          <a:solidFill>
                            <a:srgbClr val="0E2841"/>
                          </a:solidFill>
                        </a:rPr>
                        <a:t>T2</a:t>
                      </a:r>
                    </a:p>
                  </a:txBody>
                  <a:tcPr anchor="ctr">
                    <a:lnL>
                      <a:noFill/>
                    </a:lnL>
                    <a:lnR>
                      <a:noFill/>
                    </a:lnR>
                    <a:lnT>
                      <a:noFill/>
                    </a:lnT>
                    <a:lnB>
                      <a:noFill/>
                    </a:lnB>
                    <a:noFill/>
                  </a:tcPr>
                </a:tc>
                <a:tc>
                  <a:txBody>
                    <a:bodyPr/>
                    <a:lstStyle/>
                    <a:p>
                      <a:pPr>
                        <a:buNone/>
                      </a:pPr>
                      <a:r>
                        <a:rPr lang="en-GB" sz="1600">
                          <a:solidFill>
                            <a:srgbClr val="0E2841"/>
                          </a:solidFill>
                        </a:rPr>
                        <a:t>0.75</a:t>
                      </a:r>
                    </a:p>
                  </a:txBody>
                  <a:tcPr anchor="ctr">
                    <a:lnL>
                      <a:noFill/>
                    </a:lnL>
                    <a:lnR>
                      <a:noFill/>
                    </a:lnR>
                    <a:lnT>
                      <a:noFill/>
                    </a:lnT>
                    <a:lnB>
                      <a:noFill/>
                    </a:lnB>
                    <a:noFill/>
                  </a:tcPr>
                </a:tc>
                <a:tc>
                  <a:txBody>
                    <a:bodyPr/>
                    <a:lstStyle/>
                    <a:p>
                      <a:pPr>
                        <a:buNone/>
                      </a:pPr>
                      <a:r>
                        <a:rPr lang="en-GB" sz="1600">
                          <a:solidFill>
                            <a:srgbClr val="0E2841"/>
                          </a:solidFill>
                        </a:rPr>
                        <a:t>0.75</a:t>
                      </a:r>
                    </a:p>
                  </a:txBody>
                  <a:tcPr anchor="ctr">
                    <a:lnL>
                      <a:noFill/>
                    </a:lnL>
                    <a:lnR>
                      <a:noFill/>
                    </a:lnR>
                    <a:lnT>
                      <a:noFill/>
                    </a:lnT>
                    <a:lnB>
                      <a:noFill/>
                    </a:lnB>
                    <a:noFill/>
                  </a:tcPr>
                </a:tc>
                <a:tc>
                  <a:txBody>
                    <a:bodyPr/>
                    <a:lstStyle/>
                    <a:p>
                      <a:pPr>
                        <a:buNone/>
                      </a:pPr>
                      <a:r>
                        <a:rPr lang="en-GB" sz="1600">
                          <a:solidFill>
                            <a:srgbClr val="0E2841"/>
                          </a:solidFill>
                        </a:rPr>
                        <a:t>0.25</a:t>
                      </a:r>
                    </a:p>
                  </a:txBody>
                  <a:tcPr anchor="ctr">
                    <a:lnL>
                      <a:noFill/>
                    </a:lnL>
                    <a:lnR>
                      <a:noFill/>
                    </a:lnR>
                    <a:lnT>
                      <a:noFill/>
                    </a:lnT>
                    <a:lnB>
                      <a:noFill/>
                    </a:lnB>
                    <a:noFill/>
                  </a:tcPr>
                </a:tc>
                <a:tc>
                  <a:txBody>
                    <a:bodyPr/>
                    <a:lstStyle/>
                    <a:p>
                      <a:pPr>
                        <a:buNone/>
                      </a:pPr>
                      <a:r>
                        <a:rPr lang="en-GB" sz="1600">
                          <a:solidFill>
                            <a:srgbClr val="0E2841"/>
                          </a:solidFill>
                        </a:rPr>
                        <a:t>0.71</a:t>
                      </a:r>
                    </a:p>
                  </a:txBody>
                  <a:tcPr anchor="ctr">
                    <a:lnL>
                      <a:noFill/>
                    </a:lnL>
                    <a:lnR>
                      <a:noFill/>
                    </a:lnR>
                    <a:lnT>
                      <a:noFill/>
                    </a:lnT>
                    <a:lnB>
                      <a:noFill/>
                    </a:lnB>
                    <a:noFill/>
                  </a:tcPr>
                </a:tc>
                <a:tc>
                  <a:txBody>
                    <a:bodyPr/>
                    <a:lstStyle/>
                    <a:p>
                      <a:pPr>
                        <a:buNone/>
                      </a:pPr>
                      <a:r>
                        <a:rPr lang="en-GB" sz="1600">
                          <a:solidFill>
                            <a:srgbClr val="0E2841"/>
                          </a:solidFill>
                        </a:rPr>
                        <a:t>0.73</a:t>
                      </a:r>
                    </a:p>
                  </a:txBody>
                  <a:tcPr anchor="ctr">
                    <a:lnL>
                      <a:noFill/>
                    </a:lnL>
                    <a:lnR>
                      <a:noFill/>
                    </a:lnR>
                    <a:lnT>
                      <a:noFill/>
                    </a:lnT>
                    <a:lnB>
                      <a:noFill/>
                    </a:lnB>
                    <a:noFill/>
                  </a:tcPr>
                </a:tc>
                <a:extLst>
                  <a:ext uri="{0D108BD9-81ED-4DB2-BD59-A6C34878D82A}">
                    <a16:rowId xmlns:a16="http://schemas.microsoft.com/office/drawing/2014/main" val="1519094308"/>
                  </a:ext>
                </a:extLst>
              </a:tr>
              <a:tr h="0">
                <a:tc>
                  <a:txBody>
                    <a:bodyPr/>
                    <a:lstStyle/>
                    <a:p>
                      <a:pPr>
                        <a:buNone/>
                      </a:pPr>
                      <a:r>
                        <a:rPr lang="en-GB" sz="1600">
                          <a:solidFill>
                            <a:srgbClr val="0E2841"/>
                          </a:solidFill>
                        </a:rPr>
                        <a:t>T3</a:t>
                      </a:r>
                    </a:p>
                  </a:txBody>
                  <a:tcPr anchor="ctr">
                    <a:lnL>
                      <a:noFill/>
                    </a:lnL>
                    <a:lnR>
                      <a:noFill/>
                    </a:lnR>
                    <a:lnT>
                      <a:noFill/>
                    </a:lnT>
                    <a:lnB>
                      <a:noFill/>
                    </a:lnB>
                    <a:noFill/>
                  </a:tcPr>
                </a:tc>
                <a:tc>
                  <a:txBody>
                    <a:bodyPr/>
                    <a:lstStyle/>
                    <a:p>
                      <a:pPr>
                        <a:buNone/>
                      </a:pPr>
                      <a:r>
                        <a:rPr lang="en-GB" sz="1600">
                          <a:solidFill>
                            <a:srgbClr val="0E2841"/>
                          </a:solidFill>
                        </a:rPr>
                        <a:t>0.95</a:t>
                      </a:r>
                    </a:p>
                  </a:txBody>
                  <a:tcPr anchor="ctr">
                    <a:lnL>
                      <a:noFill/>
                    </a:lnL>
                    <a:lnR>
                      <a:noFill/>
                    </a:lnR>
                    <a:lnT>
                      <a:noFill/>
                    </a:lnT>
                    <a:lnB>
                      <a:noFill/>
                    </a:lnB>
                    <a:noFill/>
                  </a:tcPr>
                </a:tc>
                <a:tc>
                  <a:txBody>
                    <a:bodyPr/>
                    <a:lstStyle/>
                    <a:p>
                      <a:pPr>
                        <a:buNone/>
                      </a:pPr>
                      <a:r>
                        <a:rPr lang="en-GB" sz="1600">
                          <a:solidFill>
                            <a:srgbClr val="0E2841"/>
                          </a:solidFill>
                        </a:rPr>
                        <a:t>0.95</a:t>
                      </a:r>
                    </a:p>
                  </a:txBody>
                  <a:tcPr anchor="ctr">
                    <a:lnL>
                      <a:noFill/>
                    </a:lnL>
                    <a:lnR>
                      <a:noFill/>
                    </a:lnR>
                    <a:lnT>
                      <a:noFill/>
                    </a:lnT>
                    <a:lnB>
                      <a:noFill/>
                    </a:lnB>
                    <a:noFill/>
                  </a:tcPr>
                </a:tc>
                <a:tc>
                  <a:txBody>
                    <a:bodyPr/>
                    <a:lstStyle/>
                    <a:p>
                      <a:pPr>
                        <a:buNone/>
                      </a:pPr>
                      <a:r>
                        <a:rPr lang="en-GB" sz="1600">
                          <a:solidFill>
                            <a:srgbClr val="0E2841"/>
                          </a:solidFill>
                        </a:rPr>
                        <a:t>0.04</a:t>
                      </a:r>
                    </a:p>
                  </a:txBody>
                  <a:tcPr anchor="ctr">
                    <a:lnL>
                      <a:noFill/>
                    </a:lnL>
                    <a:lnR>
                      <a:noFill/>
                    </a:lnR>
                    <a:lnT>
                      <a:noFill/>
                    </a:lnT>
                    <a:lnB>
                      <a:noFill/>
                    </a:lnB>
                    <a:noFill/>
                  </a:tcPr>
                </a:tc>
                <a:tc>
                  <a:txBody>
                    <a:bodyPr/>
                    <a:lstStyle/>
                    <a:p>
                      <a:pPr>
                        <a:buNone/>
                      </a:pPr>
                      <a:r>
                        <a:rPr lang="en-GB" sz="1600">
                          <a:solidFill>
                            <a:srgbClr val="0E2841"/>
                          </a:solidFill>
                        </a:rPr>
                        <a:t>0.95</a:t>
                      </a:r>
                    </a:p>
                  </a:txBody>
                  <a:tcPr anchor="ctr">
                    <a:lnL>
                      <a:noFill/>
                    </a:lnL>
                    <a:lnR>
                      <a:noFill/>
                    </a:lnR>
                    <a:lnT>
                      <a:noFill/>
                    </a:lnT>
                    <a:lnB>
                      <a:noFill/>
                    </a:lnB>
                    <a:noFill/>
                  </a:tcPr>
                </a:tc>
                <a:tc>
                  <a:txBody>
                    <a:bodyPr/>
                    <a:lstStyle/>
                    <a:p>
                      <a:pPr>
                        <a:buNone/>
                      </a:pPr>
                      <a:r>
                        <a:rPr lang="en-GB" sz="1600">
                          <a:solidFill>
                            <a:srgbClr val="0E2841"/>
                          </a:solidFill>
                        </a:rPr>
                        <a:t>0.95</a:t>
                      </a:r>
                    </a:p>
                  </a:txBody>
                  <a:tcPr anchor="ctr">
                    <a:lnL>
                      <a:noFill/>
                    </a:lnL>
                    <a:lnR>
                      <a:noFill/>
                    </a:lnR>
                    <a:lnT>
                      <a:noFill/>
                    </a:lnT>
                    <a:lnB>
                      <a:noFill/>
                    </a:lnB>
                    <a:noFill/>
                  </a:tcPr>
                </a:tc>
                <a:extLst>
                  <a:ext uri="{0D108BD9-81ED-4DB2-BD59-A6C34878D82A}">
                    <a16:rowId xmlns:a16="http://schemas.microsoft.com/office/drawing/2014/main" val="2473447036"/>
                  </a:ext>
                </a:extLst>
              </a:tr>
              <a:tr h="0">
                <a:tc>
                  <a:txBody>
                    <a:bodyPr/>
                    <a:lstStyle/>
                    <a:p>
                      <a:pPr>
                        <a:buNone/>
                      </a:pPr>
                      <a:r>
                        <a:rPr lang="en-GB" sz="1600">
                          <a:solidFill>
                            <a:srgbClr val="0E2841"/>
                          </a:solidFill>
                        </a:rPr>
                        <a:t>T4</a:t>
                      </a:r>
                    </a:p>
                  </a:txBody>
                  <a:tcPr anchor="ctr">
                    <a:lnL>
                      <a:noFill/>
                    </a:lnL>
                    <a:lnR>
                      <a:noFill/>
                    </a:lnR>
                    <a:lnT>
                      <a:noFill/>
                    </a:lnT>
                    <a:lnB>
                      <a:noFill/>
                    </a:lnB>
                    <a:noFill/>
                  </a:tcPr>
                </a:tc>
                <a:tc>
                  <a:txBody>
                    <a:bodyPr/>
                    <a:lstStyle/>
                    <a:p>
                      <a:pPr>
                        <a:buNone/>
                      </a:pPr>
                      <a:r>
                        <a:rPr lang="en-GB" sz="1600" dirty="0">
                          <a:solidFill>
                            <a:srgbClr val="0E2841"/>
                          </a:solidFill>
                        </a:rPr>
                        <a:t>0.95</a:t>
                      </a:r>
                    </a:p>
                  </a:txBody>
                  <a:tcPr anchor="ctr">
                    <a:lnL>
                      <a:noFill/>
                    </a:lnL>
                    <a:lnR>
                      <a:noFill/>
                    </a:lnR>
                    <a:lnT>
                      <a:noFill/>
                    </a:lnT>
                    <a:lnB>
                      <a:noFill/>
                    </a:lnB>
                    <a:solidFill>
                      <a:srgbClr val="C3DACA"/>
                    </a:solidFill>
                  </a:tcPr>
                </a:tc>
                <a:tc>
                  <a:txBody>
                    <a:bodyPr/>
                    <a:lstStyle/>
                    <a:p>
                      <a:pPr>
                        <a:buNone/>
                      </a:pPr>
                      <a:r>
                        <a:rPr lang="en-GB" sz="1600" dirty="0">
                          <a:solidFill>
                            <a:srgbClr val="0E2841"/>
                          </a:solidFill>
                        </a:rPr>
                        <a:t>0.95</a:t>
                      </a:r>
                    </a:p>
                  </a:txBody>
                  <a:tcPr anchor="ctr">
                    <a:lnL>
                      <a:noFill/>
                    </a:lnL>
                    <a:lnR>
                      <a:noFill/>
                    </a:lnR>
                    <a:lnT>
                      <a:noFill/>
                    </a:lnT>
                    <a:lnB>
                      <a:noFill/>
                    </a:lnB>
                    <a:solidFill>
                      <a:srgbClr val="C3DACA"/>
                    </a:solidFill>
                  </a:tcPr>
                </a:tc>
                <a:tc>
                  <a:txBody>
                    <a:bodyPr/>
                    <a:lstStyle/>
                    <a:p>
                      <a:pPr>
                        <a:buNone/>
                      </a:pPr>
                      <a:r>
                        <a:rPr lang="en-GB" sz="1600" dirty="0">
                          <a:solidFill>
                            <a:srgbClr val="0E2841"/>
                          </a:solidFill>
                        </a:rPr>
                        <a:t>0.04</a:t>
                      </a:r>
                    </a:p>
                  </a:txBody>
                  <a:tcPr anchor="ctr">
                    <a:lnL>
                      <a:noFill/>
                    </a:lnL>
                    <a:lnR>
                      <a:noFill/>
                    </a:lnR>
                    <a:lnT>
                      <a:noFill/>
                    </a:lnT>
                    <a:lnB>
                      <a:noFill/>
                    </a:lnB>
                    <a:noFill/>
                  </a:tcPr>
                </a:tc>
                <a:tc>
                  <a:txBody>
                    <a:bodyPr/>
                    <a:lstStyle/>
                    <a:p>
                      <a:pPr>
                        <a:buNone/>
                      </a:pPr>
                      <a:r>
                        <a:rPr lang="en-GB" sz="1600">
                          <a:solidFill>
                            <a:srgbClr val="0E2841"/>
                          </a:solidFill>
                        </a:rPr>
                        <a:t>0.95</a:t>
                      </a:r>
                    </a:p>
                  </a:txBody>
                  <a:tcPr anchor="ctr">
                    <a:lnL>
                      <a:noFill/>
                    </a:lnL>
                    <a:lnR>
                      <a:noFill/>
                    </a:lnR>
                    <a:lnT>
                      <a:noFill/>
                    </a:lnT>
                    <a:lnB>
                      <a:noFill/>
                    </a:lnB>
                    <a:noFill/>
                  </a:tcPr>
                </a:tc>
                <a:tc>
                  <a:txBody>
                    <a:bodyPr/>
                    <a:lstStyle/>
                    <a:p>
                      <a:pPr>
                        <a:buNone/>
                      </a:pPr>
                      <a:r>
                        <a:rPr lang="en-GB" sz="1600">
                          <a:solidFill>
                            <a:srgbClr val="0E2841"/>
                          </a:solidFill>
                        </a:rPr>
                        <a:t>0.95</a:t>
                      </a:r>
                    </a:p>
                  </a:txBody>
                  <a:tcPr anchor="ctr">
                    <a:lnL>
                      <a:noFill/>
                    </a:lnL>
                    <a:lnR>
                      <a:noFill/>
                    </a:lnR>
                    <a:lnT>
                      <a:noFill/>
                    </a:lnT>
                    <a:lnB>
                      <a:noFill/>
                    </a:lnB>
                    <a:noFill/>
                  </a:tcPr>
                </a:tc>
                <a:extLst>
                  <a:ext uri="{0D108BD9-81ED-4DB2-BD59-A6C34878D82A}">
                    <a16:rowId xmlns:a16="http://schemas.microsoft.com/office/drawing/2014/main" val="819725802"/>
                  </a:ext>
                </a:extLst>
              </a:tr>
              <a:tr h="0">
                <a:tc>
                  <a:txBody>
                    <a:bodyPr/>
                    <a:lstStyle/>
                    <a:p>
                      <a:pPr>
                        <a:buNone/>
                      </a:pPr>
                      <a:r>
                        <a:rPr lang="en-GB" sz="1600">
                          <a:solidFill>
                            <a:srgbClr val="0E2841"/>
                          </a:solidFill>
                        </a:rPr>
                        <a:t>T5</a:t>
                      </a:r>
                    </a:p>
                  </a:txBody>
                  <a:tcPr anchor="ctr">
                    <a:lnL>
                      <a:noFill/>
                    </a:lnL>
                    <a:lnR>
                      <a:noFill/>
                    </a:lnR>
                    <a:lnT>
                      <a:noFill/>
                    </a:lnT>
                    <a:lnB>
                      <a:noFill/>
                    </a:lnB>
                    <a:noFill/>
                  </a:tcPr>
                </a:tc>
                <a:tc>
                  <a:txBody>
                    <a:bodyPr/>
                    <a:lstStyle/>
                    <a:p>
                      <a:pPr>
                        <a:buNone/>
                      </a:pPr>
                      <a:r>
                        <a:rPr lang="en-GB" sz="1600">
                          <a:solidFill>
                            <a:srgbClr val="0E2841"/>
                          </a:solidFill>
                        </a:rPr>
                        <a:t>0.98</a:t>
                      </a:r>
                    </a:p>
                  </a:txBody>
                  <a:tcPr anchor="ctr">
                    <a:lnL>
                      <a:noFill/>
                    </a:lnL>
                    <a:lnR>
                      <a:noFill/>
                    </a:lnR>
                    <a:lnT>
                      <a:noFill/>
                    </a:lnT>
                    <a:lnB>
                      <a:noFill/>
                    </a:lnB>
                    <a:noFill/>
                  </a:tcPr>
                </a:tc>
                <a:tc>
                  <a:txBody>
                    <a:bodyPr/>
                    <a:lstStyle/>
                    <a:p>
                      <a:pPr>
                        <a:buNone/>
                      </a:pPr>
                      <a:r>
                        <a:rPr lang="en-GB" sz="1600">
                          <a:solidFill>
                            <a:srgbClr val="0E2841"/>
                          </a:solidFill>
                        </a:rPr>
                        <a:t>0.95</a:t>
                      </a:r>
                    </a:p>
                  </a:txBody>
                  <a:tcPr anchor="ctr">
                    <a:lnL>
                      <a:noFill/>
                    </a:lnL>
                    <a:lnR>
                      <a:noFill/>
                    </a:lnR>
                    <a:lnT>
                      <a:noFill/>
                    </a:lnT>
                    <a:lnB>
                      <a:noFill/>
                    </a:lnB>
                    <a:noFill/>
                  </a:tcPr>
                </a:tc>
                <a:tc>
                  <a:txBody>
                    <a:bodyPr/>
                    <a:lstStyle/>
                    <a:p>
                      <a:pPr>
                        <a:buNone/>
                      </a:pPr>
                      <a:r>
                        <a:rPr lang="en-GB" sz="1600">
                          <a:solidFill>
                            <a:srgbClr val="0E2841"/>
                          </a:solidFill>
                        </a:rPr>
                        <a:t>0.00</a:t>
                      </a:r>
                    </a:p>
                  </a:txBody>
                  <a:tcPr anchor="ctr">
                    <a:lnL>
                      <a:noFill/>
                    </a:lnL>
                    <a:lnR>
                      <a:noFill/>
                    </a:lnR>
                    <a:lnT>
                      <a:noFill/>
                    </a:lnT>
                    <a:lnB>
                      <a:noFill/>
                    </a:lnB>
                    <a:noFill/>
                  </a:tcPr>
                </a:tc>
                <a:tc>
                  <a:txBody>
                    <a:bodyPr/>
                    <a:lstStyle/>
                    <a:p>
                      <a:pPr>
                        <a:buNone/>
                      </a:pPr>
                      <a:r>
                        <a:rPr lang="en-GB" sz="1600" dirty="0">
                          <a:solidFill>
                            <a:srgbClr val="0E2841"/>
                          </a:solidFill>
                        </a:rPr>
                        <a:t>1.00</a:t>
                      </a:r>
                    </a:p>
                  </a:txBody>
                  <a:tcPr anchor="ctr">
                    <a:lnL>
                      <a:noFill/>
                    </a:lnL>
                    <a:lnR>
                      <a:noFill/>
                    </a:lnR>
                    <a:lnT>
                      <a:noFill/>
                    </a:lnT>
                    <a:lnB>
                      <a:noFill/>
                    </a:lnB>
                    <a:noFill/>
                  </a:tcPr>
                </a:tc>
                <a:tc>
                  <a:txBody>
                    <a:bodyPr/>
                    <a:lstStyle/>
                    <a:p>
                      <a:pPr>
                        <a:buNone/>
                      </a:pPr>
                      <a:r>
                        <a:rPr lang="en-GB" sz="1600" dirty="0">
                          <a:solidFill>
                            <a:srgbClr val="0E2841"/>
                          </a:solidFill>
                        </a:rPr>
                        <a:t>0.97</a:t>
                      </a:r>
                    </a:p>
                  </a:txBody>
                  <a:tcPr anchor="ctr">
                    <a:lnL>
                      <a:noFill/>
                    </a:lnL>
                    <a:lnR>
                      <a:noFill/>
                    </a:lnR>
                    <a:lnT>
                      <a:noFill/>
                    </a:lnT>
                    <a:lnB>
                      <a:noFill/>
                    </a:lnB>
                    <a:noFill/>
                  </a:tcPr>
                </a:tc>
                <a:extLst>
                  <a:ext uri="{0D108BD9-81ED-4DB2-BD59-A6C34878D82A}">
                    <a16:rowId xmlns:a16="http://schemas.microsoft.com/office/drawing/2014/main" val="4232861555"/>
                  </a:ext>
                </a:extLst>
              </a:tr>
              <a:tr h="0">
                <a:tc>
                  <a:txBody>
                    <a:bodyPr/>
                    <a:lstStyle/>
                    <a:p>
                      <a:pPr>
                        <a:buNone/>
                      </a:pPr>
                      <a:r>
                        <a:rPr lang="en-GB" sz="1600" b="0">
                          <a:solidFill>
                            <a:srgbClr val="0E2841"/>
                          </a:solidFill>
                        </a:rPr>
                        <a:t>All</a:t>
                      </a:r>
                    </a:p>
                  </a:txBody>
                  <a:tcPr anchor="ctr">
                    <a:lnL>
                      <a:noFill/>
                    </a:lnL>
                    <a:lnR>
                      <a:noFill/>
                    </a:lnR>
                    <a:lnT>
                      <a:noFill/>
                    </a:lnT>
                    <a:lnB>
                      <a:noFill/>
                    </a:lnB>
                    <a:noFill/>
                  </a:tcPr>
                </a:tc>
                <a:tc>
                  <a:txBody>
                    <a:bodyPr/>
                    <a:lstStyle/>
                    <a:p>
                      <a:pPr>
                        <a:buNone/>
                      </a:pPr>
                      <a:r>
                        <a:rPr lang="en-GB" sz="1600" b="0" dirty="0">
                          <a:solidFill>
                            <a:srgbClr val="0E2841"/>
                          </a:solidFill>
                        </a:rPr>
                        <a:t>0.87</a:t>
                      </a:r>
                    </a:p>
                  </a:txBody>
                  <a:tcPr anchor="ctr">
                    <a:lnL>
                      <a:noFill/>
                    </a:lnL>
                    <a:lnR>
                      <a:noFill/>
                    </a:lnR>
                    <a:lnT>
                      <a:noFill/>
                    </a:lnT>
                    <a:lnB>
                      <a:noFill/>
                    </a:lnB>
                    <a:solidFill>
                      <a:srgbClr val="C3DACA"/>
                    </a:solidFill>
                  </a:tcPr>
                </a:tc>
                <a:tc>
                  <a:txBody>
                    <a:bodyPr/>
                    <a:lstStyle/>
                    <a:p>
                      <a:pPr>
                        <a:buNone/>
                      </a:pPr>
                      <a:r>
                        <a:rPr lang="en-GB" sz="1600" b="0" dirty="0">
                          <a:solidFill>
                            <a:srgbClr val="0E2841"/>
                          </a:solidFill>
                        </a:rPr>
                        <a:t>0.86</a:t>
                      </a:r>
                    </a:p>
                  </a:txBody>
                  <a:tcPr anchor="ctr">
                    <a:lnL>
                      <a:noFill/>
                    </a:lnL>
                    <a:lnR>
                      <a:noFill/>
                    </a:lnR>
                    <a:lnT>
                      <a:noFill/>
                    </a:lnT>
                    <a:lnB>
                      <a:noFill/>
                    </a:lnB>
                    <a:solidFill>
                      <a:srgbClr val="C3DACA"/>
                    </a:solidFill>
                  </a:tcPr>
                </a:tc>
                <a:tc>
                  <a:txBody>
                    <a:bodyPr/>
                    <a:lstStyle/>
                    <a:p>
                      <a:pPr>
                        <a:buNone/>
                      </a:pPr>
                      <a:r>
                        <a:rPr lang="en-GB" sz="1600" b="0" dirty="0">
                          <a:solidFill>
                            <a:srgbClr val="0E2841"/>
                          </a:solidFill>
                        </a:rPr>
                        <a:t>0.12</a:t>
                      </a:r>
                    </a:p>
                  </a:txBody>
                  <a:tcPr anchor="ctr">
                    <a:lnL>
                      <a:noFill/>
                    </a:lnL>
                    <a:lnR>
                      <a:noFill/>
                    </a:lnR>
                    <a:lnT>
                      <a:noFill/>
                    </a:lnT>
                    <a:lnB>
                      <a:noFill/>
                    </a:lnB>
                    <a:noFill/>
                  </a:tcPr>
                </a:tc>
                <a:tc>
                  <a:txBody>
                    <a:bodyPr/>
                    <a:lstStyle/>
                    <a:p>
                      <a:pPr>
                        <a:buNone/>
                      </a:pPr>
                      <a:r>
                        <a:rPr lang="en-GB" sz="1600" b="0">
                          <a:solidFill>
                            <a:srgbClr val="0E2841"/>
                          </a:solidFill>
                        </a:rPr>
                        <a:t>0.86</a:t>
                      </a:r>
                    </a:p>
                  </a:txBody>
                  <a:tcPr anchor="ctr">
                    <a:lnL>
                      <a:noFill/>
                    </a:lnL>
                    <a:lnR>
                      <a:noFill/>
                    </a:lnR>
                    <a:lnT>
                      <a:noFill/>
                    </a:lnT>
                    <a:lnB>
                      <a:noFill/>
                    </a:lnB>
                    <a:noFill/>
                  </a:tcPr>
                </a:tc>
                <a:tc>
                  <a:txBody>
                    <a:bodyPr/>
                    <a:lstStyle/>
                    <a:p>
                      <a:pPr>
                        <a:buNone/>
                      </a:pPr>
                      <a:r>
                        <a:rPr lang="en-GB" sz="1600" b="0" dirty="0">
                          <a:solidFill>
                            <a:srgbClr val="0E2841"/>
                          </a:solidFill>
                        </a:rPr>
                        <a:t>0.86</a:t>
                      </a:r>
                    </a:p>
                  </a:txBody>
                  <a:tcPr anchor="ctr">
                    <a:lnL>
                      <a:noFill/>
                    </a:lnL>
                    <a:lnR>
                      <a:noFill/>
                    </a:lnR>
                    <a:lnT>
                      <a:noFill/>
                    </a:lnT>
                    <a:lnB>
                      <a:noFill/>
                    </a:lnB>
                    <a:noFill/>
                  </a:tcPr>
                </a:tc>
                <a:extLst>
                  <a:ext uri="{0D108BD9-81ED-4DB2-BD59-A6C34878D82A}">
                    <a16:rowId xmlns:a16="http://schemas.microsoft.com/office/drawing/2014/main" val="1461380338"/>
                  </a:ext>
                </a:extLst>
              </a:tr>
            </a:tbl>
          </a:graphicData>
        </a:graphic>
      </p:graphicFrame>
      <p:sp>
        <p:nvSpPr>
          <p:cNvPr id="7" name="Content Placeholder 5">
            <a:extLst>
              <a:ext uri="{FF2B5EF4-FFF2-40B4-BE49-F238E27FC236}">
                <a16:creationId xmlns:a16="http://schemas.microsoft.com/office/drawing/2014/main" id="{5EF94B7C-2D62-E807-7302-21AFEF6A4C79}"/>
              </a:ext>
            </a:extLst>
          </p:cNvPr>
          <p:cNvSpPr txBox="1">
            <a:spLocks/>
          </p:cNvSpPr>
          <p:nvPr/>
        </p:nvSpPr>
        <p:spPr>
          <a:xfrm>
            <a:off x="3272695" y="4113074"/>
            <a:ext cx="5537199" cy="2567827"/>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0" indent="0">
              <a:buNone/>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p:txBody>
      </p:sp>
      <p:sp>
        <p:nvSpPr>
          <p:cNvPr id="14" name="Rectangle: Rounded Corners 2">
            <a:extLst>
              <a:ext uri="{FF2B5EF4-FFF2-40B4-BE49-F238E27FC236}">
                <a16:creationId xmlns:a16="http://schemas.microsoft.com/office/drawing/2014/main" id="{93F0CAA2-D591-B11E-85C2-BAE700608E51}"/>
              </a:ext>
            </a:extLst>
          </p:cNvPr>
          <p:cNvSpPr/>
          <p:nvPr/>
        </p:nvSpPr>
        <p:spPr>
          <a:xfrm>
            <a:off x="3403213" y="3963550"/>
            <a:ext cx="1583002" cy="299048"/>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Autoencoder</a:t>
            </a:r>
            <a:endParaRPr lang="en-US" dirty="0">
              <a:solidFill>
                <a:schemeClr val="tx2"/>
              </a:solidFill>
            </a:endParaRPr>
          </a:p>
        </p:txBody>
      </p:sp>
      <p:graphicFrame>
        <p:nvGraphicFramePr>
          <p:cNvPr id="15" name="Table 14">
            <a:extLst>
              <a:ext uri="{FF2B5EF4-FFF2-40B4-BE49-F238E27FC236}">
                <a16:creationId xmlns:a16="http://schemas.microsoft.com/office/drawing/2014/main" id="{ACF71701-FBF5-81F3-29CA-A14DF90DFEEC}"/>
              </a:ext>
            </a:extLst>
          </p:cNvPr>
          <p:cNvGraphicFramePr>
            <a:graphicFrameLocks noGrp="1"/>
          </p:cNvGraphicFramePr>
          <p:nvPr>
            <p:extLst>
              <p:ext uri="{D42A27DB-BD31-4B8C-83A1-F6EECF244321}">
                <p14:modId xmlns:p14="http://schemas.microsoft.com/office/powerpoint/2010/main" val="2701947371"/>
              </p:ext>
            </p:extLst>
          </p:nvPr>
        </p:nvGraphicFramePr>
        <p:xfrm>
          <a:off x="6268984" y="1367956"/>
          <a:ext cx="5456100" cy="2346960"/>
        </p:xfrm>
        <a:graphic>
          <a:graphicData uri="http://schemas.openxmlformats.org/drawingml/2006/table">
            <a:tbl>
              <a:tblPr/>
              <a:tblGrid>
                <a:gridCol w="909350">
                  <a:extLst>
                    <a:ext uri="{9D8B030D-6E8A-4147-A177-3AD203B41FA5}">
                      <a16:colId xmlns:a16="http://schemas.microsoft.com/office/drawing/2014/main" val="1617131686"/>
                    </a:ext>
                  </a:extLst>
                </a:gridCol>
                <a:gridCol w="998563">
                  <a:extLst>
                    <a:ext uri="{9D8B030D-6E8A-4147-A177-3AD203B41FA5}">
                      <a16:colId xmlns:a16="http://schemas.microsoft.com/office/drawing/2014/main" val="4047744777"/>
                    </a:ext>
                  </a:extLst>
                </a:gridCol>
                <a:gridCol w="1086338">
                  <a:extLst>
                    <a:ext uri="{9D8B030D-6E8A-4147-A177-3AD203B41FA5}">
                      <a16:colId xmlns:a16="http://schemas.microsoft.com/office/drawing/2014/main" val="1940767653"/>
                    </a:ext>
                  </a:extLst>
                </a:gridCol>
                <a:gridCol w="750277">
                  <a:extLst>
                    <a:ext uri="{9D8B030D-6E8A-4147-A177-3AD203B41FA5}">
                      <a16:colId xmlns:a16="http://schemas.microsoft.com/office/drawing/2014/main" val="1691399192"/>
                    </a:ext>
                  </a:extLst>
                </a:gridCol>
                <a:gridCol w="1086339">
                  <a:extLst>
                    <a:ext uri="{9D8B030D-6E8A-4147-A177-3AD203B41FA5}">
                      <a16:colId xmlns:a16="http://schemas.microsoft.com/office/drawing/2014/main" val="4003095629"/>
                    </a:ext>
                  </a:extLst>
                </a:gridCol>
                <a:gridCol w="625233">
                  <a:extLst>
                    <a:ext uri="{9D8B030D-6E8A-4147-A177-3AD203B41FA5}">
                      <a16:colId xmlns:a16="http://schemas.microsoft.com/office/drawing/2014/main" val="2335437918"/>
                    </a:ext>
                  </a:extLst>
                </a:gridCol>
              </a:tblGrid>
              <a:tr h="0">
                <a:tc>
                  <a:txBody>
                    <a:bodyPr/>
                    <a:lstStyle/>
                    <a:p>
                      <a:pPr>
                        <a:buNone/>
                      </a:pPr>
                      <a:r>
                        <a:rPr lang="en-GB" sz="1600" dirty="0">
                          <a:solidFill>
                            <a:srgbClr val="0E2841"/>
                          </a:solidFill>
                        </a:rPr>
                        <a:t>Activity</a:t>
                      </a:r>
                    </a:p>
                  </a:txBody>
                  <a:tcPr anchor="ctr">
                    <a:lnL>
                      <a:noFill/>
                    </a:lnL>
                    <a:lnR>
                      <a:noFill/>
                    </a:lnR>
                    <a:lnT>
                      <a:noFill/>
                    </a:lnT>
                    <a:lnB>
                      <a:noFill/>
                    </a:lnB>
                    <a:noFill/>
                  </a:tcPr>
                </a:tc>
                <a:tc>
                  <a:txBody>
                    <a:bodyPr/>
                    <a:lstStyle/>
                    <a:p>
                      <a:pPr>
                        <a:buNone/>
                      </a:pPr>
                      <a:r>
                        <a:rPr lang="en-GB" sz="1600" dirty="0">
                          <a:solidFill>
                            <a:srgbClr val="0E2841"/>
                          </a:solidFill>
                        </a:rPr>
                        <a:t>Accuracy</a:t>
                      </a:r>
                    </a:p>
                  </a:txBody>
                  <a:tcPr anchor="ctr">
                    <a:lnL>
                      <a:noFill/>
                    </a:lnL>
                    <a:lnR>
                      <a:noFill/>
                    </a:lnR>
                    <a:lnT>
                      <a:noFill/>
                    </a:lnT>
                    <a:lnB>
                      <a:noFill/>
                    </a:lnB>
                    <a:noFill/>
                  </a:tcPr>
                </a:tc>
                <a:tc>
                  <a:txBody>
                    <a:bodyPr/>
                    <a:lstStyle/>
                    <a:p>
                      <a:pPr>
                        <a:buNone/>
                      </a:pPr>
                      <a:r>
                        <a:rPr lang="en-GB" sz="1600">
                          <a:solidFill>
                            <a:srgbClr val="0E2841"/>
                          </a:solidFill>
                        </a:rPr>
                        <a:t>Recall</a:t>
                      </a:r>
                    </a:p>
                  </a:txBody>
                  <a:tcPr anchor="ctr">
                    <a:lnL>
                      <a:noFill/>
                    </a:lnL>
                    <a:lnR>
                      <a:noFill/>
                    </a:lnR>
                    <a:lnT>
                      <a:noFill/>
                    </a:lnT>
                    <a:lnB>
                      <a:noFill/>
                    </a:lnB>
                    <a:noFill/>
                  </a:tcPr>
                </a:tc>
                <a:tc>
                  <a:txBody>
                    <a:bodyPr/>
                    <a:lstStyle/>
                    <a:p>
                      <a:pPr>
                        <a:buNone/>
                      </a:pPr>
                      <a:r>
                        <a:rPr lang="en-GB" sz="1600" dirty="0">
                          <a:solidFill>
                            <a:srgbClr val="0E2841"/>
                          </a:solidFill>
                        </a:rPr>
                        <a:t>FPR</a:t>
                      </a:r>
                    </a:p>
                  </a:txBody>
                  <a:tcPr anchor="ctr">
                    <a:lnL>
                      <a:noFill/>
                    </a:lnL>
                    <a:lnR>
                      <a:noFill/>
                    </a:lnR>
                    <a:lnT>
                      <a:noFill/>
                    </a:lnT>
                    <a:lnB>
                      <a:noFill/>
                    </a:lnB>
                    <a:noFill/>
                  </a:tcPr>
                </a:tc>
                <a:tc>
                  <a:txBody>
                    <a:bodyPr/>
                    <a:lstStyle/>
                    <a:p>
                      <a:pPr>
                        <a:buNone/>
                      </a:pPr>
                      <a:r>
                        <a:rPr lang="en-GB" sz="1600" dirty="0">
                          <a:solidFill>
                            <a:srgbClr val="0E2841"/>
                          </a:solidFill>
                        </a:rPr>
                        <a:t>Precision</a:t>
                      </a:r>
                    </a:p>
                  </a:txBody>
                  <a:tcPr anchor="ctr">
                    <a:lnL>
                      <a:noFill/>
                    </a:lnL>
                    <a:lnR>
                      <a:noFill/>
                    </a:lnR>
                    <a:lnT>
                      <a:noFill/>
                    </a:lnT>
                    <a:lnB>
                      <a:noFill/>
                    </a:lnB>
                    <a:noFill/>
                  </a:tcPr>
                </a:tc>
                <a:tc>
                  <a:txBody>
                    <a:bodyPr/>
                    <a:lstStyle/>
                    <a:p>
                      <a:pPr>
                        <a:buNone/>
                      </a:pPr>
                      <a:r>
                        <a:rPr lang="en-GB" sz="1600" dirty="0">
                          <a:solidFill>
                            <a:srgbClr val="0E2841"/>
                          </a:solidFill>
                        </a:rPr>
                        <a:t>F1</a:t>
                      </a:r>
                    </a:p>
                  </a:txBody>
                  <a:tcPr anchor="ctr">
                    <a:lnL>
                      <a:noFill/>
                    </a:lnL>
                    <a:lnR>
                      <a:noFill/>
                    </a:lnR>
                    <a:lnT>
                      <a:noFill/>
                    </a:lnT>
                    <a:lnB>
                      <a:noFill/>
                    </a:lnB>
                    <a:noFill/>
                  </a:tcPr>
                </a:tc>
                <a:extLst>
                  <a:ext uri="{0D108BD9-81ED-4DB2-BD59-A6C34878D82A}">
                    <a16:rowId xmlns:a16="http://schemas.microsoft.com/office/drawing/2014/main" val="2466233277"/>
                  </a:ext>
                </a:extLst>
              </a:tr>
              <a:tr h="0">
                <a:tc>
                  <a:txBody>
                    <a:bodyPr/>
                    <a:lstStyle/>
                    <a:p>
                      <a:pPr>
                        <a:buNone/>
                      </a:pPr>
                      <a:r>
                        <a:rPr lang="en-GB" sz="1600" dirty="0">
                          <a:solidFill>
                            <a:srgbClr val="0E2841"/>
                          </a:solidFill>
                        </a:rPr>
                        <a:t>T1</a:t>
                      </a:r>
                    </a:p>
                  </a:txBody>
                  <a:tcPr anchor="ctr">
                    <a:lnL>
                      <a:noFill/>
                    </a:lnL>
                    <a:lnR>
                      <a:noFill/>
                    </a:lnR>
                    <a:lnT>
                      <a:noFill/>
                    </a:lnT>
                    <a:lnB>
                      <a:noFill/>
                    </a:lnB>
                    <a:noFill/>
                  </a:tcPr>
                </a:tc>
                <a:tc>
                  <a:txBody>
                    <a:bodyPr/>
                    <a:lstStyle/>
                    <a:p>
                      <a:pPr>
                        <a:buNone/>
                      </a:pPr>
                      <a:r>
                        <a:rPr lang="en-GB" sz="1600"/>
                        <a:t>0.61</a:t>
                      </a:r>
                    </a:p>
                  </a:txBody>
                  <a:tcPr anchor="ctr">
                    <a:lnL>
                      <a:noFill/>
                    </a:lnL>
                    <a:lnR>
                      <a:noFill/>
                    </a:lnR>
                    <a:lnT>
                      <a:noFill/>
                    </a:lnT>
                    <a:lnB>
                      <a:noFill/>
                    </a:lnB>
                    <a:noFill/>
                  </a:tcPr>
                </a:tc>
                <a:tc>
                  <a:txBody>
                    <a:bodyPr/>
                    <a:lstStyle/>
                    <a:p>
                      <a:pPr>
                        <a:buNone/>
                      </a:pPr>
                      <a:r>
                        <a:rPr lang="en-GB" sz="1600"/>
                        <a:t>0.55</a:t>
                      </a:r>
                    </a:p>
                  </a:txBody>
                  <a:tcPr anchor="ctr">
                    <a:lnL>
                      <a:noFill/>
                    </a:lnL>
                    <a:lnR>
                      <a:noFill/>
                    </a:lnR>
                    <a:lnT>
                      <a:noFill/>
                    </a:lnT>
                    <a:lnB>
                      <a:noFill/>
                    </a:lnB>
                    <a:noFill/>
                  </a:tcPr>
                </a:tc>
                <a:tc>
                  <a:txBody>
                    <a:bodyPr/>
                    <a:lstStyle/>
                    <a:p>
                      <a:pPr>
                        <a:buNone/>
                      </a:pPr>
                      <a:r>
                        <a:rPr lang="en-GB" sz="1600"/>
                        <a:t>0.33</a:t>
                      </a:r>
                    </a:p>
                  </a:txBody>
                  <a:tcPr anchor="ctr">
                    <a:lnL>
                      <a:noFill/>
                    </a:lnL>
                    <a:lnR>
                      <a:noFill/>
                    </a:lnR>
                    <a:lnT>
                      <a:noFill/>
                    </a:lnT>
                    <a:lnB>
                      <a:noFill/>
                    </a:lnB>
                    <a:noFill/>
                  </a:tcPr>
                </a:tc>
                <a:tc>
                  <a:txBody>
                    <a:bodyPr/>
                    <a:lstStyle/>
                    <a:p>
                      <a:pPr>
                        <a:buNone/>
                      </a:pPr>
                      <a:r>
                        <a:rPr lang="en-GB" sz="1600"/>
                        <a:t>0.58</a:t>
                      </a:r>
                    </a:p>
                  </a:txBody>
                  <a:tcPr anchor="ctr">
                    <a:lnL>
                      <a:noFill/>
                    </a:lnL>
                    <a:lnR>
                      <a:noFill/>
                    </a:lnR>
                    <a:lnT>
                      <a:noFill/>
                    </a:lnT>
                    <a:lnB>
                      <a:noFill/>
                    </a:lnB>
                    <a:noFill/>
                  </a:tcPr>
                </a:tc>
                <a:tc>
                  <a:txBody>
                    <a:bodyPr/>
                    <a:lstStyle/>
                    <a:p>
                      <a:pPr>
                        <a:buNone/>
                      </a:pPr>
                      <a:r>
                        <a:rPr lang="en-GB" sz="1600"/>
                        <a:t>0.56</a:t>
                      </a:r>
                    </a:p>
                  </a:txBody>
                  <a:tcPr anchor="ctr">
                    <a:lnL>
                      <a:noFill/>
                    </a:lnL>
                    <a:lnR>
                      <a:noFill/>
                    </a:lnR>
                    <a:lnT>
                      <a:noFill/>
                    </a:lnT>
                    <a:lnB>
                      <a:noFill/>
                    </a:lnB>
                    <a:noFill/>
                  </a:tcPr>
                </a:tc>
                <a:extLst>
                  <a:ext uri="{0D108BD9-81ED-4DB2-BD59-A6C34878D82A}">
                    <a16:rowId xmlns:a16="http://schemas.microsoft.com/office/drawing/2014/main" val="2072771572"/>
                  </a:ext>
                </a:extLst>
              </a:tr>
              <a:tr h="0">
                <a:tc>
                  <a:txBody>
                    <a:bodyPr/>
                    <a:lstStyle/>
                    <a:p>
                      <a:pPr>
                        <a:buNone/>
                      </a:pPr>
                      <a:r>
                        <a:rPr lang="en-GB" sz="1600" dirty="0">
                          <a:solidFill>
                            <a:srgbClr val="0E2841"/>
                          </a:solidFill>
                        </a:rPr>
                        <a:t>T2</a:t>
                      </a:r>
                    </a:p>
                  </a:txBody>
                  <a:tcPr anchor="ctr">
                    <a:lnL>
                      <a:noFill/>
                    </a:lnL>
                    <a:lnR>
                      <a:noFill/>
                    </a:lnR>
                    <a:lnT>
                      <a:noFill/>
                    </a:lnT>
                    <a:lnB>
                      <a:noFill/>
                    </a:lnB>
                    <a:noFill/>
                  </a:tcPr>
                </a:tc>
                <a:tc>
                  <a:txBody>
                    <a:bodyPr/>
                    <a:lstStyle/>
                    <a:p>
                      <a:pPr>
                        <a:buNone/>
                      </a:pPr>
                      <a:r>
                        <a:rPr lang="en-GB" sz="1600"/>
                        <a:t>0.86</a:t>
                      </a:r>
                    </a:p>
                  </a:txBody>
                  <a:tcPr anchor="ctr">
                    <a:lnL>
                      <a:noFill/>
                    </a:lnL>
                    <a:lnR>
                      <a:noFill/>
                    </a:lnR>
                    <a:lnT>
                      <a:noFill/>
                    </a:lnT>
                    <a:lnB>
                      <a:noFill/>
                    </a:lnB>
                    <a:solidFill>
                      <a:srgbClr val="C3DACA"/>
                    </a:solidFill>
                  </a:tcPr>
                </a:tc>
                <a:tc>
                  <a:txBody>
                    <a:bodyPr/>
                    <a:lstStyle/>
                    <a:p>
                      <a:pPr>
                        <a:buNone/>
                      </a:pPr>
                      <a:r>
                        <a:rPr lang="en-GB" sz="1600" dirty="0"/>
                        <a:t>0.80</a:t>
                      </a:r>
                    </a:p>
                  </a:txBody>
                  <a:tcPr anchor="ctr">
                    <a:lnL>
                      <a:noFill/>
                    </a:lnL>
                    <a:lnR>
                      <a:noFill/>
                    </a:lnR>
                    <a:lnT>
                      <a:noFill/>
                    </a:lnT>
                    <a:lnB>
                      <a:noFill/>
                    </a:lnB>
                    <a:solidFill>
                      <a:srgbClr val="C3DACA"/>
                    </a:solidFill>
                  </a:tcPr>
                </a:tc>
                <a:tc>
                  <a:txBody>
                    <a:bodyPr/>
                    <a:lstStyle/>
                    <a:p>
                      <a:pPr>
                        <a:buNone/>
                      </a:pPr>
                      <a:r>
                        <a:rPr lang="en-GB" sz="1600"/>
                        <a:t>0.08</a:t>
                      </a:r>
                    </a:p>
                  </a:txBody>
                  <a:tcPr anchor="ctr">
                    <a:lnL>
                      <a:noFill/>
                    </a:lnL>
                    <a:lnR>
                      <a:noFill/>
                    </a:lnR>
                    <a:lnT>
                      <a:noFill/>
                    </a:lnT>
                    <a:lnB>
                      <a:noFill/>
                    </a:lnB>
                    <a:noFill/>
                  </a:tcPr>
                </a:tc>
                <a:tc>
                  <a:txBody>
                    <a:bodyPr/>
                    <a:lstStyle/>
                    <a:p>
                      <a:pPr>
                        <a:buNone/>
                      </a:pPr>
                      <a:r>
                        <a:rPr lang="en-GB" sz="1600"/>
                        <a:t>0.89</a:t>
                      </a:r>
                    </a:p>
                  </a:txBody>
                  <a:tcPr anchor="ctr">
                    <a:lnL>
                      <a:noFill/>
                    </a:lnL>
                    <a:lnR>
                      <a:noFill/>
                    </a:lnR>
                    <a:lnT>
                      <a:noFill/>
                    </a:lnT>
                    <a:lnB>
                      <a:noFill/>
                    </a:lnB>
                    <a:noFill/>
                  </a:tcPr>
                </a:tc>
                <a:tc>
                  <a:txBody>
                    <a:bodyPr/>
                    <a:lstStyle/>
                    <a:p>
                      <a:pPr>
                        <a:buNone/>
                      </a:pPr>
                      <a:r>
                        <a:rPr lang="en-GB" sz="1600"/>
                        <a:t>0.84</a:t>
                      </a:r>
                    </a:p>
                  </a:txBody>
                  <a:tcPr anchor="ctr">
                    <a:lnL>
                      <a:noFill/>
                    </a:lnL>
                    <a:lnR>
                      <a:noFill/>
                    </a:lnR>
                    <a:lnT>
                      <a:noFill/>
                    </a:lnT>
                    <a:lnB>
                      <a:noFill/>
                    </a:lnB>
                    <a:noFill/>
                  </a:tcPr>
                </a:tc>
                <a:extLst>
                  <a:ext uri="{0D108BD9-81ED-4DB2-BD59-A6C34878D82A}">
                    <a16:rowId xmlns:a16="http://schemas.microsoft.com/office/drawing/2014/main" val="3651556781"/>
                  </a:ext>
                </a:extLst>
              </a:tr>
              <a:tr h="0">
                <a:tc>
                  <a:txBody>
                    <a:bodyPr/>
                    <a:lstStyle/>
                    <a:p>
                      <a:pPr>
                        <a:buNone/>
                      </a:pPr>
                      <a:r>
                        <a:rPr lang="en-GB" sz="1600">
                          <a:solidFill>
                            <a:srgbClr val="0E2841"/>
                          </a:solidFill>
                        </a:rPr>
                        <a:t>T3</a:t>
                      </a:r>
                    </a:p>
                  </a:txBody>
                  <a:tcPr anchor="ctr">
                    <a:lnL>
                      <a:noFill/>
                    </a:lnL>
                    <a:lnR>
                      <a:noFill/>
                    </a:lnR>
                    <a:lnT>
                      <a:noFill/>
                    </a:lnT>
                    <a:lnB>
                      <a:noFill/>
                    </a:lnB>
                    <a:noFill/>
                  </a:tcPr>
                </a:tc>
                <a:tc>
                  <a:txBody>
                    <a:bodyPr/>
                    <a:lstStyle/>
                    <a:p>
                      <a:pPr>
                        <a:buNone/>
                      </a:pPr>
                      <a:r>
                        <a:rPr lang="en-GB" sz="1600" dirty="0"/>
                        <a:t>0.98</a:t>
                      </a:r>
                    </a:p>
                  </a:txBody>
                  <a:tcPr anchor="ctr">
                    <a:lnL>
                      <a:noFill/>
                    </a:lnL>
                    <a:lnR>
                      <a:noFill/>
                    </a:lnR>
                    <a:lnT>
                      <a:noFill/>
                    </a:lnT>
                    <a:lnB>
                      <a:noFill/>
                    </a:lnB>
                    <a:solidFill>
                      <a:srgbClr val="C3DACA"/>
                    </a:solidFill>
                  </a:tcPr>
                </a:tc>
                <a:tc>
                  <a:txBody>
                    <a:bodyPr/>
                    <a:lstStyle/>
                    <a:p>
                      <a:pPr>
                        <a:buNone/>
                      </a:pPr>
                      <a:r>
                        <a:rPr lang="en-GB" sz="1600" dirty="0"/>
                        <a:t>0.95</a:t>
                      </a:r>
                    </a:p>
                  </a:txBody>
                  <a:tcPr anchor="ctr">
                    <a:lnL>
                      <a:noFill/>
                    </a:lnL>
                    <a:lnR>
                      <a:noFill/>
                    </a:lnR>
                    <a:lnT>
                      <a:noFill/>
                    </a:lnT>
                    <a:lnB>
                      <a:noFill/>
                    </a:lnB>
                    <a:solidFill>
                      <a:srgbClr val="C3DACA"/>
                    </a:solidFill>
                  </a:tcPr>
                </a:tc>
                <a:tc>
                  <a:txBody>
                    <a:bodyPr/>
                    <a:lstStyle/>
                    <a:p>
                      <a:pPr>
                        <a:buNone/>
                      </a:pPr>
                      <a:r>
                        <a:rPr lang="en-GB" sz="1600"/>
                        <a:t>0.00</a:t>
                      </a:r>
                    </a:p>
                  </a:txBody>
                  <a:tcPr anchor="ctr">
                    <a:lnL>
                      <a:noFill/>
                    </a:lnL>
                    <a:lnR>
                      <a:noFill/>
                    </a:lnR>
                    <a:lnT>
                      <a:noFill/>
                    </a:lnT>
                    <a:lnB>
                      <a:noFill/>
                    </a:lnB>
                    <a:noFill/>
                  </a:tcPr>
                </a:tc>
                <a:tc>
                  <a:txBody>
                    <a:bodyPr/>
                    <a:lstStyle/>
                    <a:p>
                      <a:pPr>
                        <a:buNone/>
                      </a:pPr>
                      <a:r>
                        <a:rPr lang="en-GB" sz="1600"/>
                        <a:t>1.00</a:t>
                      </a:r>
                    </a:p>
                  </a:txBody>
                  <a:tcPr anchor="ctr">
                    <a:lnL>
                      <a:noFill/>
                    </a:lnL>
                    <a:lnR>
                      <a:noFill/>
                    </a:lnR>
                    <a:lnT>
                      <a:noFill/>
                    </a:lnT>
                    <a:lnB>
                      <a:noFill/>
                    </a:lnB>
                    <a:noFill/>
                  </a:tcPr>
                </a:tc>
                <a:tc>
                  <a:txBody>
                    <a:bodyPr/>
                    <a:lstStyle/>
                    <a:p>
                      <a:pPr>
                        <a:buNone/>
                      </a:pPr>
                      <a:r>
                        <a:rPr lang="en-GB" sz="1600"/>
                        <a:t>0.97</a:t>
                      </a:r>
                    </a:p>
                  </a:txBody>
                  <a:tcPr anchor="ctr">
                    <a:lnL>
                      <a:noFill/>
                    </a:lnL>
                    <a:lnR>
                      <a:noFill/>
                    </a:lnR>
                    <a:lnT>
                      <a:noFill/>
                    </a:lnT>
                    <a:lnB>
                      <a:noFill/>
                    </a:lnB>
                    <a:noFill/>
                  </a:tcPr>
                </a:tc>
                <a:extLst>
                  <a:ext uri="{0D108BD9-81ED-4DB2-BD59-A6C34878D82A}">
                    <a16:rowId xmlns:a16="http://schemas.microsoft.com/office/drawing/2014/main" val="1538171651"/>
                  </a:ext>
                </a:extLst>
              </a:tr>
              <a:tr h="0">
                <a:tc>
                  <a:txBody>
                    <a:bodyPr/>
                    <a:lstStyle/>
                    <a:p>
                      <a:pPr>
                        <a:buNone/>
                      </a:pPr>
                      <a:r>
                        <a:rPr lang="en-GB" sz="1600">
                          <a:solidFill>
                            <a:srgbClr val="0E2841"/>
                          </a:solidFill>
                        </a:rPr>
                        <a:t>T4</a:t>
                      </a:r>
                    </a:p>
                  </a:txBody>
                  <a:tcPr anchor="ctr">
                    <a:lnL>
                      <a:noFill/>
                    </a:lnL>
                    <a:lnR>
                      <a:noFill/>
                    </a:lnR>
                    <a:lnT>
                      <a:noFill/>
                    </a:lnT>
                    <a:lnB>
                      <a:noFill/>
                    </a:lnB>
                    <a:noFill/>
                  </a:tcPr>
                </a:tc>
                <a:tc>
                  <a:txBody>
                    <a:bodyPr/>
                    <a:lstStyle/>
                    <a:p>
                      <a:pPr>
                        <a:buNone/>
                      </a:pPr>
                      <a:r>
                        <a:rPr lang="en-GB" sz="1600" dirty="0"/>
                        <a:t>0.93</a:t>
                      </a:r>
                    </a:p>
                  </a:txBody>
                  <a:tcPr anchor="ctr">
                    <a:lnL>
                      <a:noFill/>
                    </a:lnL>
                    <a:lnR>
                      <a:noFill/>
                    </a:lnR>
                    <a:lnT>
                      <a:noFill/>
                    </a:lnT>
                    <a:lnB>
                      <a:noFill/>
                    </a:lnB>
                    <a:noFill/>
                  </a:tcPr>
                </a:tc>
                <a:tc>
                  <a:txBody>
                    <a:bodyPr/>
                    <a:lstStyle/>
                    <a:p>
                      <a:pPr>
                        <a:buNone/>
                      </a:pPr>
                      <a:r>
                        <a:rPr lang="en-GB" sz="1600" dirty="0"/>
                        <a:t>0.95</a:t>
                      </a:r>
                    </a:p>
                  </a:txBody>
                  <a:tcPr anchor="ctr">
                    <a:lnL>
                      <a:noFill/>
                    </a:lnL>
                    <a:lnR>
                      <a:noFill/>
                    </a:lnR>
                    <a:lnT>
                      <a:noFill/>
                    </a:lnT>
                    <a:lnB>
                      <a:noFill/>
                    </a:lnB>
                    <a:noFill/>
                  </a:tcPr>
                </a:tc>
                <a:tc>
                  <a:txBody>
                    <a:bodyPr/>
                    <a:lstStyle/>
                    <a:p>
                      <a:pPr>
                        <a:buNone/>
                      </a:pPr>
                      <a:r>
                        <a:rPr lang="en-GB" sz="1600"/>
                        <a:t>0.08</a:t>
                      </a:r>
                    </a:p>
                  </a:txBody>
                  <a:tcPr anchor="ctr">
                    <a:lnL>
                      <a:noFill/>
                    </a:lnL>
                    <a:lnR>
                      <a:noFill/>
                    </a:lnR>
                    <a:lnT>
                      <a:noFill/>
                    </a:lnT>
                    <a:lnB>
                      <a:noFill/>
                    </a:lnB>
                    <a:noFill/>
                  </a:tcPr>
                </a:tc>
                <a:tc>
                  <a:txBody>
                    <a:bodyPr/>
                    <a:lstStyle/>
                    <a:p>
                      <a:pPr>
                        <a:buNone/>
                      </a:pPr>
                      <a:r>
                        <a:rPr lang="en-GB" sz="1600"/>
                        <a:t>0.90</a:t>
                      </a:r>
                    </a:p>
                  </a:txBody>
                  <a:tcPr anchor="ctr">
                    <a:lnL>
                      <a:noFill/>
                    </a:lnL>
                    <a:lnR>
                      <a:noFill/>
                    </a:lnR>
                    <a:lnT>
                      <a:noFill/>
                    </a:lnT>
                    <a:lnB>
                      <a:noFill/>
                    </a:lnB>
                    <a:noFill/>
                  </a:tcPr>
                </a:tc>
                <a:tc>
                  <a:txBody>
                    <a:bodyPr/>
                    <a:lstStyle/>
                    <a:p>
                      <a:pPr>
                        <a:buNone/>
                      </a:pPr>
                      <a:r>
                        <a:rPr lang="en-GB" sz="1600"/>
                        <a:t>0.93</a:t>
                      </a:r>
                    </a:p>
                  </a:txBody>
                  <a:tcPr anchor="ctr">
                    <a:lnL>
                      <a:noFill/>
                    </a:lnL>
                    <a:lnR>
                      <a:noFill/>
                    </a:lnR>
                    <a:lnT>
                      <a:noFill/>
                    </a:lnT>
                    <a:lnB>
                      <a:noFill/>
                    </a:lnB>
                    <a:noFill/>
                  </a:tcPr>
                </a:tc>
                <a:extLst>
                  <a:ext uri="{0D108BD9-81ED-4DB2-BD59-A6C34878D82A}">
                    <a16:rowId xmlns:a16="http://schemas.microsoft.com/office/drawing/2014/main" val="3096336680"/>
                  </a:ext>
                </a:extLst>
              </a:tr>
              <a:tr h="0">
                <a:tc>
                  <a:txBody>
                    <a:bodyPr/>
                    <a:lstStyle/>
                    <a:p>
                      <a:pPr>
                        <a:buNone/>
                      </a:pPr>
                      <a:r>
                        <a:rPr lang="en-GB" sz="1600">
                          <a:solidFill>
                            <a:srgbClr val="0E2841"/>
                          </a:solidFill>
                        </a:rPr>
                        <a:t>T5</a:t>
                      </a:r>
                    </a:p>
                  </a:txBody>
                  <a:tcPr anchor="ctr">
                    <a:lnL>
                      <a:noFill/>
                    </a:lnL>
                    <a:lnR>
                      <a:noFill/>
                    </a:lnR>
                    <a:lnT>
                      <a:noFill/>
                    </a:lnT>
                    <a:lnB>
                      <a:noFill/>
                    </a:lnB>
                    <a:noFill/>
                  </a:tcPr>
                </a:tc>
                <a:tc>
                  <a:txBody>
                    <a:bodyPr/>
                    <a:lstStyle/>
                    <a:p>
                      <a:pPr>
                        <a:buNone/>
                      </a:pPr>
                      <a:r>
                        <a:rPr lang="en-GB" sz="1600"/>
                        <a:t>0.89</a:t>
                      </a:r>
                    </a:p>
                  </a:txBody>
                  <a:tcPr anchor="ctr">
                    <a:lnL>
                      <a:noFill/>
                    </a:lnL>
                    <a:lnR>
                      <a:noFill/>
                    </a:lnR>
                    <a:lnT>
                      <a:noFill/>
                    </a:lnT>
                    <a:lnB>
                      <a:noFill/>
                    </a:lnB>
                    <a:noFill/>
                  </a:tcPr>
                </a:tc>
                <a:tc>
                  <a:txBody>
                    <a:bodyPr/>
                    <a:lstStyle/>
                    <a:p>
                      <a:pPr>
                        <a:buNone/>
                      </a:pPr>
                      <a:r>
                        <a:rPr lang="en-GB" sz="1600"/>
                        <a:t>0.90</a:t>
                      </a:r>
                    </a:p>
                  </a:txBody>
                  <a:tcPr anchor="ctr">
                    <a:lnL>
                      <a:noFill/>
                    </a:lnL>
                    <a:lnR>
                      <a:noFill/>
                    </a:lnR>
                    <a:lnT>
                      <a:noFill/>
                    </a:lnT>
                    <a:lnB>
                      <a:noFill/>
                    </a:lnB>
                    <a:noFill/>
                  </a:tcPr>
                </a:tc>
                <a:tc>
                  <a:txBody>
                    <a:bodyPr/>
                    <a:lstStyle/>
                    <a:p>
                      <a:pPr>
                        <a:buNone/>
                      </a:pPr>
                      <a:r>
                        <a:rPr lang="en-GB" sz="1600"/>
                        <a:t>0.13</a:t>
                      </a:r>
                    </a:p>
                  </a:txBody>
                  <a:tcPr anchor="ctr">
                    <a:lnL>
                      <a:noFill/>
                    </a:lnL>
                    <a:lnR>
                      <a:noFill/>
                    </a:lnR>
                    <a:lnT>
                      <a:noFill/>
                    </a:lnT>
                    <a:lnB>
                      <a:noFill/>
                    </a:lnB>
                    <a:noFill/>
                  </a:tcPr>
                </a:tc>
                <a:tc>
                  <a:txBody>
                    <a:bodyPr/>
                    <a:lstStyle/>
                    <a:p>
                      <a:pPr>
                        <a:buNone/>
                      </a:pPr>
                      <a:r>
                        <a:rPr lang="en-GB" sz="1600"/>
                        <a:t>0.86</a:t>
                      </a:r>
                    </a:p>
                  </a:txBody>
                  <a:tcPr anchor="ctr">
                    <a:lnL>
                      <a:noFill/>
                    </a:lnL>
                    <a:lnR>
                      <a:noFill/>
                    </a:lnR>
                    <a:lnT>
                      <a:noFill/>
                    </a:lnT>
                    <a:lnB>
                      <a:noFill/>
                    </a:lnB>
                    <a:noFill/>
                  </a:tcPr>
                </a:tc>
                <a:tc>
                  <a:txBody>
                    <a:bodyPr/>
                    <a:lstStyle/>
                    <a:p>
                      <a:pPr>
                        <a:buNone/>
                      </a:pPr>
                      <a:r>
                        <a:rPr lang="en-GB" sz="1600"/>
                        <a:t>0.88</a:t>
                      </a:r>
                    </a:p>
                  </a:txBody>
                  <a:tcPr anchor="ctr">
                    <a:lnL>
                      <a:noFill/>
                    </a:lnL>
                    <a:lnR>
                      <a:noFill/>
                    </a:lnR>
                    <a:lnT>
                      <a:noFill/>
                    </a:lnT>
                    <a:lnB>
                      <a:noFill/>
                    </a:lnB>
                    <a:noFill/>
                  </a:tcPr>
                </a:tc>
                <a:extLst>
                  <a:ext uri="{0D108BD9-81ED-4DB2-BD59-A6C34878D82A}">
                    <a16:rowId xmlns:a16="http://schemas.microsoft.com/office/drawing/2014/main" val="1291026411"/>
                  </a:ext>
                </a:extLst>
              </a:tr>
              <a:tr h="0">
                <a:tc>
                  <a:txBody>
                    <a:bodyPr/>
                    <a:lstStyle/>
                    <a:p>
                      <a:pPr>
                        <a:buNone/>
                      </a:pPr>
                      <a:r>
                        <a:rPr lang="en-GB" sz="1600" b="0">
                          <a:solidFill>
                            <a:srgbClr val="0E2841"/>
                          </a:solidFill>
                        </a:rPr>
                        <a:t>All</a:t>
                      </a:r>
                    </a:p>
                  </a:txBody>
                  <a:tcPr anchor="ctr">
                    <a:lnL>
                      <a:noFill/>
                    </a:lnL>
                    <a:lnR>
                      <a:noFill/>
                    </a:lnR>
                    <a:lnT>
                      <a:noFill/>
                    </a:lnT>
                    <a:lnB>
                      <a:noFill/>
                    </a:lnB>
                    <a:noFill/>
                  </a:tcPr>
                </a:tc>
                <a:tc>
                  <a:txBody>
                    <a:bodyPr/>
                    <a:lstStyle/>
                    <a:p>
                      <a:pPr>
                        <a:buNone/>
                      </a:pPr>
                      <a:r>
                        <a:rPr lang="en-GB" sz="1600" b="0"/>
                        <a:t>0.85</a:t>
                      </a:r>
                    </a:p>
                  </a:txBody>
                  <a:tcPr anchor="ctr">
                    <a:lnL>
                      <a:noFill/>
                    </a:lnL>
                    <a:lnR>
                      <a:noFill/>
                    </a:lnR>
                    <a:lnT>
                      <a:noFill/>
                    </a:lnT>
                    <a:lnB>
                      <a:noFill/>
                    </a:lnB>
                    <a:noFill/>
                  </a:tcPr>
                </a:tc>
                <a:tc>
                  <a:txBody>
                    <a:bodyPr/>
                    <a:lstStyle/>
                    <a:p>
                      <a:pPr>
                        <a:buNone/>
                      </a:pPr>
                      <a:r>
                        <a:rPr lang="en-GB" sz="1600" b="0"/>
                        <a:t>0.83</a:t>
                      </a:r>
                    </a:p>
                  </a:txBody>
                  <a:tcPr anchor="ctr">
                    <a:lnL>
                      <a:noFill/>
                    </a:lnL>
                    <a:lnR>
                      <a:noFill/>
                    </a:lnR>
                    <a:lnT>
                      <a:noFill/>
                    </a:lnT>
                    <a:lnB>
                      <a:noFill/>
                    </a:lnB>
                    <a:noFill/>
                  </a:tcPr>
                </a:tc>
                <a:tc>
                  <a:txBody>
                    <a:bodyPr/>
                    <a:lstStyle/>
                    <a:p>
                      <a:pPr>
                        <a:buNone/>
                      </a:pPr>
                      <a:r>
                        <a:rPr lang="en-GB" sz="1600" b="0"/>
                        <a:t>0.13</a:t>
                      </a:r>
                    </a:p>
                  </a:txBody>
                  <a:tcPr anchor="ctr">
                    <a:lnL>
                      <a:noFill/>
                    </a:lnL>
                    <a:lnR>
                      <a:noFill/>
                    </a:lnR>
                    <a:lnT>
                      <a:noFill/>
                    </a:lnT>
                    <a:lnB>
                      <a:noFill/>
                    </a:lnB>
                    <a:noFill/>
                  </a:tcPr>
                </a:tc>
                <a:tc>
                  <a:txBody>
                    <a:bodyPr/>
                    <a:lstStyle/>
                    <a:p>
                      <a:pPr>
                        <a:buNone/>
                      </a:pPr>
                      <a:r>
                        <a:rPr lang="en-GB" sz="1600" b="0"/>
                        <a:t>0.85</a:t>
                      </a:r>
                    </a:p>
                  </a:txBody>
                  <a:tcPr anchor="ctr">
                    <a:lnL>
                      <a:noFill/>
                    </a:lnL>
                    <a:lnR>
                      <a:noFill/>
                    </a:lnR>
                    <a:lnT>
                      <a:noFill/>
                    </a:lnT>
                    <a:lnB>
                      <a:noFill/>
                    </a:lnB>
                    <a:noFill/>
                  </a:tcPr>
                </a:tc>
                <a:tc>
                  <a:txBody>
                    <a:bodyPr/>
                    <a:lstStyle/>
                    <a:p>
                      <a:pPr>
                        <a:buNone/>
                      </a:pPr>
                      <a:r>
                        <a:rPr lang="en-GB" sz="1600" b="0" dirty="0"/>
                        <a:t>0.84</a:t>
                      </a:r>
                    </a:p>
                  </a:txBody>
                  <a:tcPr anchor="ctr">
                    <a:lnL>
                      <a:noFill/>
                    </a:lnL>
                    <a:lnR>
                      <a:noFill/>
                    </a:lnR>
                    <a:lnT>
                      <a:noFill/>
                    </a:lnT>
                    <a:lnB>
                      <a:noFill/>
                    </a:lnB>
                    <a:noFill/>
                  </a:tcPr>
                </a:tc>
                <a:extLst>
                  <a:ext uri="{0D108BD9-81ED-4DB2-BD59-A6C34878D82A}">
                    <a16:rowId xmlns:a16="http://schemas.microsoft.com/office/drawing/2014/main" val="363089487"/>
                  </a:ext>
                </a:extLst>
              </a:tr>
            </a:tbl>
          </a:graphicData>
        </a:graphic>
      </p:graphicFrame>
      <p:graphicFrame>
        <p:nvGraphicFramePr>
          <p:cNvPr id="17" name="Table 16">
            <a:extLst>
              <a:ext uri="{FF2B5EF4-FFF2-40B4-BE49-F238E27FC236}">
                <a16:creationId xmlns:a16="http://schemas.microsoft.com/office/drawing/2014/main" id="{405E67AD-227F-814C-0BA4-7F4D0A88579C}"/>
              </a:ext>
            </a:extLst>
          </p:cNvPr>
          <p:cNvGraphicFramePr>
            <a:graphicFrameLocks noGrp="1"/>
          </p:cNvGraphicFramePr>
          <p:nvPr>
            <p:extLst>
              <p:ext uri="{D42A27DB-BD31-4B8C-83A1-F6EECF244321}">
                <p14:modId xmlns:p14="http://schemas.microsoft.com/office/powerpoint/2010/main" val="3383042040"/>
              </p:ext>
            </p:extLst>
          </p:nvPr>
        </p:nvGraphicFramePr>
        <p:xfrm>
          <a:off x="3313244" y="4252527"/>
          <a:ext cx="5456100" cy="2346960"/>
        </p:xfrm>
        <a:graphic>
          <a:graphicData uri="http://schemas.openxmlformats.org/drawingml/2006/table">
            <a:tbl>
              <a:tblPr/>
              <a:tblGrid>
                <a:gridCol w="909350">
                  <a:extLst>
                    <a:ext uri="{9D8B030D-6E8A-4147-A177-3AD203B41FA5}">
                      <a16:colId xmlns:a16="http://schemas.microsoft.com/office/drawing/2014/main" val="1617131686"/>
                    </a:ext>
                  </a:extLst>
                </a:gridCol>
                <a:gridCol w="998563">
                  <a:extLst>
                    <a:ext uri="{9D8B030D-6E8A-4147-A177-3AD203B41FA5}">
                      <a16:colId xmlns:a16="http://schemas.microsoft.com/office/drawing/2014/main" val="4047744777"/>
                    </a:ext>
                  </a:extLst>
                </a:gridCol>
                <a:gridCol w="1086338">
                  <a:extLst>
                    <a:ext uri="{9D8B030D-6E8A-4147-A177-3AD203B41FA5}">
                      <a16:colId xmlns:a16="http://schemas.microsoft.com/office/drawing/2014/main" val="1940767653"/>
                    </a:ext>
                  </a:extLst>
                </a:gridCol>
                <a:gridCol w="750277">
                  <a:extLst>
                    <a:ext uri="{9D8B030D-6E8A-4147-A177-3AD203B41FA5}">
                      <a16:colId xmlns:a16="http://schemas.microsoft.com/office/drawing/2014/main" val="1691399192"/>
                    </a:ext>
                  </a:extLst>
                </a:gridCol>
                <a:gridCol w="1086339">
                  <a:extLst>
                    <a:ext uri="{9D8B030D-6E8A-4147-A177-3AD203B41FA5}">
                      <a16:colId xmlns:a16="http://schemas.microsoft.com/office/drawing/2014/main" val="4003095629"/>
                    </a:ext>
                  </a:extLst>
                </a:gridCol>
                <a:gridCol w="625233">
                  <a:extLst>
                    <a:ext uri="{9D8B030D-6E8A-4147-A177-3AD203B41FA5}">
                      <a16:colId xmlns:a16="http://schemas.microsoft.com/office/drawing/2014/main" val="2335437918"/>
                    </a:ext>
                  </a:extLst>
                </a:gridCol>
              </a:tblGrid>
              <a:tr h="0">
                <a:tc>
                  <a:txBody>
                    <a:bodyPr/>
                    <a:lstStyle/>
                    <a:p>
                      <a:pPr>
                        <a:buNone/>
                      </a:pPr>
                      <a:r>
                        <a:rPr lang="en-GB" sz="1600" dirty="0">
                          <a:solidFill>
                            <a:srgbClr val="0E2841"/>
                          </a:solidFill>
                        </a:rPr>
                        <a:t>Activity</a:t>
                      </a:r>
                    </a:p>
                  </a:txBody>
                  <a:tcPr anchor="ctr">
                    <a:lnL>
                      <a:noFill/>
                    </a:lnL>
                    <a:lnR>
                      <a:noFill/>
                    </a:lnR>
                    <a:lnT>
                      <a:noFill/>
                    </a:lnT>
                    <a:lnB>
                      <a:noFill/>
                    </a:lnB>
                    <a:noFill/>
                  </a:tcPr>
                </a:tc>
                <a:tc>
                  <a:txBody>
                    <a:bodyPr/>
                    <a:lstStyle/>
                    <a:p>
                      <a:pPr>
                        <a:buNone/>
                      </a:pPr>
                      <a:r>
                        <a:rPr lang="en-GB" sz="1600" dirty="0">
                          <a:solidFill>
                            <a:srgbClr val="0E2841"/>
                          </a:solidFill>
                        </a:rPr>
                        <a:t>Accuracy</a:t>
                      </a:r>
                    </a:p>
                  </a:txBody>
                  <a:tcPr anchor="ctr">
                    <a:lnL>
                      <a:noFill/>
                    </a:lnL>
                    <a:lnR>
                      <a:noFill/>
                    </a:lnR>
                    <a:lnT>
                      <a:noFill/>
                    </a:lnT>
                    <a:lnB>
                      <a:noFill/>
                    </a:lnB>
                    <a:noFill/>
                  </a:tcPr>
                </a:tc>
                <a:tc>
                  <a:txBody>
                    <a:bodyPr/>
                    <a:lstStyle/>
                    <a:p>
                      <a:pPr>
                        <a:buNone/>
                      </a:pPr>
                      <a:r>
                        <a:rPr lang="en-GB" sz="1600">
                          <a:solidFill>
                            <a:srgbClr val="0E2841"/>
                          </a:solidFill>
                        </a:rPr>
                        <a:t>Recall</a:t>
                      </a:r>
                    </a:p>
                  </a:txBody>
                  <a:tcPr anchor="ctr">
                    <a:lnL>
                      <a:noFill/>
                    </a:lnL>
                    <a:lnR>
                      <a:noFill/>
                    </a:lnR>
                    <a:lnT>
                      <a:noFill/>
                    </a:lnT>
                    <a:lnB>
                      <a:noFill/>
                    </a:lnB>
                    <a:noFill/>
                  </a:tcPr>
                </a:tc>
                <a:tc>
                  <a:txBody>
                    <a:bodyPr/>
                    <a:lstStyle/>
                    <a:p>
                      <a:pPr>
                        <a:buNone/>
                      </a:pPr>
                      <a:r>
                        <a:rPr lang="en-GB" sz="1600" dirty="0">
                          <a:solidFill>
                            <a:srgbClr val="0E2841"/>
                          </a:solidFill>
                        </a:rPr>
                        <a:t>FPR</a:t>
                      </a:r>
                    </a:p>
                  </a:txBody>
                  <a:tcPr anchor="ctr">
                    <a:lnL>
                      <a:noFill/>
                    </a:lnL>
                    <a:lnR>
                      <a:noFill/>
                    </a:lnR>
                    <a:lnT>
                      <a:noFill/>
                    </a:lnT>
                    <a:lnB>
                      <a:noFill/>
                    </a:lnB>
                    <a:noFill/>
                  </a:tcPr>
                </a:tc>
                <a:tc>
                  <a:txBody>
                    <a:bodyPr/>
                    <a:lstStyle/>
                    <a:p>
                      <a:pPr>
                        <a:buNone/>
                      </a:pPr>
                      <a:r>
                        <a:rPr lang="en-GB" sz="1600" dirty="0">
                          <a:solidFill>
                            <a:srgbClr val="0E2841"/>
                          </a:solidFill>
                        </a:rPr>
                        <a:t>Precision</a:t>
                      </a:r>
                    </a:p>
                  </a:txBody>
                  <a:tcPr anchor="ctr">
                    <a:lnL>
                      <a:noFill/>
                    </a:lnL>
                    <a:lnR>
                      <a:noFill/>
                    </a:lnR>
                    <a:lnT>
                      <a:noFill/>
                    </a:lnT>
                    <a:lnB>
                      <a:noFill/>
                    </a:lnB>
                    <a:noFill/>
                  </a:tcPr>
                </a:tc>
                <a:tc>
                  <a:txBody>
                    <a:bodyPr/>
                    <a:lstStyle/>
                    <a:p>
                      <a:pPr>
                        <a:buNone/>
                      </a:pPr>
                      <a:r>
                        <a:rPr lang="en-GB" sz="1600" dirty="0">
                          <a:solidFill>
                            <a:srgbClr val="0E2841"/>
                          </a:solidFill>
                        </a:rPr>
                        <a:t>F1</a:t>
                      </a:r>
                    </a:p>
                  </a:txBody>
                  <a:tcPr anchor="ctr">
                    <a:lnL>
                      <a:noFill/>
                    </a:lnL>
                    <a:lnR>
                      <a:noFill/>
                    </a:lnR>
                    <a:lnT>
                      <a:noFill/>
                    </a:lnT>
                    <a:lnB>
                      <a:noFill/>
                    </a:lnB>
                    <a:noFill/>
                  </a:tcPr>
                </a:tc>
                <a:extLst>
                  <a:ext uri="{0D108BD9-81ED-4DB2-BD59-A6C34878D82A}">
                    <a16:rowId xmlns:a16="http://schemas.microsoft.com/office/drawing/2014/main" val="2466233277"/>
                  </a:ext>
                </a:extLst>
              </a:tr>
              <a:tr h="0">
                <a:tc>
                  <a:txBody>
                    <a:bodyPr/>
                    <a:lstStyle/>
                    <a:p>
                      <a:pPr>
                        <a:buNone/>
                      </a:pPr>
                      <a:r>
                        <a:rPr lang="en-GB" sz="1600" dirty="0">
                          <a:solidFill>
                            <a:srgbClr val="0E2841"/>
                          </a:solidFill>
                        </a:rPr>
                        <a:t>T1</a:t>
                      </a:r>
                    </a:p>
                  </a:txBody>
                  <a:tcPr anchor="ctr">
                    <a:lnL>
                      <a:noFill/>
                    </a:lnL>
                    <a:lnR>
                      <a:noFill/>
                    </a:lnR>
                    <a:lnT>
                      <a:noFill/>
                    </a:lnT>
                    <a:lnB>
                      <a:noFill/>
                    </a:lnB>
                    <a:noFill/>
                  </a:tcPr>
                </a:tc>
                <a:tc>
                  <a:txBody>
                    <a:bodyPr/>
                    <a:lstStyle/>
                    <a:p>
                      <a:pPr>
                        <a:buNone/>
                      </a:pPr>
                      <a:r>
                        <a:rPr lang="en-GB" sz="1600" dirty="0"/>
                        <a:t>0.66</a:t>
                      </a:r>
                    </a:p>
                  </a:txBody>
                  <a:tcPr anchor="ctr">
                    <a:lnL>
                      <a:noFill/>
                    </a:lnL>
                    <a:lnR>
                      <a:noFill/>
                    </a:lnR>
                    <a:lnT>
                      <a:noFill/>
                    </a:lnT>
                    <a:lnB>
                      <a:noFill/>
                    </a:lnB>
                    <a:noFill/>
                  </a:tcPr>
                </a:tc>
                <a:tc>
                  <a:txBody>
                    <a:bodyPr/>
                    <a:lstStyle/>
                    <a:p>
                      <a:pPr>
                        <a:buNone/>
                      </a:pPr>
                      <a:r>
                        <a:rPr lang="en-GB" sz="1600"/>
                        <a:t>0.40</a:t>
                      </a:r>
                    </a:p>
                  </a:txBody>
                  <a:tcPr anchor="ctr">
                    <a:lnL>
                      <a:noFill/>
                    </a:lnL>
                    <a:lnR>
                      <a:noFill/>
                    </a:lnR>
                    <a:lnT>
                      <a:noFill/>
                    </a:lnT>
                    <a:lnB>
                      <a:noFill/>
                    </a:lnB>
                    <a:noFill/>
                  </a:tcPr>
                </a:tc>
                <a:tc>
                  <a:txBody>
                    <a:bodyPr/>
                    <a:lstStyle/>
                    <a:p>
                      <a:pPr>
                        <a:buNone/>
                      </a:pPr>
                      <a:r>
                        <a:rPr lang="en-GB" sz="1600"/>
                        <a:t>0.13</a:t>
                      </a:r>
                    </a:p>
                  </a:txBody>
                  <a:tcPr anchor="ctr">
                    <a:lnL>
                      <a:noFill/>
                    </a:lnL>
                    <a:lnR>
                      <a:noFill/>
                    </a:lnR>
                    <a:lnT>
                      <a:noFill/>
                    </a:lnT>
                    <a:lnB>
                      <a:noFill/>
                    </a:lnB>
                    <a:noFill/>
                  </a:tcPr>
                </a:tc>
                <a:tc>
                  <a:txBody>
                    <a:bodyPr/>
                    <a:lstStyle/>
                    <a:p>
                      <a:pPr>
                        <a:buNone/>
                      </a:pPr>
                      <a:r>
                        <a:rPr lang="en-GB" sz="1600"/>
                        <a:t>0.73</a:t>
                      </a:r>
                    </a:p>
                  </a:txBody>
                  <a:tcPr anchor="ctr">
                    <a:lnL>
                      <a:noFill/>
                    </a:lnL>
                    <a:lnR>
                      <a:noFill/>
                    </a:lnR>
                    <a:lnT>
                      <a:noFill/>
                    </a:lnT>
                    <a:lnB>
                      <a:noFill/>
                    </a:lnB>
                    <a:noFill/>
                  </a:tcPr>
                </a:tc>
                <a:tc>
                  <a:txBody>
                    <a:bodyPr/>
                    <a:lstStyle/>
                    <a:p>
                      <a:pPr>
                        <a:buNone/>
                      </a:pPr>
                      <a:r>
                        <a:rPr lang="en-GB" sz="1600"/>
                        <a:t>0.52</a:t>
                      </a:r>
                    </a:p>
                  </a:txBody>
                  <a:tcPr anchor="ctr">
                    <a:lnL>
                      <a:noFill/>
                    </a:lnL>
                    <a:lnR>
                      <a:noFill/>
                    </a:lnR>
                    <a:lnT>
                      <a:noFill/>
                    </a:lnT>
                    <a:lnB>
                      <a:noFill/>
                    </a:lnB>
                    <a:noFill/>
                  </a:tcPr>
                </a:tc>
                <a:extLst>
                  <a:ext uri="{0D108BD9-81ED-4DB2-BD59-A6C34878D82A}">
                    <a16:rowId xmlns:a16="http://schemas.microsoft.com/office/drawing/2014/main" val="2072771572"/>
                  </a:ext>
                </a:extLst>
              </a:tr>
              <a:tr h="0">
                <a:tc>
                  <a:txBody>
                    <a:bodyPr/>
                    <a:lstStyle/>
                    <a:p>
                      <a:pPr>
                        <a:buNone/>
                      </a:pPr>
                      <a:r>
                        <a:rPr lang="en-GB" sz="1600" dirty="0">
                          <a:solidFill>
                            <a:srgbClr val="0E2841"/>
                          </a:solidFill>
                        </a:rPr>
                        <a:t>T2</a:t>
                      </a:r>
                    </a:p>
                  </a:txBody>
                  <a:tcPr anchor="ctr">
                    <a:lnL>
                      <a:noFill/>
                    </a:lnL>
                    <a:lnR>
                      <a:noFill/>
                    </a:lnR>
                    <a:lnT>
                      <a:noFill/>
                    </a:lnT>
                    <a:lnB>
                      <a:noFill/>
                    </a:lnB>
                    <a:noFill/>
                  </a:tcPr>
                </a:tc>
                <a:tc>
                  <a:txBody>
                    <a:bodyPr/>
                    <a:lstStyle/>
                    <a:p>
                      <a:pPr>
                        <a:buNone/>
                      </a:pPr>
                      <a:r>
                        <a:rPr lang="en-GB" sz="1600"/>
                        <a:t>0.86</a:t>
                      </a:r>
                    </a:p>
                  </a:txBody>
                  <a:tcPr anchor="ctr">
                    <a:lnL>
                      <a:noFill/>
                    </a:lnL>
                    <a:lnR>
                      <a:noFill/>
                    </a:lnR>
                    <a:lnT>
                      <a:noFill/>
                    </a:lnT>
                    <a:lnB>
                      <a:noFill/>
                    </a:lnB>
                    <a:solidFill>
                      <a:srgbClr val="C3DACA"/>
                    </a:solidFill>
                  </a:tcPr>
                </a:tc>
                <a:tc>
                  <a:txBody>
                    <a:bodyPr/>
                    <a:lstStyle/>
                    <a:p>
                      <a:pPr>
                        <a:buNone/>
                      </a:pPr>
                      <a:r>
                        <a:rPr lang="en-GB" sz="1600" dirty="0"/>
                        <a:t>0.80</a:t>
                      </a:r>
                    </a:p>
                  </a:txBody>
                  <a:tcPr anchor="ctr">
                    <a:lnL>
                      <a:noFill/>
                    </a:lnL>
                    <a:lnR>
                      <a:noFill/>
                    </a:lnR>
                    <a:lnT>
                      <a:noFill/>
                    </a:lnT>
                    <a:lnB>
                      <a:noFill/>
                    </a:lnB>
                    <a:solidFill>
                      <a:srgbClr val="C3DACA"/>
                    </a:solidFill>
                  </a:tcPr>
                </a:tc>
                <a:tc>
                  <a:txBody>
                    <a:bodyPr/>
                    <a:lstStyle/>
                    <a:p>
                      <a:pPr>
                        <a:buNone/>
                      </a:pPr>
                      <a:r>
                        <a:rPr lang="en-GB" sz="1600" dirty="0"/>
                        <a:t>0.08</a:t>
                      </a:r>
                    </a:p>
                  </a:txBody>
                  <a:tcPr anchor="ctr">
                    <a:lnL>
                      <a:noFill/>
                    </a:lnL>
                    <a:lnR>
                      <a:noFill/>
                    </a:lnR>
                    <a:lnT>
                      <a:noFill/>
                    </a:lnT>
                    <a:lnB>
                      <a:noFill/>
                    </a:lnB>
                    <a:noFill/>
                  </a:tcPr>
                </a:tc>
                <a:tc>
                  <a:txBody>
                    <a:bodyPr/>
                    <a:lstStyle/>
                    <a:p>
                      <a:pPr>
                        <a:buNone/>
                      </a:pPr>
                      <a:r>
                        <a:rPr lang="en-GB" sz="1600"/>
                        <a:t>0.89</a:t>
                      </a:r>
                    </a:p>
                  </a:txBody>
                  <a:tcPr anchor="ctr">
                    <a:lnL>
                      <a:noFill/>
                    </a:lnL>
                    <a:lnR>
                      <a:noFill/>
                    </a:lnR>
                    <a:lnT>
                      <a:noFill/>
                    </a:lnT>
                    <a:lnB>
                      <a:noFill/>
                    </a:lnB>
                    <a:noFill/>
                  </a:tcPr>
                </a:tc>
                <a:tc>
                  <a:txBody>
                    <a:bodyPr/>
                    <a:lstStyle/>
                    <a:p>
                      <a:pPr>
                        <a:buNone/>
                      </a:pPr>
                      <a:r>
                        <a:rPr lang="en-GB" sz="1600"/>
                        <a:t>0.84</a:t>
                      </a:r>
                    </a:p>
                  </a:txBody>
                  <a:tcPr anchor="ctr">
                    <a:lnL>
                      <a:noFill/>
                    </a:lnL>
                    <a:lnR>
                      <a:noFill/>
                    </a:lnR>
                    <a:lnT>
                      <a:noFill/>
                    </a:lnT>
                    <a:lnB>
                      <a:noFill/>
                    </a:lnB>
                    <a:noFill/>
                  </a:tcPr>
                </a:tc>
                <a:extLst>
                  <a:ext uri="{0D108BD9-81ED-4DB2-BD59-A6C34878D82A}">
                    <a16:rowId xmlns:a16="http://schemas.microsoft.com/office/drawing/2014/main" val="3651556781"/>
                  </a:ext>
                </a:extLst>
              </a:tr>
              <a:tr h="0">
                <a:tc>
                  <a:txBody>
                    <a:bodyPr/>
                    <a:lstStyle/>
                    <a:p>
                      <a:pPr>
                        <a:buNone/>
                      </a:pPr>
                      <a:r>
                        <a:rPr lang="en-GB" sz="1600">
                          <a:solidFill>
                            <a:srgbClr val="0E2841"/>
                          </a:solidFill>
                        </a:rPr>
                        <a:t>T3</a:t>
                      </a:r>
                    </a:p>
                  </a:txBody>
                  <a:tcPr anchor="ctr">
                    <a:lnL>
                      <a:noFill/>
                    </a:lnL>
                    <a:lnR>
                      <a:noFill/>
                    </a:lnR>
                    <a:lnT>
                      <a:noFill/>
                    </a:lnT>
                    <a:lnB>
                      <a:noFill/>
                    </a:lnB>
                    <a:noFill/>
                  </a:tcPr>
                </a:tc>
                <a:tc>
                  <a:txBody>
                    <a:bodyPr/>
                    <a:lstStyle/>
                    <a:p>
                      <a:pPr>
                        <a:buNone/>
                      </a:pPr>
                      <a:r>
                        <a:rPr lang="en-GB" sz="1600"/>
                        <a:t>0.95</a:t>
                      </a:r>
                    </a:p>
                  </a:txBody>
                  <a:tcPr anchor="ctr">
                    <a:lnL>
                      <a:noFill/>
                    </a:lnL>
                    <a:lnR>
                      <a:noFill/>
                    </a:lnR>
                    <a:lnT>
                      <a:noFill/>
                    </a:lnT>
                    <a:lnB>
                      <a:noFill/>
                    </a:lnB>
                    <a:noFill/>
                  </a:tcPr>
                </a:tc>
                <a:tc>
                  <a:txBody>
                    <a:bodyPr/>
                    <a:lstStyle/>
                    <a:p>
                      <a:pPr>
                        <a:buNone/>
                      </a:pPr>
                      <a:r>
                        <a:rPr lang="en-GB" sz="1600"/>
                        <a:t>0.95</a:t>
                      </a:r>
                    </a:p>
                  </a:txBody>
                  <a:tcPr anchor="ctr">
                    <a:lnL>
                      <a:noFill/>
                    </a:lnL>
                    <a:lnR>
                      <a:noFill/>
                    </a:lnR>
                    <a:lnT>
                      <a:noFill/>
                    </a:lnT>
                    <a:lnB>
                      <a:noFill/>
                    </a:lnB>
                    <a:noFill/>
                  </a:tcPr>
                </a:tc>
                <a:tc>
                  <a:txBody>
                    <a:bodyPr/>
                    <a:lstStyle/>
                    <a:p>
                      <a:pPr>
                        <a:buNone/>
                      </a:pPr>
                      <a:r>
                        <a:rPr lang="en-GB" sz="1600"/>
                        <a:t>0.04</a:t>
                      </a:r>
                    </a:p>
                  </a:txBody>
                  <a:tcPr anchor="ctr">
                    <a:lnL>
                      <a:noFill/>
                    </a:lnL>
                    <a:lnR>
                      <a:noFill/>
                    </a:lnR>
                    <a:lnT>
                      <a:noFill/>
                    </a:lnT>
                    <a:lnB>
                      <a:noFill/>
                    </a:lnB>
                    <a:noFill/>
                  </a:tcPr>
                </a:tc>
                <a:tc>
                  <a:txBody>
                    <a:bodyPr/>
                    <a:lstStyle/>
                    <a:p>
                      <a:pPr>
                        <a:buNone/>
                      </a:pPr>
                      <a:r>
                        <a:rPr lang="en-GB" sz="1600"/>
                        <a:t>0.95</a:t>
                      </a:r>
                    </a:p>
                  </a:txBody>
                  <a:tcPr anchor="ctr">
                    <a:lnL>
                      <a:noFill/>
                    </a:lnL>
                    <a:lnR>
                      <a:noFill/>
                    </a:lnR>
                    <a:lnT>
                      <a:noFill/>
                    </a:lnT>
                    <a:lnB>
                      <a:noFill/>
                    </a:lnB>
                    <a:noFill/>
                  </a:tcPr>
                </a:tc>
                <a:tc>
                  <a:txBody>
                    <a:bodyPr/>
                    <a:lstStyle/>
                    <a:p>
                      <a:pPr>
                        <a:buNone/>
                      </a:pPr>
                      <a:r>
                        <a:rPr lang="en-GB" sz="1600"/>
                        <a:t>0.95</a:t>
                      </a:r>
                    </a:p>
                  </a:txBody>
                  <a:tcPr anchor="ctr">
                    <a:lnL>
                      <a:noFill/>
                    </a:lnL>
                    <a:lnR>
                      <a:noFill/>
                    </a:lnR>
                    <a:lnT>
                      <a:noFill/>
                    </a:lnT>
                    <a:lnB>
                      <a:noFill/>
                    </a:lnB>
                    <a:noFill/>
                  </a:tcPr>
                </a:tc>
                <a:extLst>
                  <a:ext uri="{0D108BD9-81ED-4DB2-BD59-A6C34878D82A}">
                    <a16:rowId xmlns:a16="http://schemas.microsoft.com/office/drawing/2014/main" val="1538171651"/>
                  </a:ext>
                </a:extLst>
              </a:tr>
              <a:tr h="0">
                <a:tc>
                  <a:txBody>
                    <a:bodyPr/>
                    <a:lstStyle/>
                    <a:p>
                      <a:pPr>
                        <a:buNone/>
                      </a:pPr>
                      <a:r>
                        <a:rPr lang="en-GB" sz="1600">
                          <a:solidFill>
                            <a:srgbClr val="0E2841"/>
                          </a:solidFill>
                        </a:rPr>
                        <a:t>T4</a:t>
                      </a:r>
                    </a:p>
                  </a:txBody>
                  <a:tcPr anchor="ctr">
                    <a:lnL>
                      <a:noFill/>
                    </a:lnL>
                    <a:lnR>
                      <a:noFill/>
                    </a:lnR>
                    <a:lnT>
                      <a:noFill/>
                    </a:lnT>
                    <a:lnB>
                      <a:noFill/>
                    </a:lnB>
                    <a:noFill/>
                  </a:tcPr>
                </a:tc>
                <a:tc>
                  <a:txBody>
                    <a:bodyPr/>
                    <a:lstStyle/>
                    <a:p>
                      <a:pPr>
                        <a:buNone/>
                      </a:pPr>
                      <a:r>
                        <a:rPr lang="en-GB" sz="1600"/>
                        <a:t>0.89</a:t>
                      </a:r>
                    </a:p>
                  </a:txBody>
                  <a:tcPr anchor="ctr">
                    <a:lnL>
                      <a:noFill/>
                    </a:lnL>
                    <a:lnR>
                      <a:noFill/>
                    </a:lnR>
                    <a:lnT>
                      <a:noFill/>
                    </a:lnT>
                    <a:lnB>
                      <a:noFill/>
                    </a:lnB>
                    <a:noFill/>
                  </a:tcPr>
                </a:tc>
                <a:tc>
                  <a:txBody>
                    <a:bodyPr/>
                    <a:lstStyle/>
                    <a:p>
                      <a:pPr>
                        <a:buNone/>
                      </a:pPr>
                      <a:r>
                        <a:rPr lang="en-GB" sz="1600"/>
                        <a:t>0.90</a:t>
                      </a:r>
                    </a:p>
                  </a:txBody>
                  <a:tcPr anchor="ctr">
                    <a:lnL>
                      <a:noFill/>
                    </a:lnL>
                    <a:lnR>
                      <a:noFill/>
                    </a:lnR>
                    <a:lnT>
                      <a:noFill/>
                    </a:lnT>
                    <a:lnB>
                      <a:noFill/>
                    </a:lnB>
                    <a:noFill/>
                  </a:tcPr>
                </a:tc>
                <a:tc>
                  <a:txBody>
                    <a:bodyPr/>
                    <a:lstStyle/>
                    <a:p>
                      <a:pPr>
                        <a:buNone/>
                      </a:pPr>
                      <a:r>
                        <a:rPr lang="en-GB" sz="1600"/>
                        <a:t>0.13</a:t>
                      </a:r>
                    </a:p>
                  </a:txBody>
                  <a:tcPr anchor="ctr">
                    <a:lnL>
                      <a:noFill/>
                    </a:lnL>
                    <a:lnR>
                      <a:noFill/>
                    </a:lnR>
                    <a:lnT>
                      <a:noFill/>
                    </a:lnT>
                    <a:lnB>
                      <a:noFill/>
                    </a:lnB>
                    <a:noFill/>
                  </a:tcPr>
                </a:tc>
                <a:tc>
                  <a:txBody>
                    <a:bodyPr/>
                    <a:lstStyle/>
                    <a:p>
                      <a:pPr>
                        <a:buNone/>
                      </a:pPr>
                      <a:r>
                        <a:rPr lang="en-GB" sz="1600"/>
                        <a:t>0.86</a:t>
                      </a:r>
                    </a:p>
                  </a:txBody>
                  <a:tcPr anchor="ctr">
                    <a:lnL>
                      <a:noFill/>
                    </a:lnL>
                    <a:lnR>
                      <a:noFill/>
                    </a:lnR>
                    <a:lnT>
                      <a:noFill/>
                    </a:lnT>
                    <a:lnB>
                      <a:noFill/>
                    </a:lnB>
                    <a:noFill/>
                  </a:tcPr>
                </a:tc>
                <a:tc>
                  <a:txBody>
                    <a:bodyPr/>
                    <a:lstStyle/>
                    <a:p>
                      <a:pPr>
                        <a:buNone/>
                      </a:pPr>
                      <a:r>
                        <a:rPr lang="en-GB" sz="1600"/>
                        <a:t>0.88</a:t>
                      </a:r>
                    </a:p>
                  </a:txBody>
                  <a:tcPr anchor="ctr">
                    <a:lnL>
                      <a:noFill/>
                    </a:lnL>
                    <a:lnR>
                      <a:noFill/>
                    </a:lnR>
                    <a:lnT>
                      <a:noFill/>
                    </a:lnT>
                    <a:lnB>
                      <a:noFill/>
                    </a:lnB>
                    <a:noFill/>
                  </a:tcPr>
                </a:tc>
                <a:extLst>
                  <a:ext uri="{0D108BD9-81ED-4DB2-BD59-A6C34878D82A}">
                    <a16:rowId xmlns:a16="http://schemas.microsoft.com/office/drawing/2014/main" val="3096336680"/>
                  </a:ext>
                </a:extLst>
              </a:tr>
              <a:tr h="0">
                <a:tc>
                  <a:txBody>
                    <a:bodyPr/>
                    <a:lstStyle/>
                    <a:p>
                      <a:pPr>
                        <a:buNone/>
                      </a:pPr>
                      <a:r>
                        <a:rPr lang="en-GB" sz="1600">
                          <a:solidFill>
                            <a:srgbClr val="0E2841"/>
                          </a:solidFill>
                        </a:rPr>
                        <a:t>T5</a:t>
                      </a:r>
                    </a:p>
                  </a:txBody>
                  <a:tcPr anchor="ctr">
                    <a:lnL>
                      <a:noFill/>
                    </a:lnL>
                    <a:lnR>
                      <a:noFill/>
                    </a:lnR>
                    <a:lnT>
                      <a:noFill/>
                    </a:lnT>
                    <a:lnB>
                      <a:noFill/>
                    </a:lnB>
                    <a:noFill/>
                  </a:tcPr>
                </a:tc>
                <a:tc>
                  <a:txBody>
                    <a:bodyPr/>
                    <a:lstStyle/>
                    <a:p>
                      <a:pPr>
                        <a:buNone/>
                      </a:pPr>
                      <a:r>
                        <a:rPr lang="en-GB" sz="1600"/>
                        <a:t>0.98</a:t>
                      </a:r>
                    </a:p>
                  </a:txBody>
                  <a:tcPr anchor="ctr">
                    <a:lnL>
                      <a:noFill/>
                    </a:lnL>
                    <a:lnR>
                      <a:noFill/>
                    </a:lnR>
                    <a:lnT>
                      <a:noFill/>
                    </a:lnT>
                    <a:lnB>
                      <a:noFill/>
                    </a:lnB>
                    <a:solidFill>
                      <a:srgbClr val="C3DACA"/>
                    </a:solidFill>
                  </a:tcPr>
                </a:tc>
                <a:tc>
                  <a:txBody>
                    <a:bodyPr/>
                    <a:lstStyle/>
                    <a:p>
                      <a:pPr>
                        <a:buNone/>
                      </a:pPr>
                      <a:r>
                        <a:rPr lang="en-GB" sz="1600" dirty="0"/>
                        <a:t>1.00</a:t>
                      </a:r>
                    </a:p>
                  </a:txBody>
                  <a:tcPr anchor="ctr">
                    <a:lnL>
                      <a:noFill/>
                    </a:lnL>
                    <a:lnR>
                      <a:noFill/>
                    </a:lnR>
                    <a:lnT>
                      <a:noFill/>
                    </a:lnT>
                    <a:lnB>
                      <a:noFill/>
                    </a:lnB>
                    <a:solidFill>
                      <a:srgbClr val="C3DACA"/>
                    </a:solidFill>
                  </a:tcPr>
                </a:tc>
                <a:tc>
                  <a:txBody>
                    <a:bodyPr/>
                    <a:lstStyle/>
                    <a:p>
                      <a:pPr>
                        <a:buNone/>
                      </a:pPr>
                      <a:r>
                        <a:rPr lang="en-GB" sz="1600"/>
                        <a:t>0.04</a:t>
                      </a:r>
                    </a:p>
                  </a:txBody>
                  <a:tcPr anchor="ctr">
                    <a:lnL>
                      <a:noFill/>
                    </a:lnL>
                    <a:lnR>
                      <a:noFill/>
                    </a:lnR>
                    <a:lnT>
                      <a:noFill/>
                    </a:lnT>
                    <a:lnB>
                      <a:noFill/>
                    </a:lnB>
                    <a:noFill/>
                  </a:tcPr>
                </a:tc>
                <a:tc>
                  <a:txBody>
                    <a:bodyPr/>
                    <a:lstStyle/>
                    <a:p>
                      <a:pPr>
                        <a:buNone/>
                      </a:pPr>
                      <a:r>
                        <a:rPr lang="en-GB" sz="1600"/>
                        <a:t>0.95</a:t>
                      </a:r>
                    </a:p>
                  </a:txBody>
                  <a:tcPr anchor="ctr">
                    <a:lnL>
                      <a:noFill/>
                    </a:lnL>
                    <a:lnR>
                      <a:noFill/>
                    </a:lnR>
                    <a:lnT>
                      <a:noFill/>
                    </a:lnT>
                    <a:lnB>
                      <a:noFill/>
                    </a:lnB>
                    <a:noFill/>
                  </a:tcPr>
                </a:tc>
                <a:tc>
                  <a:txBody>
                    <a:bodyPr/>
                    <a:lstStyle/>
                    <a:p>
                      <a:pPr>
                        <a:buNone/>
                      </a:pPr>
                      <a:r>
                        <a:rPr lang="en-GB" sz="1600"/>
                        <a:t>0.98</a:t>
                      </a:r>
                    </a:p>
                  </a:txBody>
                  <a:tcPr anchor="ctr">
                    <a:lnL>
                      <a:noFill/>
                    </a:lnL>
                    <a:lnR>
                      <a:noFill/>
                    </a:lnR>
                    <a:lnT>
                      <a:noFill/>
                    </a:lnT>
                    <a:lnB>
                      <a:noFill/>
                    </a:lnB>
                    <a:noFill/>
                  </a:tcPr>
                </a:tc>
                <a:extLst>
                  <a:ext uri="{0D108BD9-81ED-4DB2-BD59-A6C34878D82A}">
                    <a16:rowId xmlns:a16="http://schemas.microsoft.com/office/drawing/2014/main" val="1291026411"/>
                  </a:ext>
                </a:extLst>
              </a:tr>
              <a:tr h="0">
                <a:tc>
                  <a:txBody>
                    <a:bodyPr/>
                    <a:lstStyle/>
                    <a:p>
                      <a:pPr>
                        <a:buNone/>
                      </a:pPr>
                      <a:r>
                        <a:rPr lang="en-GB" sz="1600" b="0">
                          <a:solidFill>
                            <a:srgbClr val="0E2841"/>
                          </a:solidFill>
                        </a:rPr>
                        <a:t>All</a:t>
                      </a:r>
                    </a:p>
                  </a:txBody>
                  <a:tcPr anchor="ctr">
                    <a:lnL>
                      <a:noFill/>
                    </a:lnL>
                    <a:lnR>
                      <a:noFill/>
                    </a:lnR>
                    <a:lnT>
                      <a:noFill/>
                    </a:lnT>
                    <a:lnB>
                      <a:noFill/>
                    </a:lnB>
                    <a:noFill/>
                  </a:tcPr>
                </a:tc>
                <a:tc>
                  <a:txBody>
                    <a:bodyPr/>
                    <a:lstStyle/>
                    <a:p>
                      <a:pPr>
                        <a:buNone/>
                      </a:pPr>
                      <a:r>
                        <a:rPr lang="en-GB" sz="1600" b="0"/>
                        <a:t>0.87</a:t>
                      </a:r>
                    </a:p>
                  </a:txBody>
                  <a:tcPr anchor="ctr">
                    <a:lnL>
                      <a:noFill/>
                    </a:lnL>
                    <a:lnR>
                      <a:noFill/>
                    </a:lnR>
                    <a:lnT>
                      <a:noFill/>
                    </a:lnT>
                    <a:lnB>
                      <a:noFill/>
                    </a:lnB>
                    <a:noFill/>
                  </a:tcPr>
                </a:tc>
                <a:tc>
                  <a:txBody>
                    <a:bodyPr/>
                    <a:lstStyle/>
                    <a:p>
                      <a:pPr>
                        <a:buNone/>
                      </a:pPr>
                      <a:r>
                        <a:rPr lang="en-GB" sz="1600" b="0"/>
                        <a:t>0.81</a:t>
                      </a:r>
                    </a:p>
                  </a:txBody>
                  <a:tcPr anchor="ctr">
                    <a:lnL>
                      <a:noFill/>
                    </a:lnL>
                    <a:lnR>
                      <a:noFill/>
                    </a:lnR>
                    <a:lnT>
                      <a:noFill/>
                    </a:lnT>
                    <a:lnB>
                      <a:noFill/>
                    </a:lnB>
                    <a:noFill/>
                  </a:tcPr>
                </a:tc>
                <a:tc>
                  <a:txBody>
                    <a:bodyPr/>
                    <a:lstStyle/>
                    <a:p>
                      <a:pPr>
                        <a:buNone/>
                      </a:pPr>
                      <a:r>
                        <a:rPr lang="en-GB" sz="1600" b="0"/>
                        <a:t>0.08</a:t>
                      </a:r>
                    </a:p>
                  </a:txBody>
                  <a:tcPr anchor="ctr">
                    <a:lnL>
                      <a:noFill/>
                    </a:lnL>
                    <a:lnR>
                      <a:noFill/>
                    </a:lnR>
                    <a:lnT>
                      <a:noFill/>
                    </a:lnT>
                    <a:lnB>
                      <a:noFill/>
                    </a:lnB>
                    <a:noFill/>
                  </a:tcPr>
                </a:tc>
                <a:tc>
                  <a:txBody>
                    <a:bodyPr/>
                    <a:lstStyle/>
                    <a:p>
                      <a:pPr>
                        <a:buNone/>
                      </a:pPr>
                      <a:r>
                        <a:rPr lang="en-GB" sz="1600" b="0"/>
                        <a:t>0.89</a:t>
                      </a:r>
                    </a:p>
                  </a:txBody>
                  <a:tcPr anchor="ctr">
                    <a:lnL>
                      <a:noFill/>
                    </a:lnL>
                    <a:lnR>
                      <a:noFill/>
                    </a:lnR>
                    <a:lnT>
                      <a:noFill/>
                    </a:lnT>
                    <a:lnB>
                      <a:noFill/>
                    </a:lnB>
                    <a:noFill/>
                  </a:tcPr>
                </a:tc>
                <a:tc>
                  <a:txBody>
                    <a:bodyPr/>
                    <a:lstStyle/>
                    <a:p>
                      <a:pPr>
                        <a:buNone/>
                      </a:pPr>
                      <a:r>
                        <a:rPr lang="en-GB" sz="1600" b="0" dirty="0"/>
                        <a:t>0.85</a:t>
                      </a:r>
                    </a:p>
                  </a:txBody>
                  <a:tcPr anchor="ctr">
                    <a:lnL>
                      <a:noFill/>
                    </a:lnL>
                    <a:lnR>
                      <a:noFill/>
                    </a:lnR>
                    <a:lnT>
                      <a:noFill/>
                    </a:lnT>
                    <a:lnB>
                      <a:noFill/>
                    </a:lnB>
                    <a:noFill/>
                  </a:tcPr>
                </a:tc>
                <a:extLst>
                  <a:ext uri="{0D108BD9-81ED-4DB2-BD59-A6C34878D82A}">
                    <a16:rowId xmlns:a16="http://schemas.microsoft.com/office/drawing/2014/main" val="363089487"/>
                  </a:ext>
                </a:extLst>
              </a:tr>
            </a:tbl>
          </a:graphicData>
        </a:graphic>
      </p:graphicFrame>
    </p:spTree>
    <p:extLst>
      <p:ext uri="{BB962C8B-B14F-4D97-AF65-F5344CB8AC3E}">
        <p14:creationId xmlns:p14="http://schemas.microsoft.com/office/powerpoint/2010/main" val="420892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E1892-3716-1956-1E9D-D174BDC13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AAE36-0E70-7FEE-9F5F-661A7654DCB9}"/>
              </a:ext>
            </a:extLst>
          </p:cNvPr>
          <p:cNvSpPr>
            <a:spLocks noGrp="1"/>
          </p:cNvSpPr>
          <p:nvPr>
            <p:ph type="title"/>
          </p:nvPr>
        </p:nvSpPr>
        <p:spPr>
          <a:xfrm>
            <a:off x="838200" y="365126"/>
            <a:ext cx="10515600" cy="705062"/>
          </a:xfrm>
        </p:spPr>
        <p:txBody>
          <a:bodyPr/>
          <a:lstStyle/>
          <a:p>
            <a:r>
              <a:rPr lang="en-US" dirty="0">
                <a:solidFill>
                  <a:srgbClr val="0E2841"/>
                </a:solidFill>
              </a:rPr>
              <a:t>Global Anomaly Detection Results</a:t>
            </a:r>
          </a:p>
        </p:txBody>
      </p:sp>
      <p:sp>
        <p:nvSpPr>
          <p:cNvPr id="11" name="Content Placeholder 5">
            <a:extLst>
              <a:ext uri="{FF2B5EF4-FFF2-40B4-BE49-F238E27FC236}">
                <a16:creationId xmlns:a16="http://schemas.microsoft.com/office/drawing/2014/main" id="{FD97652D-1D9B-7477-EE6A-2349DAFD226B}"/>
              </a:ext>
            </a:extLst>
          </p:cNvPr>
          <p:cNvSpPr txBox="1">
            <a:spLocks/>
          </p:cNvSpPr>
          <p:nvPr/>
        </p:nvSpPr>
        <p:spPr>
          <a:xfrm>
            <a:off x="558801" y="1234001"/>
            <a:ext cx="5537199" cy="2564275"/>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0" indent="0">
              <a:buNone/>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p:txBody>
      </p:sp>
      <p:sp>
        <p:nvSpPr>
          <p:cNvPr id="12" name="Rectangle: Rounded Corners 2">
            <a:extLst>
              <a:ext uri="{FF2B5EF4-FFF2-40B4-BE49-F238E27FC236}">
                <a16:creationId xmlns:a16="http://schemas.microsoft.com/office/drawing/2014/main" id="{6758515D-E6A0-C76B-96D6-5E5386886DA5}"/>
              </a:ext>
            </a:extLst>
          </p:cNvPr>
          <p:cNvSpPr/>
          <p:nvPr/>
        </p:nvSpPr>
        <p:spPr>
          <a:xfrm>
            <a:off x="691236" y="1070188"/>
            <a:ext cx="2194204" cy="299048"/>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Isolation Forest</a:t>
            </a:r>
            <a:endParaRPr lang="en-US" dirty="0">
              <a:solidFill>
                <a:schemeClr val="tx2"/>
              </a:solidFill>
            </a:endParaRPr>
          </a:p>
        </p:txBody>
      </p:sp>
      <p:sp>
        <p:nvSpPr>
          <p:cNvPr id="5" name="Content Placeholder 5">
            <a:extLst>
              <a:ext uri="{FF2B5EF4-FFF2-40B4-BE49-F238E27FC236}">
                <a16:creationId xmlns:a16="http://schemas.microsoft.com/office/drawing/2014/main" id="{A79F0A82-DD28-0A83-DA0B-78A08204A67E}"/>
              </a:ext>
            </a:extLst>
          </p:cNvPr>
          <p:cNvSpPr txBox="1">
            <a:spLocks/>
          </p:cNvSpPr>
          <p:nvPr/>
        </p:nvSpPr>
        <p:spPr>
          <a:xfrm>
            <a:off x="6228435" y="1230447"/>
            <a:ext cx="5537199" cy="2564275"/>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0" indent="0">
              <a:buNone/>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p:txBody>
      </p:sp>
      <p:sp>
        <p:nvSpPr>
          <p:cNvPr id="6" name="Rectangle: Rounded Corners 2">
            <a:extLst>
              <a:ext uri="{FF2B5EF4-FFF2-40B4-BE49-F238E27FC236}">
                <a16:creationId xmlns:a16="http://schemas.microsoft.com/office/drawing/2014/main" id="{66C8D1D0-8EC1-1B59-CAF6-00E54C947312}"/>
              </a:ext>
            </a:extLst>
          </p:cNvPr>
          <p:cNvSpPr/>
          <p:nvPr/>
        </p:nvSpPr>
        <p:spPr>
          <a:xfrm>
            <a:off x="6358953" y="1119189"/>
            <a:ext cx="1057847" cy="299048"/>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OCSVM</a:t>
            </a:r>
            <a:endParaRPr lang="en-US" dirty="0">
              <a:solidFill>
                <a:schemeClr val="tx2"/>
              </a:solidFill>
            </a:endParaRPr>
          </a:p>
        </p:txBody>
      </p:sp>
      <p:graphicFrame>
        <p:nvGraphicFramePr>
          <p:cNvPr id="3" name="Table 2">
            <a:extLst>
              <a:ext uri="{FF2B5EF4-FFF2-40B4-BE49-F238E27FC236}">
                <a16:creationId xmlns:a16="http://schemas.microsoft.com/office/drawing/2014/main" id="{2081E50A-B82C-FD7A-C4F1-B52F697DE3A7}"/>
              </a:ext>
            </a:extLst>
          </p:cNvPr>
          <p:cNvGraphicFramePr>
            <a:graphicFrameLocks noGrp="1"/>
          </p:cNvGraphicFramePr>
          <p:nvPr>
            <p:extLst>
              <p:ext uri="{D42A27DB-BD31-4B8C-83A1-F6EECF244321}">
                <p14:modId xmlns:p14="http://schemas.microsoft.com/office/powerpoint/2010/main" val="797599269"/>
              </p:ext>
            </p:extLst>
          </p:nvPr>
        </p:nvGraphicFramePr>
        <p:xfrm>
          <a:off x="585195" y="1367956"/>
          <a:ext cx="5456100" cy="2346960"/>
        </p:xfrm>
        <a:graphic>
          <a:graphicData uri="http://schemas.openxmlformats.org/drawingml/2006/table">
            <a:tbl>
              <a:tblPr/>
              <a:tblGrid>
                <a:gridCol w="909350">
                  <a:extLst>
                    <a:ext uri="{9D8B030D-6E8A-4147-A177-3AD203B41FA5}">
                      <a16:colId xmlns:a16="http://schemas.microsoft.com/office/drawing/2014/main" val="271743694"/>
                    </a:ext>
                  </a:extLst>
                </a:gridCol>
                <a:gridCol w="998563">
                  <a:extLst>
                    <a:ext uri="{9D8B030D-6E8A-4147-A177-3AD203B41FA5}">
                      <a16:colId xmlns:a16="http://schemas.microsoft.com/office/drawing/2014/main" val="307696237"/>
                    </a:ext>
                  </a:extLst>
                </a:gridCol>
                <a:gridCol w="1086338">
                  <a:extLst>
                    <a:ext uri="{9D8B030D-6E8A-4147-A177-3AD203B41FA5}">
                      <a16:colId xmlns:a16="http://schemas.microsoft.com/office/drawing/2014/main" val="140857909"/>
                    </a:ext>
                  </a:extLst>
                </a:gridCol>
                <a:gridCol w="750277">
                  <a:extLst>
                    <a:ext uri="{9D8B030D-6E8A-4147-A177-3AD203B41FA5}">
                      <a16:colId xmlns:a16="http://schemas.microsoft.com/office/drawing/2014/main" val="4249621320"/>
                    </a:ext>
                  </a:extLst>
                </a:gridCol>
                <a:gridCol w="1086339">
                  <a:extLst>
                    <a:ext uri="{9D8B030D-6E8A-4147-A177-3AD203B41FA5}">
                      <a16:colId xmlns:a16="http://schemas.microsoft.com/office/drawing/2014/main" val="672623352"/>
                    </a:ext>
                  </a:extLst>
                </a:gridCol>
                <a:gridCol w="625233">
                  <a:extLst>
                    <a:ext uri="{9D8B030D-6E8A-4147-A177-3AD203B41FA5}">
                      <a16:colId xmlns:a16="http://schemas.microsoft.com/office/drawing/2014/main" val="1854619285"/>
                    </a:ext>
                  </a:extLst>
                </a:gridCol>
              </a:tblGrid>
              <a:tr h="0">
                <a:tc>
                  <a:txBody>
                    <a:bodyPr/>
                    <a:lstStyle/>
                    <a:p>
                      <a:pPr>
                        <a:buNone/>
                      </a:pPr>
                      <a:r>
                        <a:rPr lang="en-GB" sz="1600" dirty="0">
                          <a:solidFill>
                            <a:srgbClr val="0E2841"/>
                          </a:solidFill>
                        </a:rPr>
                        <a:t>Activity</a:t>
                      </a:r>
                    </a:p>
                  </a:txBody>
                  <a:tcPr anchor="ctr">
                    <a:lnL>
                      <a:noFill/>
                    </a:lnL>
                    <a:lnR>
                      <a:noFill/>
                    </a:lnR>
                    <a:lnT>
                      <a:noFill/>
                    </a:lnT>
                    <a:lnB>
                      <a:noFill/>
                    </a:lnB>
                    <a:noFill/>
                  </a:tcPr>
                </a:tc>
                <a:tc>
                  <a:txBody>
                    <a:bodyPr/>
                    <a:lstStyle/>
                    <a:p>
                      <a:pPr>
                        <a:buNone/>
                      </a:pPr>
                      <a:r>
                        <a:rPr lang="en-GB" sz="1600" dirty="0">
                          <a:solidFill>
                            <a:srgbClr val="0E2841"/>
                          </a:solidFill>
                        </a:rPr>
                        <a:t>Accuracy</a:t>
                      </a:r>
                    </a:p>
                  </a:txBody>
                  <a:tcPr anchor="ctr">
                    <a:lnL>
                      <a:noFill/>
                    </a:lnL>
                    <a:lnR>
                      <a:noFill/>
                    </a:lnR>
                    <a:lnT>
                      <a:noFill/>
                    </a:lnT>
                    <a:lnB>
                      <a:noFill/>
                    </a:lnB>
                    <a:noFill/>
                  </a:tcPr>
                </a:tc>
                <a:tc>
                  <a:txBody>
                    <a:bodyPr/>
                    <a:lstStyle/>
                    <a:p>
                      <a:pPr>
                        <a:buNone/>
                      </a:pPr>
                      <a:r>
                        <a:rPr lang="en-GB" sz="1600">
                          <a:solidFill>
                            <a:srgbClr val="0E2841"/>
                          </a:solidFill>
                        </a:rPr>
                        <a:t>Recall</a:t>
                      </a:r>
                    </a:p>
                  </a:txBody>
                  <a:tcPr anchor="ctr">
                    <a:lnL>
                      <a:noFill/>
                    </a:lnL>
                    <a:lnR>
                      <a:noFill/>
                    </a:lnR>
                    <a:lnT>
                      <a:noFill/>
                    </a:lnT>
                    <a:lnB>
                      <a:noFill/>
                    </a:lnB>
                    <a:noFill/>
                  </a:tcPr>
                </a:tc>
                <a:tc>
                  <a:txBody>
                    <a:bodyPr/>
                    <a:lstStyle/>
                    <a:p>
                      <a:pPr>
                        <a:buNone/>
                      </a:pPr>
                      <a:r>
                        <a:rPr lang="en-GB" sz="1600" dirty="0">
                          <a:solidFill>
                            <a:srgbClr val="0E2841"/>
                          </a:solidFill>
                        </a:rPr>
                        <a:t>FPR</a:t>
                      </a:r>
                    </a:p>
                  </a:txBody>
                  <a:tcPr anchor="ctr">
                    <a:lnL>
                      <a:noFill/>
                    </a:lnL>
                    <a:lnR>
                      <a:noFill/>
                    </a:lnR>
                    <a:lnT>
                      <a:noFill/>
                    </a:lnT>
                    <a:lnB>
                      <a:noFill/>
                    </a:lnB>
                    <a:noFill/>
                  </a:tcPr>
                </a:tc>
                <a:tc>
                  <a:txBody>
                    <a:bodyPr/>
                    <a:lstStyle/>
                    <a:p>
                      <a:pPr>
                        <a:buNone/>
                      </a:pPr>
                      <a:r>
                        <a:rPr lang="en-GB" sz="1600" dirty="0">
                          <a:solidFill>
                            <a:srgbClr val="0E2841"/>
                          </a:solidFill>
                        </a:rPr>
                        <a:t>Precision</a:t>
                      </a:r>
                    </a:p>
                  </a:txBody>
                  <a:tcPr anchor="ctr">
                    <a:lnL>
                      <a:noFill/>
                    </a:lnL>
                    <a:lnR>
                      <a:noFill/>
                    </a:lnR>
                    <a:lnT>
                      <a:noFill/>
                    </a:lnT>
                    <a:lnB>
                      <a:noFill/>
                    </a:lnB>
                    <a:noFill/>
                  </a:tcPr>
                </a:tc>
                <a:tc>
                  <a:txBody>
                    <a:bodyPr/>
                    <a:lstStyle/>
                    <a:p>
                      <a:pPr>
                        <a:buNone/>
                      </a:pPr>
                      <a:r>
                        <a:rPr lang="en-GB" sz="1600" dirty="0">
                          <a:solidFill>
                            <a:srgbClr val="0E2841"/>
                          </a:solidFill>
                        </a:rPr>
                        <a:t>F1</a:t>
                      </a:r>
                    </a:p>
                  </a:txBody>
                  <a:tcPr anchor="ctr">
                    <a:lnL>
                      <a:noFill/>
                    </a:lnL>
                    <a:lnR>
                      <a:noFill/>
                    </a:lnR>
                    <a:lnT>
                      <a:noFill/>
                    </a:lnT>
                    <a:lnB>
                      <a:noFill/>
                    </a:lnB>
                    <a:noFill/>
                  </a:tcPr>
                </a:tc>
                <a:extLst>
                  <a:ext uri="{0D108BD9-81ED-4DB2-BD59-A6C34878D82A}">
                    <a16:rowId xmlns:a16="http://schemas.microsoft.com/office/drawing/2014/main" val="1296700305"/>
                  </a:ext>
                </a:extLst>
              </a:tr>
              <a:tr h="0">
                <a:tc>
                  <a:txBody>
                    <a:bodyPr/>
                    <a:lstStyle/>
                    <a:p>
                      <a:pPr>
                        <a:buNone/>
                      </a:pPr>
                      <a:r>
                        <a:rPr lang="en-GB" sz="1600">
                          <a:solidFill>
                            <a:srgbClr val="0E2841"/>
                          </a:solidFill>
                        </a:rPr>
                        <a:t>T1</a:t>
                      </a:r>
                    </a:p>
                  </a:txBody>
                  <a:tcPr anchor="ctr">
                    <a:lnL>
                      <a:noFill/>
                    </a:lnL>
                    <a:lnR>
                      <a:noFill/>
                    </a:lnR>
                    <a:lnT>
                      <a:noFill/>
                    </a:lnT>
                    <a:lnB>
                      <a:noFill/>
                    </a:lnB>
                    <a:noFill/>
                  </a:tcPr>
                </a:tc>
                <a:tc>
                  <a:txBody>
                    <a:bodyPr/>
                    <a:lstStyle/>
                    <a:p>
                      <a:pPr>
                        <a:buNone/>
                      </a:pPr>
                      <a:r>
                        <a:rPr lang="en-GB" sz="1600" dirty="0"/>
                        <a:t>0.57</a:t>
                      </a:r>
                    </a:p>
                  </a:txBody>
                  <a:tcPr anchor="ctr">
                    <a:lnL>
                      <a:noFill/>
                    </a:lnL>
                    <a:lnR>
                      <a:noFill/>
                    </a:lnR>
                    <a:lnT>
                      <a:noFill/>
                    </a:lnT>
                    <a:lnB>
                      <a:noFill/>
                    </a:lnB>
                    <a:solidFill>
                      <a:srgbClr val="C3DACA"/>
                    </a:solidFill>
                  </a:tcPr>
                </a:tc>
                <a:tc>
                  <a:txBody>
                    <a:bodyPr/>
                    <a:lstStyle/>
                    <a:p>
                      <a:pPr>
                        <a:buNone/>
                      </a:pPr>
                      <a:r>
                        <a:rPr lang="en-GB" sz="1600"/>
                        <a:t>0.30</a:t>
                      </a:r>
                    </a:p>
                  </a:txBody>
                  <a:tcPr anchor="ctr">
                    <a:lnL>
                      <a:noFill/>
                    </a:lnL>
                    <a:lnR>
                      <a:noFill/>
                    </a:lnR>
                    <a:lnT>
                      <a:noFill/>
                    </a:lnT>
                    <a:lnB>
                      <a:noFill/>
                    </a:lnB>
                    <a:noFill/>
                  </a:tcPr>
                </a:tc>
                <a:tc>
                  <a:txBody>
                    <a:bodyPr/>
                    <a:lstStyle/>
                    <a:p>
                      <a:pPr>
                        <a:buNone/>
                      </a:pPr>
                      <a:r>
                        <a:rPr lang="en-GB" sz="1600"/>
                        <a:t>0.21</a:t>
                      </a:r>
                    </a:p>
                  </a:txBody>
                  <a:tcPr anchor="ctr">
                    <a:lnL>
                      <a:noFill/>
                    </a:lnL>
                    <a:lnR>
                      <a:noFill/>
                    </a:lnR>
                    <a:lnT>
                      <a:noFill/>
                    </a:lnT>
                    <a:lnB>
                      <a:noFill/>
                    </a:lnB>
                    <a:noFill/>
                  </a:tcPr>
                </a:tc>
                <a:tc>
                  <a:txBody>
                    <a:bodyPr/>
                    <a:lstStyle/>
                    <a:p>
                      <a:pPr>
                        <a:buNone/>
                      </a:pPr>
                      <a:r>
                        <a:rPr lang="en-GB" sz="1600"/>
                        <a:t>0.55</a:t>
                      </a:r>
                    </a:p>
                  </a:txBody>
                  <a:tcPr anchor="ctr">
                    <a:lnL>
                      <a:noFill/>
                    </a:lnL>
                    <a:lnR>
                      <a:noFill/>
                    </a:lnR>
                    <a:lnT>
                      <a:noFill/>
                    </a:lnT>
                    <a:lnB>
                      <a:noFill/>
                    </a:lnB>
                    <a:noFill/>
                  </a:tcPr>
                </a:tc>
                <a:tc>
                  <a:txBody>
                    <a:bodyPr/>
                    <a:lstStyle/>
                    <a:p>
                      <a:pPr>
                        <a:buNone/>
                      </a:pPr>
                      <a:r>
                        <a:rPr lang="en-GB" sz="1600"/>
                        <a:t>0.39</a:t>
                      </a:r>
                    </a:p>
                  </a:txBody>
                  <a:tcPr anchor="ctr">
                    <a:lnL>
                      <a:noFill/>
                    </a:lnL>
                    <a:lnR>
                      <a:noFill/>
                    </a:lnR>
                    <a:lnT>
                      <a:noFill/>
                    </a:lnT>
                    <a:lnB>
                      <a:noFill/>
                    </a:lnB>
                    <a:noFill/>
                  </a:tcPr>
                </a:tc>
                <a:extLst>
                  <a:ext uri="{0D108BD9-81ED-4DB2-BD59-A6C34878D82A}">
                    <a16:rowId xmlns:a16="http://schemas.microsoft.com/office/drawing/2014/main" val="1477382274"/>
                  </a:ext>
                </a:extLst>
              </a:tr>
              <a:tr h="0">
                <a:tc>
                  <a:txBody>
                    <a:bodyPr/>
                    <a:lstStyle/>
                    <a:p>
                      <a:pPr>
                        <a:buNone/>
                      </a:pPr>
                      <a:r>
                        <a:rPr lang="en-GB" sz="1600">
                          <a:solidFill>
                            <a:srgbClr val="0E2841"/>
                          </a:solidFill>
                        </a:rPr>
                        <a:t>T2</a:t>
                      </a:r>
                    </a:p>
                  </a:txBody>
                  <a:tcPr anchor="ctr">
                    <a:lnL>
                      <a:noFill/>
                    </a:lnL>
                    <a:lnR>
                      <a:noFill/>
                    </a:lnR>
                    <a:lnT>
                      <a:noFill/>
                    </a:lnT>
                    <a:lnB>
                      <a:noFill/>
                    </a:lnB>
                    <a:noFill/>
                  </a:tcPr>
                </a:tc>
                <a:tc>
                  <a:txBody>
                    <a:bodyPr/>
                    <a:lstStyle/>
                    <a:p>
                      <a:pPr>
                        <a:buNone/>
                      </a:pPr>
                      <a:r>
                        <a:rPr lang="en-GB" sz="1600"/>
                        <a:t>0.80</a:t>
                      </a:r>
                    </a:p>
                  </a:txBody>
                  <a:tcPr anchor="ctr">
                    <a:lnL>
                      <a:noFill/>
                    </a:lnL>
                    <a:lnR>
                      <a:noFill/>
                    </a:lnR>
                    <a:lnT>
                      <a:noFill/>
                    </a:lnT>
                    <a:lnB>
                      <a:noFill/>
                    </a:lnB>
                    <a:solidFill>
                      <a:srgbClr val="C3DACA"/>
                    </a:solidFill>
                  </a:tcPr>
                </a:tc>
                <a:tc>
                  <a:txBody>
                    <a:bodyPr/>
                    <a:lstStyle/>
                    <a:p>
                      <a:pPr>
                        <a:buNone/>
                      </a:pPr>
                      <a:r>
                        <a:rPr lang="en-GB" sz="1600" dirty="0"/>
                        <a:t>0.90</a:t>
                      </a:r>
                    </a:p>
                  </a:txBody>
                  <a:tcPr anchor="ctr">
                    <a:lnL>
                      <a:noFill/>
                    </a:lnL>
                    <a:lnR>
                      <a:noFill/>
                    </a:lnR>
                    <a:lnT>
                      <a:noFill/>
                    </a:lnT>
                    <a:lnB>
                      <a:noFill/>
                    </a:lnB>
                    <a:solidFill>
                      <a:srgbClr val="C3DACA"/>
                    </a:solidFill>
                  </a:tcPr>
                </a:tc>
                <a:tc>
                  <a:txBody>
                    <a:bodyPr/>
                    <a:lstStyle/>
                    <a:p>
                      <a:pPr>
                        <a:buNone/>
                      </a:pPr>
                      <a:r>
                        <a:rPr lang="en-GB" sz="1600"/>
                        <a:t>0.29</a:t>
                      </a:r>
                    </a:p>
                  </a:txBody>
                  <a:tcPr anchor="ctr">
                    <a:lnL>
                      <a:noFill/>
                    </a:lnL>
                    <a:lnR>
                      <a:noFill/>
                    </a:lnR>
                    <a:lnT>
                      <a:noFill/>
                    </a:lnT>
                    <a:lnB>
                      <a:noFill/>
                    </a:lnB>
                    <a:noFill/>
                  </a:tcPr>
                </a:tc>
                <a:tc>
                  <a:txBody>
                    <a:bodyPr/>
                    <a:lstStyle/>
                    <a:p>
                      <a:pPr>
                        <a:buNone/>
                      </a:pPr>
                      <a:r>
                        <a:rPr lang="en-GB" sz="1600"/>
                        <a:t>0.72</a:t>
                      </a:r>
                    </a:p>
                  </a:txBody>
                  <a:tcPr anchor="ctr">
                    <a:lnL>
                      <a:noFill/>
                    </a:lnL>
                    <a:lnR>
                      <a:noFill/>
                    </a:lnR>
                    <a:lnT>
                      <a:noFill/>
                    </a:lnT>
                    <a:lnB>
                      <a:noFill/>
                    </a:lnB>
                    <a:noFill/>
                  </a:tcPr>
                </a:tc>
                <a:tc>
                  <a:txBody>
                    <a:bodyPr/>
                    <a:lstStyle/>
                    <a:p>
                      <a:pPr>
                        <a:buNone/>
                      </a:pPr>
                      <a:r>
                        <a:rPr lang="en-GB" sz="1600"/>
                        <a:t>0.80</a:t>
                      </a:r>
                    </a:p>
                  </a:txBody>
                  <a:tcPr anchor="ctr">
                    <a:lnL>
                      <a:noFill/>
                    </a:lnL>
                    <a:lnR>
                      <a:noFill/>
                    </a:lnR>
                    <a:lnT>
                      <a:noFill/>
                    </a:lnT>
                    <a:lnB>
                      <a:noFill/>
                    </a:lnB>
                    <a:noFill/>
                  </a:tcPr>
                </a:tc>
                <a:extLst>
                  <a:ext uri="{0D108BD9-81ED-4DB2-BD59-A6C34878D82A}">
                    <a16:rowId xmlns:a16="http://schemas.microsoft.com/office/drawing/2014/main" val="1519094308"/>
                  </a:ext>
                </a:extLst>
              </a:tr>
              <a:tr h="0">
                <a:tc>
                  <a:txBody>
                    <a:bodyPr/>
                    <a:lstStyle/>
                    <a:p>
                      <a:pPr>
                        <a:buNone/>
                      </a:pPr>
                      <a:r>
                        <a:rPr lang="en-GB" sz="1600">
                          <a:solidFill>
                            <a:srgbClr val="0E2841"/>
                          </a:solidFill>
                        </a:rPr>
                        <a:t>T3</a:t>
                      </a:r>
                    </a:p>
                  </a:txBody>
                  <a:tcPr anchor="ctr">
                    <a:lnL>
                      <a:noFill/>
                    </a:lnL>
                    <a:lnR>
                      <a:noFill/>
                    </a:lnR>
                    <a:lnT>
                      <a:noFill/>
                    </a:lnT>
                    <a:lnB>
                      <a:noFill/>
                    </a:lnB>
                    <a:noFill/>
                  </a:tcPr>
                </a:tc>
                <a:tc>
                  <a:txBody>
                    <a:bodyPr/>
                    <a:lstStyle/>
                    <a:p>
                      <a:pPr>
                        <a:buNone/>
                      </a:pPr>
                      <a:r>
                        <a:rPr lang="en-GB" sz="1600"/>
                        <a:t>0.55</a:t>
                      </a:r>
                    </a:p>
                  </a:txBody>
                  <a:tcPr anchor="ctr">
                    <a:lnL>
                      <a:noFill/>
                    </a:lnL>
                    <a:lnR>
                      <a:noFill/>
                    </a:lnR>
                    <a:lnT>
                      <a:noFill/>
                    </a:lnT>
                    <a:lnB>
                      <a:noFill/>
                    </a:lnB>
                    <a:noFill/>
                  </a:tcPr>
                </a:tc>
                <a:tc>
                  <a:txBody>
                    <a:bodyPr/>
                    <a:lstStyle/>
                    <a:p>
                      <a:pPr>
                        <a:buNone/>
                      </a:pPr>
                      <a:r>
                        <a:rPr lang="en-GB" sz="1600"/>
                        <a:t>0.10</a:t>
                      </a:r>
                    </a:p>
                  </a:txBody>
                  <a:tcPr anchor="ctr">
                    <a:lnL>
                      <a:noFill/>
                    </a:lnL>
                    <a:lnR>
                      <a:noFill/>
                    </a:lnR>
                    <a:lnT>
                      <a:noFill/>
                    </a:lnT>
                    <a:lnB>
                      <a:noFill/>
                    </a:lnB>
                    <a:noFill/>
                  </a:tcPr>
                </a:tc>
                <a:tc>
                  <a:txBody>
                    <a:bodyPr/>
                    <a:lstStyle/>
                    <a:p>
                      <a:pPr>
                        <a:buNone/>
                      </a:pPr>
                      <a:r>
                        <a:rPr lang="en-GB" sz="1600"/>
                        <a:t>0.08</a:t>
                      </a:r>
                    </a:p>
                  </a:txBody>
                  <a:tcPr anchor="ctr">
                    <a:lnL>
                      <a:noFill/>
                    </a:lnL>
                    <a:lnR>
                      <a:noFill/>
                    </a:lnR>
                    <a:lnT>
                      <a:noFill/>
                    </a:lnT>
                    <a:lnB>
                      <a:noFill/>
                    </a:lnB>
                    <a:noFill/>
                  </a:tcPr>
                </a:tc>
                <a:tc>
                  <a:txBody>
                    <a:bodyPr/>
                    <a:lstStyle/>
                    <a:p>
                      <a:pPr>
                        <a:buNone/>
                      </a:pPr>
                      <a:r>
                        <a:rPr lang="en-GB" sz="1600"/>
                        <a:t>0.50</a:t>
                      </a:r>
                    </a:p>
                  </a:txBody>
                  <a:tcPr anchor="ctr">
                    <a:lnL>
                      <a:noFill/>
                    </a:lnL>
                    <a:lnR>
                      <a:noFill/>
                    </a:lnR>
                    <a:lnT>
                      <a:noFill/>
                    </a:lnT>
                    <a:lnB>
                      <a:noFill/>
                    </a:lnB>
                    <a:noFill/>
                  </a:tcPr>
                </a:tc>
                <a:tc>
                  <a:txBody>
                    <a:bodyPr/>
                    <a:lstStyle/>
                    <a:p>
                      <a:pPr>
                        <a:buNone/>
                      </a:pPr>
                      <a:r>
                        <a:rPr lang="en-GB" sz="1600"/>
                        <a:t>0.17</a:t>
                      </a:r>
                    </a:p>
                  </a:txBody>
                  <a:tcPr anchor="ctr">
                    <a:lnL>
                      <a:noFill/>
                    </a:lnL>
                    <a:lnR>
                      <a:noFill/>
                    </a:lnR>
                    <a:lnT>
                      <a:noFill/>
                    </a:lnT>
                    <a:lnB>
                      <a:noFill/>
                    </a:lnB>
                    <a:noFill/>
                  </a:tcPr>
                </a:tc>
                <a:extLst>
                  <a:ext uri="{0D108BD9-81ED-4DB2-BD59-A6C34878D82A}">
                    <a16:rowId xmlns:a16="http://schemas.microsoft.com/office/drawing/2014/main" val="2473447036"/>
                  </a:ext>
                </a:extLst>
              </a:tr>
              <a:tr h="0">
                <a:tc>
                  <a:txBody>
                    <a:bodyPr/>
                    <a:lstStyle/>
                    <a:p>
                      <a:pPr>
                        <a:buNone/>
                      </a:pPr>
                      <a:r>
                        <a:rPr lang="en-GB" sz="1600">
                          <a:solidFill>
                            <a:srgbClr val="0E2841"/>
                          </a:solidFill>
                        </a:rPr>
                        <a:t>T4</a:t>
                      </a:r>
                    </a:p>
                  </a:txBody>
                  <a:tcPr anchor="ctr">
                    <a:lnL>
                      <a:noFill/>
                    </a:lnL>
                    <a:lnR>
                      <a:noFill/>
                    </a:lnR>
                    <a:lnT>
                      <a:noFill/>
                    </a:lnT>
                    <a:lnB>
                      <a:noFill/>
                    </a:lnB>
                    <a:noFill/>
                  </a:tcPr>
                </a:tc>
                <a:tc>
                  <a:txBody>
                    <a:bodyPr/>
                    <a:lstStyle/>
                    <a:p>
                      <a:pPr>
                        <a:buNone/>
                      </a:pPr>
                      <a:r>
                        <a:rPr lang="en-GB" sz="1600"/>
                        <a:t>0.80</a:t>
                      </a:r>
                    </a:p>
                  </a:txBody>
                  <a:tcPr anchor="ctr">
                    <a:lnL>
                      <a:noFill/>
                    </a:lnL>
                    <a:lnR>
                      <a:noFill/>
                    </a:lnR>
                    <a:lnT>
                      <a:noFill/>
                    </a:lnT>
                    <a:lnB>
                      <a:noFill/>
                    </a:lnB>
                    <a:solidFill>
                      <a:srgbClr val="C3DACA"/>
                    </a:solidFill>
                  </a:tcPr>
                </a:tc>
                <a:tc>
                  <a:txBody>
                    <a:bodyPr/>
                    <a:lstStyle/>
                    <a:p>
                      <a:pPr>
                        <a:buNone/>
                      </a:pPr>
                      <a:r>
                        <a:rPr lang="en-GB" sz="1600" dirty="0"/>
                        <a:t>0.75</a:t>
                      </a:r>
                    </a:p>
                  </a:txBody>
                  <a:tcPr anchor="ctr">
                    <a:lnL>
                      <a:noFill/>
                    </a:lnL>
                    <a:lnR>
                      <a:noFill/>
                    </a:lnR>
                    <a:lnT>
                      <a:noFill/>
                    </a:lnT>
                    <a:lnB>
                      <a:noFill/>
                    </a:lnB>
                    <a:solidFill>
                      <a:srgbClr val="C3DACA"/>
                    </a:solidFill>
                  </a:tcPr>
                </a:tc>
                <a:tc>
                  <a:txBody>
                    <a:bodyPr/>
                    <a:lstStyle/>
                    <a:p>
                      <a:pPr>
                        <a:buNone/>
                      </a:pPr>
                      <a:r>
                        <a:rPr lang="en-GB" sz="1600"/>
                        <a:t>0.17</a:t>
                      </a:r>
                    </a:p>
                  </a:txBody>
                  <a:tcPr anchor="ctr">
                    <a:lnL>
                      <a:noFill/>
                    </a:lnL>
                    <a:lnR>
                      <a:noFill/>
                    </a:lnR>
                    <a:lnT>
                      <a:noFill/>
                    </a:lnT>
                    <a:lnB>
                      <a:noFill/>
                    </a:lnB>
                    <a:noFill/>
                  </a:tcPr>
                </a:tc>
                <a:tc>
                  <a:txBody>
                    <a:bodyPr/>
                    <a:lstStyle/>
                    <a:p>
                      <a:pPr>
                        <a:buNone/>
                      </a:pPr>
                      <a:r>
                        <a:rPr lang="en-GB" sz="1600"/>
                        <a:t>0.79</a:t>
                      </a:r>
                    </a:p>
                  </a:txBody>
                  <a:tcPr anchor="ctr">
                    <a:lnL>
                      <a:noFill/>
                    </a:lnL>
                    <a:lnR>
                      <a:noFill/>
                    </a:lnR>
                    <a:lnT>
                      <a:noFill/>
                    </a:lnT>
                    <a:lnB>
                      <a:noFill/>
                    </a:lnB>
                    <a:noFill/>
                  </a:tcPr>
                </a:tc>
                <a:tc>
                  <a:txBody>
                    <a:bodyPr/>
                    <a:lstStyle/>
                    <a:p>
                      <a:pPr>
                        <a:buNone/>
                      </a:pPr>
                      <a:r>
                        <a:rPr lang="en-GB" sz="1600"/>
                        <a:t>0.77</a:t>
                      </a:r>
                    </a:p>
                  </a:txBody>
                  <a:tcPr anchor="ctr">
                    <a:lnL>
                      <a:noFill/>
                    </a:lnL>
                    <a:lnR>
                      <a:noFill/>
                    </a:lnR>
                    <a:lnT>
                      <a:noFill/>
                    </a:lnT>
                    <a:lnB>
                      <a:noFill/>
                    </a:lnB>
                    <a:noFill/>
                  </a:tcPr>
                </a:tc>
                <a:extLst>
                  <a:ext uri="{0D108BD9-81ED-4DB2-BD59-A6C34878D82A}">
                    <a16:rowId xmlns:a16="http://schemas.microsoft.com/office/drawing/2014/main" val="819725802"/>
                  </a:ext>
                </a:extLst>
              </a:tr>
              <a:tr h="0">
                <a:tc>
                  <a:txBody>
                    <a:bodyPr/>
                    <a:lstStyle/>
                    <a:p>
                      <a:pPr>
                        <a:buNone/>
                      </a:pPr>
                      <a:r>
                        <a:rPr lang="en-GB" sz="1600">
                          <a:solidFill>
                            <a:srgbClr val="0E2841"/>
                          </a:solidFill>
                        </a:rPr>
                        <a:t>T5</a:t>
                      </a:r>
                    </a:p>
                  </a:txBody>
                  <a:tcPr anchor="ctr">
                    <a:lnL>
                      <a:noFill/>
                    </a:lnL>
                    <a:lnR>
                      <a:noFill/>
                    </a:lnR>
                    <a:lnT>
                      <a:noFill/>
                    </a:lnT>
                    <a:lnB>
                      <a:noFill/>
                    </a:lnB>
                    <a:noFill/>
                  </a:tcPr>
                </a:tc>
                <a:tc>
                  <a:txBody>
                    <a:bodyPr/>
                    <a:lstStyle/>
                    <a:p>
                      <a:pPr>
                        <a:buNone/>
                      </a:pPr>
                      <a:r>
                        <a:rPr lang="en-GB" sz="1600"/>
                        <a:t>0.59</a:t>
                      </a:r>
                    </a:p>
                  </a:txBody>
                  <a:tcPr anchor="ctr">
                    <a:lnL>
                      <a:noFill/>
                    </a:lnL>
                    <a:lnR>
                      <a:noFill/>
                    </a:lnR>
                    <a:lnT>
                      <a:noFill/>
                    </a:lnT>
                    <a:lnB>
                      <a:noFill/>
                    </a:lnB>
                    <a:noFill/>
                  </a:tcPr>
                </a:tc>
                <a:tc>
                  <a:txBody>
                    <a:bodyPr/>
                    <a:lstStyle/>
                    <a:p>
                      <a:pPr>
                        <a:buNone/>
                      </a:pPr>
                      <a:r>
                        <a:rPr lang="en-GB" sz="1600" dirty="0"/>
                        <a:t>0.30</a:t>
                      </a:r>
                    </a:p>
                  </a:txBody>
                  <a:tcPr anchor="ctr">
                    <a:lnL>
                      <a:noFill/>
                    </a:lnL>
                    <a:lnR>
                      <a:noFill/>
                    </a:lnR>
                    <a:lnT>
                      <a:noFill/>
                    </a:lnT>
                    <a:lnB>
                      <a:noFill/>
                    </a:lnB>
                    <a:noFill/>
                  </a:tcPr>
                </a:tc>
                <a:tc>
                  <a:txBody>
                    <a:bodyPr/>
                    <a:lstStyle/>
                    <a:p>
                      <a:pPr>
                        <a:buNone/>
                      </a:pPr>
                      <a:r>
                        <a:rPr lang="en-GB" sz="1600"/>
                        <a:t>0.17</a:t>
                      </a:r>
                    </a:p>
                  </a:txBody>
                  <a:tcPr anchor="ctr">
                    <a:lnL>
                      <a:noFill/>
                    </a:lnL>
                    <a:lnR>
                      <a:noFill/>
                    </a:lnR>
                    <a:lnT>
                      <a:noFill/>
                    </a:lnT>
                    <a:lnB>
                      <a:noFill/>
                    </a:lnB>
                    <a:noFill/>
                  </a:tcPr>
                </a:tc>
                <a:tc>
                  <a:txBody>
                    <a:bodyPr/>
                    <a:lstStyle/>
                    <a:p>
                      <a:pPr>
                        <a:buNone/>
                      </a:pPr>
                      <a:r>
                        <a:rPr lang="en-GB" sz="1600"/>
                        <a:t>0.60</a:t>
                      </a:r>
                    </a:p>
                  </a:txBody>
                  <a:tcPr anchor="ctr">
                    <a:lnL>
                      <a:noFill/>
                    </a:lnL>
                    <a:lnR>
                      <a:noFill/>
                    </a:lnR>
                    <a:lnT>
                      <a:noFill/>
                    </a:lnT>
                    <a:lnB>
                      <a:noFill/>
                    </a:lnB>
                    <a:noFill/>
                  </a:tcPr>
                </a:tc>
                <a:tc>
                  <a:txBody>
                    <a:bodyPr/>
                    <a:lstStyle/>
                    <a:p>
                      <a:pPr>
                        <a:buNone/>
                      </a:pPr>
                      <a:r>
                        <a:rPr lang="en-GB" sz="1600" dirty="0"/>
                        <a:t>0.40</a:t>
                      </a:r>
                    </a:p>
                  </a:txBody>
                  <a:tcPr anchor="ctr">
                    <a:lnL>
                      <a:noFill/>
                    </a:lnL>
                    <a:lnR>
                      <a:noFill/>
                    </a:lnR>
                    <a:lnT>
                      <a:noFill/>
                    </a:lnT>
                    <a:lnB>
                      <a:noFill/>
                    </a:lnB>
                    <a:noFill/>
                  </a:tcPr>
                </a:tc>
                <a:extLst>
                  <a:ext uri="{0D108BD9-81ED-4DB2-BD59-A6C34878D82A}">
                    <a16:rowId xmlns:a16="http://schemas.microsoft.com/office/drawing/2014/main" val="4232861555"/>
                  </a:ext>
                </a:extLst>
              </a:tr>
              <a:tr h="0">
                <a:tc>
                  <a:txBody>
                    <a:bodyPr/>
                    <a:lstStyle/>
                    <a:p>
                      <a:pPr>
                        <a:buNone/>
                      </a:pPr>
                      <a:r>
                        <a:rPr lang="en-GB" sz="1600" b="0">
                          <a:solidFill>
                            <a:srgbClr val="0E2841"/>
                          </a:solidFill>
                        </a:rPr>
                        <a:t>All</a:t>
                      </a:r>
                    </a:p>
                  </a:txBody>
                  <a:tcPr anchor="ctr">
                    <a:lnL>
                      <a:noFill/>
                    </a:lnL>
                    <a:lnR>
                      <a:noFill/>
                    </a:lnR>
                    <a:lnT>
                      <a:noFill/>
                    </a:lnT>
                    <a:lnB>
                      <a:noFill/>
                    </a:lnB>
                    <a:noFill/>
                  </a:tcPr>
                </a:tc>
                <a:tc>
                  <a:txBody>
                    <a:bodyPr/>
                    <a:lstStyle/>
                    <a:p>
                      <a:pPr>
                        <a:buNone/>
                      </a:pPr>
                      <a:r>
                        <a:rPr lang="en-GB" sz="1600" b="0"/>
                        <a:t>0.66</a:t>
                      </a:r>
                    </a:p>
                  </a:txBody>
                  <a:tcPr anchor="ctr">
                    <a:lnL>
                      <a:noFill/>
                    </a:lnL>
                    <a:lnR>
                      <a:noFill/>
                    </a:lnR>
                    <a:lnT>
                      <a:noFill/>
                    </a:lnT>
                    <a:lnB>
                      <a:noFill/>
                    </a:lnB>
                    <a:noFill/>
                  </a:tcPr>
                </a:tc>
                <a:tc>
                  <a:txBody>
                    <a:bodyPr/>
                    <a:lstStyle/>
                    <a:p>
                      <a:pPr>
                        <a:buNone/>
                      </a:pPr>
                      <a:r>
                        <a:rPr lang="en-GB" sz="1600" b="0"/>
                        <a:t>0.47</a:t>
                      </a:r>
                    </a:p>
                  </a:txBody>
                  <a:tcPr anchor="ctr">
                    <a:lnL>
                      <a:noFill/>
                    </a:lnL>
                    <a:lnR>
                      <a:noFill/>
                    </a:lnR>
                    <a:lnT>
                      <a:noFill/>
                    </a:lnT>
                    <a:lnB>
                      <a:noFill/>
                    </a:lnB>
                    <a:noFill/>
                  </a:tcPr>
                </a:tc>
                <a:tc>
                  <a:txBody>
                    <a:bodyPr/>
                    <a:lstStyle/>
                    <a:p>
                      <a:pPr>
                        <a:buNone/>
                      </a:pPr>
                      <a:r>
                        <a:rPr lang="en-GB" sz="1600" b="0"/>
                        <a:t>0.18</a:t>
                      </a:r>
                    </a:p>
                  </a:txBody>
                  <a:tcPr anchor="ctr">
                    <a:lnL>
                      <a:noFill/>
                    </a:lnL>
                    <a:lnR>
                      <a:noFill/>
                    </a:lnR>
                    <a:lnT>
                      <a:noFill/>
                    </a:lnT>
                    <a:lnB>
                      <a:noFill/>
                    </a:lnB>
                    <a:noFill/>
                  </a:tcPr>
                </a:tc>
                <a:tc>
                  <a:txBody>
                    <a:bodyPr/>
                    <a:lstStyle/>
                    <a:p>
                      <a:pPr>
                        <a:buNone/>
                      </a:pPr>
                      <a:r>
                        <a:rPr lang="en-GB" sz="1600" b="0"/>
                        <a:t>0.68</a:t>
                      </a:r>
                    </a:p>
                  </a:txBody>
                  <a:tcPr anchor="ctr">
                    <a:lnL>
                      <a:noFill/>
                    </a:lnL>
                    <a:lnR>
                      <a:noFill/>
                    </a:lnR>
                    <a:lnT>
                      <a:noFill/>
                    </a:lnT>
                    <a:lnB>
                      <a:noFill/>
                    </a:lnB>
                    <a:noFill/>
                  </a:tcPr>
                </a:tc>
                <a:tc>
                  <a:txBody>
                    <a:bodyPr/>
                    <a:lstStyle/>
                    <a:p>
                      <a:pPr>
                        <a:buNone/>
                      </a:pPr>
                      <a:r>
                        <a:rPr lang="en-GB" sz="1600" b="0" dirty="0"/>
                        <a:t>0.56</a:t>
                      </a:r>
                    </a:p>
                  </a:txBody>
                  <a:tcPr anchor="ctr">
                    <a:lnL>
                      <a:noFill/>
                    </a:lnL>
                    <a:lnR>
                      <a:noFill/>
                    </a:lnR>
                    <a:lnT>
                      <a:noFill/>
                    </a:lnT>
                    <a:lnB>
                      <a:noFill/>
                    </a:lnB>
                    <a:noFill/>
                  </a:tcPr>
                </a:tc>
                <a:extLst>
                  <a:ext uri="{0D108BD9-81ED-4DB2-BD59-A6C34878D82A}">
                    <a16:rowId xmlns:a16="http://schemas.microsoft.com/office/drawing/2014/main" val="1461380338"/>
                  </a:ext>
                </a:extLst>
              </a:tr>
            </a:tbl>
          </a:graphicData>
        </a:graphic>
      </p:graphicFrame>
      <p:sp>
        <p:nvSpPr>
          <p:cNvPr id="7" name="Content Placeholder 5">
            <a:extLst>
              <a:ext uri="{FF2B5EF4-FFF2-40B4-BE49-F238E27FC236}">
                <a16:creationId xmlns:a16="http://schemas.microsoft.com/office/drawing/2014/main" id="{B4C42772-3A9B-241C-12C4-51698854DB3B}"/>
              </a:ext>
            </a:extLst>
          </p:cNvPr>
          <p:cNvSpPr txBox="1">
            <a:spLocks/>
          </p:cNvSpPr>
          <p:nvPr/>
        </p:nvSpPr>
        <p:spPr>
          <a:xfrm>
            <a:off x="3272695" y="4113074"/>
            <a:ext cx="5537199" cy="2567827"/>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0" indent="0">
              <a:buNone/>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p:txBody>
      </p:sp>
      <p:sp>
        <p:nvSpPr>
          <p:cNvPr id="14" name="Rectangle: Rounded Corners 2">
            <a:extLst>
              <a:ext uri="{FF2B5EF4-FFF2-40B4-BE49-F238E27FC236}">
                <a16:creationId xmlns:a16="http://schemas.microsoft.com/office/drawing/2014/main" id="{B50D4D31-BC90-7A84-4915-3051520D109A}"/>
              </a:ext>
            </a:extLst>
          </p:cNvPr>
          <p:cNvSpPr/>
          <p:nvPr/>
        </p:nvSpPr>
        <p:spPr>
          <a:xfrm>
            <a:off x="3403213" y="3963550"/>
            <a:ext cx="1583002" cy="299048"/>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Autoencoder</a:t>
            </a:r>
            <a:endParaRPr lang="en-US" dirty="0">
              <a:solidFill>
                <a:schemeClr val="tx2"/>
              </a:solidFill>
            </a:endParaRPr>
          </a:p>
        </p:txBody>
      </p:sp>
      <p:graphicFrame>
        <p:nvGraphicFramePr>
          <p:cNvPr id="15" name="Table 14">
            <a:extLst>
              <a:ext uri="{FF2B5EF4-FFF2-40B4-BE49-F238E27FC236}">
                <a16:creationId xmlns:a16="http://schemas.microsoft.com/office/drawing/2014/main" id="{9277B7F3-6C94-1B89-3B6B-CC12BBF7842F}"/>
              </a:ext>
            </a:extLst>
          </p:cNvPr>
          <p:cNvGraphicFramePr>
            <a:graphicFrameLocks noGrp="1"/>
          </p:cNvGraphicFramePr>
          <p:nvPr>
            <p:extLst>
              <p:ext uri="{D42A27DB-BD31-4B8C-83A1-F6EECF244321}">
                <p14:modId xmlns:p14="http://schemas.microsoft.com/office/powerpoint/2010/main" val="1084150123"/>
              </p:ext>
            </p:extLst>
          </p:nvPr>
        </p:nvGraphicFramePr>
        <p:xfrm>
          <a:off x="6268984" y="1367956"/>
          <a:ext cx="5456100" cy="2346960"/>
        </p:xfrm>
        <a:graphic>
          <a:graphicData uri="http://schemas.openxmlformats.org/drawingml/2006/table">
            <a:tbl>
              <a:tblPr/>
              <a:tblGrid>
                <a:gridCol w="909350">
                  <a:extLst>
                    <a:ext uri="{9D8B030D-6E8A-4147-A177-3AD203B41FA5}">
                      <a16:colId xmlns:a16="http://schemas.microsoft.com/office/drawing/2014/main" val="1617131686"/>
                    </a:ext>
                  </a:extLst>
                </a:gridCol>
                <a:gridCol w="998563">
                  <a:extLst>
                    <a:ext uri="{9D8B030D-6E8A-4147-A177-3AD203B41FA5}">
                      <a16:colId xmlns:a16="http://schemas.microsoft.com/office/drawing/2014/main" val="4047744777"/>
                    </a:ext>
                  </a:extLst>
                </a:gridCol>
                <a:gridCol w="1086338">
                  <a:extLst>
                    <a:ext uri="{9D8B030D-6E8A-4147-A177-3AD203B41FA5}">
                      <a16:colId xmlns:a16="http://schemas.microsoft.com/office/drawing/2014/main" val="1940767653"/>
                    </a:ext>
                  </a:extLst>
                </a:gridCol>
                <a:gridCol w="750277">
                  <a:extLst>
                    <a:ext uri="{9D8B030D-6E8A-4147-A177-3AD203B41FA5}">
                      <a16:colId xmlns:a16="http://schemas.microsoft.com/office/drawing/2014/main" val="1691399192"/>
                    </a:ext>
                  </a:extLst>
                </a:gridCol>
                <a:gridCol w="1086339">
                  <a:extLst>
                    <a:ext uri="{9D8B030D-6E8A-4147-A177-3AD203B41FA5}">
                      <a16:colId xmlns:a16="http://schemas.microsoft.com/office/drawing/2014/main" val="4003095629"/>
                    </a:ext>
                  </a:extLst>
                </a:gridCol>
                <a:gridCol w="625233">
                  <a:extLst>
                    <a:ext uri="{9D8B030D-6E8A-4147-A177-3AD203B41FA5}">
                      <a16:colId xmlns:a16="http://schemas.microsoft.com/office/drawing/2014/main" val="2335437918"/>
                    </a:ext>
                  </a:extLst>
                </a:gridCol>
              </a:tblGrid>
              <a:tr h="0">
                <a:tc>
                  <a:txBody>
                    <a:bodyPr/>
                    <a:lstStyle/>
                    <a:p>
                      <a:pPr>
                        <a:buNone/>
                      </a:pPr>
                      <a:r>
                        <a:rPr lang="en-GB" sz="1600" dirty="0">
                          <a:solidFill>
                            <a:srgbClr val="0E2841"/>
                          </a:solidFill>
                        </a:rPr>
                        <a:t>Activity</a:t>
                      </a:r>
                    </a:p>
                  </a:txBody>
                  <a:tcPr anchor="ctr">
                    <a:lnL>
                      <a:noFill/>
                    </a:lnL>
                    <a:lnR>
                      <a:noFill/>
                    </a:lnR>
                    <a:lnT>
                      <a:noFill/>
                    </a:lnT>
                    <a:lnB>
                      <a:noFill/>
                    </a:lnB>
                    <a:noFill/>
                  </a:tcPr>
                </a:tc>
                <a:tc>
                  <a:txBody>
                    <a:bodyPr/>
                    <a:lstStyle/>
                    <a:p>
                      <a:pPr>
                        <a:buNone/>
                      </a:pPr>
                      <a:r>
                        <a:rPr lang="en-GB" sz="1600" dirty="0">
                          <a:solidFill>
                            <a:srgbClr val="0E2841"/>
                          </a:solidFill>
                        </a:rPr>
                        <a:t>Accuracy</a:t>
                      </a:r>
                    </a:p>
                  </a:txBody>
                  <a:tcPr anchor="ctr">
                    <a:lnL>
                      <a:noFill/>
                    </a:lnL>
                    <a:lnR>
                      <a:noFill/>
                    </a:lnR>
                    <a:lnT>
                      <a:noFill/>
                    </a:lnT>
                    <a:lnB>
                      <a:noFill/>
                    </a:lnB>
                    <a:noFill/>
                  </a:tcPr>
                </a:tc>
                <a:tc>
                  <a:txBody>
                    <a:bodyPr/>
                    <a:lstStyle/>
                    <a:p>
                      <a:pPr>
                        <a:buNone/>
                      </a:pPr>
                      <a:r>
                        <a:rPr lang="en-GB" sz="1600">
                          <a:solidFill>
                            <a:srgbClr val="0E2841"/>
                          </a:solidFill>
                        </a:rPr>
                        <a:t>Recall</a:t>
                      </a:r>
                    </a:p>
                  </a:txBody>
                  <a:tcPr anchor="ctr">
                    <a:lnL>
                      <a:noFill/>
                    </a:lnL>
                    <a:lnR>
                      <a:noFill/>
                    </a:lnR>
                    <a:lnT>
                      <a:noFill/>
                    </a:lnT>
                    <a:lnB>
                      <a:noFill/>
                    </a:lnB>
                    <a:noFill/>
                  </a:tcPr>
                </a:tc>
                <a:tc>
                  <a:txBody>
                    <a:bodyPr/>
                    <a:lstStyle/>
                    <a:p>
                      <a:pPr>
                        <a:buNone/>
                      </a:pPr>
                      <a:r>
                        <a:rPr lang="en-GB" sz="1600" dirty="0">
                          <a:solidFill>
                            <a:srgbClr val="0E2841"/>
                          </a:solidFill>
                        </a:rPr>
                        <a:t>FPR</a:t>
                      </a:r>
                    </a:p>
                  </a:txBody>
                  <a:tcPr anchor="ctr">
                    <a:lnL>
                      <a:noFill/>
                    </a:lnL>
                    <a:lnR>
                      <a:noFill/>
                    </a:lnR>
                    <a:lnT>
                      <a:noFill/>
                    </a:lnT>
                    <a:lnB>
                      <a:noFill/>
                    </a:lnB>
                    <a:noFill/>
                  </a:tcPr>
                </a:tc>
                <a:tc>
                  <a:txBody>
                    <a:bodyPr/>
                    <a:lstStyle/>
                    <a:p>
                      <a:pPr>
                        <a:buNone/>
                      </a:pPr>
                      <a:r>
                        <a:rPr lang="en-GB" sz="1600" dirty="0">
                          <a:solidFill>
                            <a:srgbClr val="0E2841"/>
                          </a:solidFill>
                        </a:rPr>
                        <a:t>Precision</a:t>
                      </a:r>
                    </a:p>
                  </a:txBody>
                  <a:tcPr anchor="ctr">
                    <a:lnL>
                      <a:noFill/>
                    </a:lnL>
                    <a:lnR>
                      <a:noFill/>
                    </a:lnR>
                    <a:lnT>
                      <a:noFill/>
                    </a:lnT>
                    <a:lnB>
                      <a:noFill/>
                    </a:lnB>
                    <a:noFill/>
                  </a:tcPr>
                </a:tc>
                <a:tc>
                  <a:txBody>
                    <a:bodyPr/>
                    <a:lstStyle/>
                    <a:p>
                      <a:pPr>
                        <a:buNone/>
                      </a:pPr>
                      <a:r>
                        <a:rPr lang="en-GB" sz="1600" dirty="0">
                          <a:solidFill>
                            <a:srgbClr val="0E2841"/>
                          </a:solidFill>
                        </a:rPr>
                        <a:t>F1</a:t>
                      </a:r>
                    </a:p>
                  </a:txBody>
                  <a:tcPr anchor="ctr">
                    <a:lnL>
                      <a:noFill/>
                    </a:lnL>
                    <a:lnR>
                      <a:noFill/>
                    </a:lnR>
                    <a:lnT>
                      <a:noFill/>
                    </a:lnT>
                    <a:lnB>
                      <a:noFill/>
                    </a:lnB>
                    <a:noFill/>
                  </a:tcPr>
                </a:tc>
                <a:extLst>
                  <a:ext uri="{0D108BD9-81ED-4DB2-BD59-A6C34878D82A}">
                    <a16:rowId xmlns:a16="http://schemas.microsoft.com/office/drawing/2014/main" val="2466233277"/>
                  </a:ext>
                </a:extLst>
              </a:tr>
              <a:tr h="0">
                <a:tc>
                  <a:txBody>
                    <a:bodyPr/>
                    <a:lstStyle/>
                    <a:p>
                      <a:pPr>
                        <a:buNone/>
                      </a:pPr>
                      <a:r>
                        <a:rPr lang="en-GB" sz="1600" dirty="0">
                          <a:solidFill>
                            <a:srgbClr val="0E2841"/>
                          </a:solidFill>
                        </a:rPr>
                        <a:t>T1</a:t>
                      </a:r>
                    </a:p>
                  </a:txBody>
                  <a:tcPr anchor="ctr">
                    <a:lnL>
                      <a:noFill/>
                    </a:lnL>
                    <a:lnR>
                      <a:noFill/>
                    </a:lnR>
                    <a:lnT>
                      <a:noFill/>
                    </a:lnT>
                    <a:lnB>
                      <a:noFill/>
                    </a:lnB>
                    <a:noFill/>
                  </a:tcPr>
                </a:tc>
                <a:tc>
                  <a:txBody>
                    <a:bodyPr/>
                    <a:lstStyle/>
                    <a:p>
                      <a:pPr>
                        <a:buNone/>
                      </a:pPr>
                      <a:r>
                        <a:rPr lang="en-GB" sz="1600"/>
                        <a:t>0.50</a:t>
                      </a:r>
                    </a:p>
                  </a:txBody>
                  <a:tcPr anchor="ctr">
                    <a:lnL>
                      <a:noFill/>
                    </a:lnL>
                    <a:lnR>
                      <a:noFill/>
                    </a:lnR>
                    <a:lnT>
                      <a:noFill/>
                    </a:lnT>
                    <a:lnB>
                      <a:noFill/>
                    </a:lnB>
                    <a:noFill/>
                  </a:tcPr>
                </a:tc>
                <a:tc>
                  <a:txBody>
                    <a:bodyPr/>
                    <a:lstStyle/>
                    <a:p>
                      <a:pPr>
                        <a:buNone/>
                      </a:pPr>
                      <a:r>
                        <a:rPr lang="en-GB" sz="1600"/>
                        <a:t>0.15</a:t>
                      </a:r>
                    </a:p>
                  </a:txBody>
                  <a:tcPr anchor="ctr">
                    <a:lnL>
                      <a:noFill/>
                    </a:lnL>
                    <a:lnR>
                      <a:noFill/>
                    </a:lnR>
                    <a:lnT>
                      <a:noFill/>
                    </a:lnT>
                    <a:lnB>
                      <a:noFill/>
                    </a:lnB>
                    <a:noFill/>
                  </a:tcPr>
                </a:tc>
                <a:tc>
                  <a:txBody>
                    <a:bodyPr/>
                    <a:lstStyle/>
                    <a:p>
                      <a:pPr>
                        <a:buNone/>
                      </a:pPr>
                      <a:r>
                        <a:rPr lang="en-GB" sz="1600"/>
                        <a:t>0.21</a:t>
                      </a:r>
                    </a:p>
                  </a:txBody>
                  <a:tcPr anchor="ctr">
                    <a:lnL>
                      <a:noFill/>
                    </a:lnL>
                    <a:lnR>
                      <a:noFill/>
                    </a:lnR>
                    <a:lnT>
                      <a:noFill/>
                    </a:lnT>
                    <a:lnB>
                      <a:noFill/>
                    </a:lnB>
                    <a:noFill/>
                  </a:tcPr>
                </a:tc>
                <a:tc>
                  <a:txBody>
                    <a:bodyPr/>
                    <a:lstStyle/>
                    <a:p>
                      <a:pPr>
                        <a:buNone/>
                      </a:pPr>
                      <a:r>
                        <a:rPr lang="en-GB" sz="1600"/>
                        <a:t>0.38</a:t>
                      </a:r>
                    </a:p>
                  </a:txBody>
                  <a:tcPr anchor="ctr">
                    <a:lnL>
                      <a:noFill/>
                    </a:lnL>
                    <a:lnR>
                      <a:noFill/>
                    </a:lnR>
                    <a:lnT>
                      <a:noFill/>
                    </a:lnT>
                    <a:lnB>
                      <a:noFill/>
                    </a:lnB>
                    <a:noFill/>
                  </a:tcPr>
                </a:tc>
                <a:tc>
                  <a:txBody>
                    <a:bodyPr/>
                    <a:lstStyle/>
                    <a:p>
                      <a:pPr>
                        <a:buNone/>
                      </a:pPr>
                      <a:r>
                        <a:rPr lang="en-GB" sz="1600"/>
                        <a:t>0.21</a:t>
                      </a:r>
                    </a:p>
                  </a:txBody>
                  <a:tcPr anchor="ctr">
                    <a:lnL>
                      <a:noFill/>
                    </a:lnL>
                    <a:lnR>
                      <a:noFill/>
                    </a:lnR>
                    <a:lnT>
                      <a:noFill/>
                    </a:lnT>
                    <a:lnB>
                      <a:noFill/>
                    </a:lnB>
                    <a:noFill/>
                  </a:tcPr>
                </a:tc>
                <a:extLst>
                  <a:ext uri="{0D108BD9-81ED-4DB2-BD59-A6C34878D82A}">
                    <a16:rowId xmlns:a16="http://schemas.microsoft.com/office/drawing/2014/main" val="2072771572"/>
                  </a:ext>
                </a:extLst>
              </a:tr>
              <a:tr h="0">
                <a:tc>
                  <a:txBody>
                    <a:bodyPr/>
                    <a:lstStyle/>
                    <a:p>
                      <a:pPr>
                        <a:buNone/>
                      </a:pPr>
                      <a:r>
                        <a:rPr lang="en-GB" sz="1600" dirty="0">
                          <a:solidFill>
                            <a:srgbClr val="0E2841"/>
                          </a:solidFill>
                        </a:rPr>
                        <a:t>T2</a:t>
                      </a:r>
                    </a:p>
                  </a:txBody>
                  <a:tcPr anchor="ctr">
                    <a:lnL>
                      <a:noFill/>
                    </a:lnL>
                    <a:lnR>
                      <a:noFill/>
                    </a:lnR>
                    <a:lnT>
                      <a:noFill/>
                    </a:lnT>
                    <a:lnB>
                      <a:noFill/>
                    </a:lnB>
                    <a:noFill/>
                  </a:tcPr>
                </a:tc>
                <a:tc>
                  <a:txBody>
                    <a:bodyPr/>
                    <a:lstStyle/>
                    <a:p>
                      <a:pPr>
                        <a:buNone/>
                      </a:pPr>
                      <a:r>
                        <a:rPr lang="en-GB" sz="1600"/>
                        <a:t>0.61</a:t>
                      </a:r>
                    </a:p>
                  </a:txBody>
                  <a:tcPr anchor="ctr">
                    <a:lnL>
                      <a:noFill/>
                    </a:lnL>
                    <a:lnR>
                      <a:noFill/>
                    </a:lnR>
                    <a:lnT>
                      <a:noFill/>
                    </a:lnT>
                    <a:lnB>
                      <a:noFill/>
                    </a:lnB>
                    <a:noFill/>
                  </a:tcPr>
                </a:tc>
                <a:tc>
                  <a:txBody>
                    <a:bodyPr/>
                    <a:lstStyle/>
                    <a:p>
                      <a:pPr>
                        <a:buNone/>
                      </a:pPr>
                      <a:r>
                        <a:rPr lang="en-GB" sz="1600"/>
                        <a:t>0.50</a:t>
                      </a:r>
                    </a:p>
                  </a:txBody>
                  <a:tcPr anchor="ctr">
                    <a:lnL>
                      <a:noFill/>
                    </a:lnL>
                    <a:lnR>
                      <a:noFill/>
                    </a:lnR>
                    <a:lnT>
                      <a:noFill/>
                    </a:lnT>
                    <a:lnB>
                      <a:noFill/>
                    </a:lnB>
                    <a:noFill/>
                  </a:tcPr>
                </a:tc>
                <a:tc>
                  <a:txBody>
                    <a:bodyPr/>
                    <a:lstStyle/>
                    <a:p>
                      <a:pPr>
                        <a:buNone/>
                      </a:pPr>
                      <a:r>
                        <a:rPr lang="en-GB" sz="1600"/>
                        <a:t>0.29</a:t>
                      </a:r>
                    </a:p>
                  </a:txBody>
                  <a:tcPr anchor="ctr">
                    <a:lnL>
                      <a:noFill/>
                    </a:lnL>
                    <a:lnR>
                      <a:noFill/>
                    </a:lnR>
                    <a:lnT>
                      <a:noFill/>
                    </a:lnT>
                    <a:lnB>
                      <a:noFill/>
                    </a:lnB>
                    <a:noFill/>
                  </a:tcPr>
                </a:tc>
                <a:tc>
                  <a:txBody>
                    <a:bodyPr/>
                    <a:lstStyle/>
                    <a:p>
                      <a:pPr>
                        <a:buNone/>
                      </a:pPr>
                      <a:r>
                        <a:rPr lang="en-GB" sz="1600"/>
                        <a:t>0.59</a:t>
                      </a:r>
                    </a:p>
                  </a:txBody>
                  <a:tcPr anchor="ctr">
                    <a:lnL>
                      <a:noFill/>
                    </a:lnL>
                    <a:lnR>
                      <a:noFill/>
                    </a:lnR>
                    <a:lnT>
                      <a:noFill/>
                    </a:lnT>
                    <a:lnB>
                      <a:noFill/>
                    </a:lnB>
                    <a:noFill/>
                  </a:tcPr>
                </a:tc>
                <a:tc>
                  <a:txBody>
                    <a:bodyPr/>
                    <a:lstStyle/>
                    <a:p>
                      <a:pPr>
                        <a:buNone/>
                      </a:pPr>
                      <a:r>
                        <a:rPr lang="en-GB" sz="1600"/>
                        <a:t>0.54</a:t>
                      </a:r>
                    </a:p>
                  </a:txBody>
                  <a:tcPr anchor="ctr">
                    <a:lnL>
                      <a:noFill/>
                    </a:lnL>
                    <a:lnR>
                      <a:noFill/>
                    </a:lnR>
                    <a:lnT>
                      <a:noFill/>
                    </a:lnT>
                    <a:lnB>
                      <a:noFill/>
                    </a:lnB>
                    <a:noFill/>
                  </a:tcPr>
                </a:tc>
                <a:extLst>
                  <a:ext uri="{0D108BD9-81ED-4DB2-BD59-A6C34878D82A}">
                    <a16:rowId xmlns:a16="http://schemas.microsoft.com/office/drawing/2014/main" val="3651556781"/>
                  </a:ext>
                </a:extLst>
              </a:tr>
              <a:tr h="0">
                <a:tc>
                  <a:txBody>
                    <a:bodyPr/>
                    <a:lstStyle/>
                    <a:p>
                      <a:pPr>
                        <a:buNone/>
                      </a:pPr>
                      <a:r>
                        <a:rPr lang="en-GB" sz="1600">
                          <a:solidFill>
                            <a:srgbClr val="0E2841"/>
                          </a:solidFill>
                        </a:rPr>
                        <a:t>T3</a:t>
                      </a:r>
                    </a:p>
                  </a:txBody>
                  <a:tcPr anchor="ctr">
                    <a:lnL>
                      <a:noFill/>
                    </a:lnL>
                    <a:lnR>
                      <a:noFill/>
                    </a:lnR>
                    <a:lnT>
                      <a:noFill/>
                    </a:lnT>
                    <a:lnB>
                      <a:noFill/>
                    </a:lnB>
                    <a:noFill/>
                  </a:tcPr>
                </a:tc>
                <a:tc>
                  <a:txBody>
                    <a:bodyPr/>
                    <a:lstStyle/>
                    <a:p>
                      <a:pPr>
                        <a:buNone/>
                      </a:pPr>
                      <a:r>
                        <a:rPr lang="en-GB" sz="1600" dirty="0"/>
                        <a:t>0.61</a:t>
                      </a:r>
                    </a:p>
                  </a:txBody>
                  <a:tcPr anchor="ctr">
                    <a:lnL>
                      <a:noFill/>
                    </a:lnL>
                    <a:lnR>
                      <a:noFill/>
                    </a:lnR>
                    <a:lnT>
                      <a:noFill/>
                    </a:lnT>
                    <a:lnB>
                      <a:noFill/>
                    </a:lnB>
                    <a:solidFill>
                      <a:srgbClr val="C3DACA"/>
                    </a:solidFill>
                  </a:tcPr>
                </a:tc>
                <a:tc>
                  <a:txBody>
                    <a:bodyPr/>
                    <a:lstStyle/>
                    <a:p>
                      <a:pPr>
                        <a:buNone/>
                      </a:pPr>
                      <a:r>
                        <a:rPr lang="en-GB" sz="1600" dirty="0"/>
                        <a:t>0.40</a:t>
                      </a:r>
                    </a:p>
                  </a:txBody>
                  <a:tcPr anchor="ctr">
                    <a:lnL>
                      <a:noFill/>
                    </a:lnL>
                    <a:lnR>
                      <a:noFill/>
                    </a:lnR>
                    <a:lnT>
                      <a:noFill/>
                    </a:lnT>
                    <a:lnB>
                      <a:noFill/>
                    </a:lnB>
                    <a:solidFill>
                      <a:srgbClr val="C3DACA"/>
                    </a:solidFill>
                  </a:tcPr>
                </a:tc>
                <a:tc>
                  <a:txBody>
                    <a:bodyPr/>
                    <a:lstStyle/>
                    <a:p>
                      <a:pPr>
                        <a:buNone/>
                      </a:pPr>
                      <a:r>
                        <a:rPr lang="en-GB" sz="1600"/>
                        <a:t>0.21</a:t>
                      </a:r>
                    </a:p>
                  </a:txBody>
                  <a:tcPr anchor="ctr">
                    <a:lnL>
                      <a:noFill/>
                    </a:lnL>
                    <a:lnR>
                      <a:noFill/>
                    </a:lnR>
                    <a:lnT>
                      <a:noFill/>
                    </a:lnT>
                    <a:lnB>
                      <a:noFill/>
                    </a:lnB>
                    <a:noFill/>
                  </a:tcPr>
                </a:tc>
                <a:tc>
                  <a:txBody>
                    <a:bodyPr/>
                    <a:lstStyle/>
                    <a:p>
                      <a:pPr>
                        <a:buNone/>
                      </a:pPr>
                      <a:r>
                        <a:rPr lang="en-GB" sz="1600"/>
                        <a:t>0.62</a:t>
                      </a:r>
                    </a:p>
                  </a:txBody>
                  <a:tcPr anchor="ctr">
                    <a:lnL>
                      <a:noFill/>
                    </a:lnL>
                    <a:lnR>
                      <a:noFill/>
                    </a:lnR>
                    <a:lnT>
                      <a:noFill/>
                    </a:lnT>
                    <a:lnB>
                      <a:noFill/>
                    </a:lnB>
                    <a:noFill/>
                  </a:tcPr>
                </a:tc>
                <a:tc>
                  <a:txBody>
                    <a:bodyPr/>
                    <a:lstStyle/>
                    <a:p>
                      <a:pPr>
                        <a:buNone/>
                      </a:pPr>
                      <a:r>
                        <a:rPr lang="en-GB" sz="1600"/>
                        <a:t>0.48</a:t>
                      </a:r>
                    </a:p>
                  </a:txBody>
                  <a:tcPr anchor="ctr">
                    <a:lnL>
                      <a:noFill/>
                    </a:lnL>
                    <a:lnR>
                      <a:noFill/>
                    </a:lnR>
                    <a:lnT>
                      <a:noFill/>
                    </a:lnT>
                    <a:lnB>
                      <a:noFill/>
                    </a:lnB>
                    <a:noFill/>
                  </a:tcPr>
                </a:tc>
                <a:extLst>
                  <a:ext uri="{0D108BD9-81ED-4DB2-BD59-A6C34878D82A}">
                    <a16:rowId xmlns:a16="http://schemas.microsoft.com/office/drawing/2014/main" val="1538171651"/>
                  </a:ext>
                </a:extLst>
              </a:tr>
              <a:tr h="0">
                <a:tc>
                  <a:txBody>
                    <a:bodyPr/>
                    <a:lstStyle/>
                    <a:p>
                      <a:pPr>
                        <a:buNone/>
                      </a:pPr>
                      <a:r>
                        <a:rPr lang="en-GB" sz="1600">
                          <a:solidFill>
                            <a:srgbClr val="0E2841"/>
                          </a:solidFill>
                        </a:rPr>
                        <a:t>T4</a:t>
                      </a:r>
                    </a:p>
                  </a:txBody>
                  <a:tcPr anchor="ctr">
                    <a:lnL>
                      <a:noFill/>
                    </a:lnL>
                    <a:lnR>
                      <a:noFill/>
                    </a:lnR>
                    <a:lnT>
                      <a:noFill/>
                    </a:lnT>
                    <a:lnB>
                      <a:noFill/>
                    </a:lnB>
                    <a:noFill/>
                  </a:tcPr>
                </a:tc>
                <a:tc>
                  <a:txBody>
                    <a:bodyPr/>
                    <a:lstStyle/>
                    <a:p>
                      <a:pPr>
                        <a:buNone/>
                      </a:pPr>
                      <a:r>
                        <a:rPr lang="en-GB" sz="1600"/>
                        <a:t>0.77</a:t>
                      </a:r>
                    </a:p>
                  </a:txBody>
                  <a:tcPr anchor="ctr">
                    <a:lnL>
                      <a:noFill/>
                    </a:lnL>
                    <a:lnR>
                      <a:noFill/>
                    </a:lnR>
                    <a:lnT>
                      <a:noFill/>
                    </a:lnT>
                    <a:lnB>
                      <a:noFill/>
                    </a:lnB>
                    <a:noFill/>
                  </a:tcPr>
                </a:tc>
                <a:tc>
                  <a:txBody>
                    <a:bodyPr/>
                    <a:lstStyle/>
                    <a:p>
                      <a:pPr>
                        <a:buNone/>
                      </a:pPr>
                      <a:r>
                        <a:rPr lang="en-GB" sz="1600"/>
                        <a:t>0.65</a:t>
                      </a:r>
                    </a:p>
                  </a:txBody>
                  <a:tcPr anchor="ctr">
                    <a:lnL>
                      <a:noFill/>
                    </a:lnL>
                    <a:lnR>
                      <a:noFill/>
                    </a:lnR>
                    <a:lnT>
                      <a:noFill/>
                    </a:lnT>
                    <a:lnB>
                      <a:noFill/>
                    </a:lnB>
                    <a:noFill/>
                  </a:tcPr>
                </a:tc>
                <a:tc>
                  <a:txBody>
                    <a:bodyPr/>
                    <a:lstStyle/>
                    <a:p>
                      <a:pPr>
                        <a:buNone/>
                      </a:pPr>
                      <a:r>
                        <a:rPr lang="en-GB" sz="1600"/>
                        <a:t>0.13</a:t>
                      </a:r>
                    </a:p>
                  </a:txBody>
                  <a:tcPr anchor="ctr">
                    <a:lnL>
                      <a:noFill/>
                    </a:lnL>
                    <a:lnR>
                      <a:noFill/>
                    </a:lnR>
                    <a:lnT>
                      <a:noFill/>
                    </a:lnT>
                    <a:lnB>
                      <a:noFill/>
                    </a:lnB>
                    <a:noFill/>
                  </a:tcPr>
                </a:tc>
                <a:tc>
                  <a:txBody>
                    <a:bodyPr/>
                    <a:lstStyle/>
                    <a:p>
                      <a:pPr>
                        <a:buNone/>
                      </a:pPr>
                      <a:r>
                        <a:rPr lang="en-GB" sz="1600"/>
                        <a:t>0.81</a:t>
                      </a:r>
                    </a:p>
                  </a:txBody>
                  <a:tcPr anchor="ctr">
                    <a:lnL>
                      <a:noFill/>
                    </a:lnL>
                    <a:lnR>
                      <a:noFill/>
                    </a:lnR>
                    <a:lnT>
                      <a:noFill/>
                    </a:lnT>
                    <a:lnB>
                      <a:noFill/>
                    </a:lnB>
                    <a:noFill/>
                  </a:tcPr>
                </a:tc>
                <a:tc>
                  <a:txBody>
                    <a:bodyPr/>
                    <a:lstStyle/>
                    <a:p>
                      <a:pPr>
                        <a:buNone/>
                      </a:pPr>
                      <a:r>
                        <a:rPr lang="en-GB" sz="1600"/>
                        <a:t>0.72</a:t>
                      </a:r>
                    </a:p>
                  </a:txBody>
                  <a:tcPr anchor="ctr">
                    <a:lnL>
                      <a:noFill/>
                    </a:lnL>
                    <a:lnR>
                      <a:noFill/>
                    </a:lnR>
                    <a:lnT>
                      <a:noFill/>
                    </a:lnT>
                    <a:lnB>
                      <a:noFill/>
                    </a:lnB>
                    <a:noFill/>
                  </a:tcPr>
                </a:tc>
                <a:extLst>
                  <a:ext uri="{0D108BD9-81ED-4DB2-BD59-A6C34878D82A}">
                    <a16:rowId xmlns:a16="http://schemas.microsoft.com/office/drawing/2014/main" val="3096336680"/>
                  </a:ext>
                </a:extLst>
              </a:tr>
              <a:tr h="0">
                <a:tc>
                  <a:txBody>
                    <a:bodyPr/>
                    <a:lstStyle/>
                    <a:p>
                      <a:pPr>
                        <a:buNone/>
                      </a:pPr>
                      <a:r>
                        <a:rPr lang="en-GB" sz="1600">
                          <a:solidFill>
                            <a:srgbClr val="0E2841"/>
                          </a:solidFill>
                        </a:rPr>
                        <a:t>T5</a:t>
                      </a:r>
                    </a:p>
                  </a:txBody>
                  <a:tcPr anchor="ctr">
                    <a:lnL>
                      <a:noFill/>
                    </a:lnL>
                    <a:lnR>
                      <a:noFill/>
                    </a:lnR>
                    <a:lnT>
                      <a:noFill/>
                    </a:lnT>
                    <a:lnB>
                      <a:noFill/>
                    </a:lnB>
                    <a:noFill/>
                  </a:tcPr>
                </a:tc>
                <a:tc>
                  <a:txBody>
                    <a:bodyPr/>
                    <a:lstStyle/>
                    <a:p>
                      <a:pPr>
                        <a:buNone/>
                      </a:pPr>
                      <a:r>
                        <a:rPr lang="en-GB" sz="1600"/>
                        <a:t>0.91</a:t>
                      </a:r>
                    </a:p>
                  </a:txBody>
                  <a:tcPr anchor="ctr">
                    <a:lnL>
                      <a:noFill/>
                    </a:lnL>
                    <a:lnR>
                      <a:noFill/>
                    </a:lnR>
                    <a:lnT>
                      <a:noFill/>
                    </a:lnT>
                    <a:lnB>
                      <a:noFill/>
                    </a:lnB>
                    <a:solidFill>
                      <a:srgbClr val="C3DACA"/>
                    </a:solidFill>
                  </a:tcPr>
                </a:tc>
                <a:tc>
                  <a:txBody>
                    <a:bodyPr/>
                    <a:lstStyle/>
                    <a:p>
                      <a:pPr>
                        <a:buNone/>
                      </a:pPr>
                      <a:r>
                        <a:rPr lang="en-GB" sz="1600" dirty="0"/>
                        <a:t>0.85</a:t>
                      </a:r>
                    </a:p>
                  </a:txBody>
                  <a:tcPr anchor="ctr">
                    <a:lnL>
                      <a:noFill/>
                    </a:lnL>
                    <a:lnR>
                      <a:noFill/>
                    </a:lnR>
                    <a:lnT>
                      <a:noFill/>
                    </a:lnT>
                    <a:lnB>
                      <a:noFill/>
                    </a:lnB>
                    <a:solidFill>
                      <a:srgbClr val="C3DACA"/>
                    </a:solidFill>
                  </a:tcPr>
                </a:tc>
                <a:tc>
                  <a:txBody>
                    <a:bodyPr/>
                    <a:lstStyle/>
                    <a:p>
                      <a:pPr>
                        <a:buNone/>
                      </a:pPr>
                      <a:r>
                        <a:rPr lang="en-GB" sz="1600"/>
                        <a:t>0.04</a:t>
                      </a:r>
                    </a:p>
                  </a:txBody>
                  <a:tcPr anchor="ctr">
                    <a:lnL>
                      <a:noFill/>
                    </a:lnL>
                    <a:lnR>
                      <a:noFill/>
                    </a:lnR>
                    <a:lnT>
                      <a:noFill/>
                    </a:lnT>
                    <a:lnB>
                      <a:noFill/>
                    </a:lnB>
                    <a:noFill/>
                  </a:tcPr>
                </a:tc>
                <a:tc>
                  <a:txBody>
                    <a:bodyPr/>
                    <a:lstStyle/>
                    <a:p>
                      <a:pPr>
                        <a:buNone/>
                      </a:pPr>
                      <a:r>
                        <a:rPr lang="en-GB" sz="1600" dirty="0"/>
                        <a:t>0.94</a:t>
                      </a:r>
                    </a:p>
                  </a:txBody>
                  <a:tcPr anchor="ctr">
                    <a:lnL>
                      <a:noFill/>
                    </a:lnL>
                    <a:lnR>
                      <a:noFill/>
                    </a:lnR>
                    <a:lnT>
                      <a:noFill/>
                    </a:lnT>
                    <a:lnB>
                      <a:noFill/>
                    </a:lnB>
                    <a:noFill/>
                  </a:tcPr>
                </a:tc>
                <a:tc>
                  <a:txBody>
                    <a:bodyPr/>
                    <a:lstStyle/>
                    <a:p>
                      <a:pPr>
                        <a:buNone/>
                      </a:pPr>
                      <a:r>
                        <a:rPr lang="en-GB" sz="1600"/>
                        <a:t>0.89</a:t>
                      </a:r>
                    </a:p>
                  </a:txBody>
                  <a:tcPr anchor="ctr">
                    <a:lnL>
                      <a:noFill/>
                    </a:lnL>
                    <a:lnR>
                      <a:noFill/>
                    </a:lnR>
                    <a:lnT>
                      <a:noFill/>
                    </a:lnT>
                    <a:lnB>
                      <a:noFill/>
                    </a:lnB>
                    <a:noFill/>
                  </a:tcPr>
                </a:tc>
                <a:extLst>
                  <a:ext uri="{0D108BD9-81ED-4DB2-BD59-A6C34878D82A}">
                    <a16:rowId xmlns:a16="http://schemas.microsoft.com/office/drawing/2014/main" val="1291026411"/>
                  </a:ext>
                </a:extLst>
              </a:tr>
              <a:tr h="0">
                <a:tc>
                  <a:txBody>
                    <a:bodyPr/>
                    <a:lstStyle/>
                    <a:p>
                      <a:pPr>
                        <a:buNone/>
                      </a:pPr>
                      <a:r>
                        <a:rPr lang="en-GB" sz="1600" b="0">
                          <a:solidFill>
                            <a:srgbClr val="0E2841"/>
                          </a:solidFill>
                        </a:rPr>
                        <a:t>All</a:t>
                      </a:r>
                    </a:p>
                  </a:txBody>
                  <a:tcPr anchor="ctr">
                    <a:lnL>
                      <a:noFill/>
                    </a:lnL>
                    <a:lnR>
                      <a:noFill/>
                    </a:lnR>
                    <a:lnT>
                      <a:noFill/>
                    </a:lnT>
                    <a:lnB>
                      <a:noFill/>
                    </a:lnB>
                    <a:noFill/>
                  </a:tcPr>
                </a:tc>
                <a:tc>
                  <a:txBody>
                    <a:bodyPr/>
                    <a:lstStyle/>
                    <a:p>
                      <a:pPr>
                        <a:buNone/>
                      </a:pPr>
                      <a:r>
                        <a:rPr lang="en-GB" sz="1600" b="0" dirty="0"/>
                        <a:t>0.68</a:t>
                      </a:r>
                    </a:p>
                  </a:txBody>
                  <a:tcPr anchor="ctr">
                    <a:lnL>
                      <a:noFill/>
                    </a:lnL>
                    <a:lnR>
                      <a:noFill/>
                    </a:lnR>
                    <a:lnT>
                      <a:noFill/>
                    </a:lnT>
                    <a:lnB>
                      <a:noFill/>
                    </a:lnB>
                    <a:solidFill>
                      <a:srgbClr val="C3DACA"/>
                    </a:solidFill>
                  </a:tcPr>
                </a:tc>
                <a:tc>
                  <a:txBody>
                    <a:bodyPr/>
                    <a:lstStyle/>
                    <a:p>
                      <a:pPr>
                        <a:buNone/>
                      </a:pPr>
                      <a:r>
                        <a:rPr lang="en-GB" sz="1600" b="0" dirty="0"/>
                        <a:t>0.51</a:t>
                      </a:r>
                    </a:p>
                  </a:txBody>
                  <a:tcPr anchor="ctr">
                    <a:lnL>
                      <a:noFill/>
                    </a:lnL>
                    <a:lnR>
                      <a:noFill/>
                    </a:lnR>
                    <a:lnT>
                      <a:noFill/>
                    </a:lnT>
                    <a:lnB>
                      <a:noFill/>
                    </a:lnB>
                    <a:solidFill>
                      <a:srgbClr val="C3DACA"/>
                    </a:solidFill>
                  </a:tcPr>
                </a:tc>
                <a:tc>
                  <a:txBody>
                    <a:bodyPr/>
                    <a:lstStyle/>
                    <a:p>
                      <a:pPr>
                        <a:buNone/>
                      </a:pPr>
                      <a:r>
                        <a:rPr lang="en-GB" sz="1600" b="0"/>
                        <a:t>0.18</a:t>
                      </a:r>
                    </a:p>
                  </a:txBody>
                  <a:tcPr anchor="ctr">
                    <a:lnL>
                      <a:noFill/>
                    </a:lnL>
                    <a:lnR>
                      <a:noFill/>
                    </a:lnR>
                    <a:lnT>
                      <a:noFill/>
                    </a:lnT>
                    <a:lnB>
                      <a:noFill/>
                    </a:lnB>
                    <a:noFill/>
                  </a:tcPr>
                </a:tc>
                <a:tc>
                  <a:txBody>
                    <a:bodyPr/>
                    <a:lstStyle/>
                    <a:p>
                      <a:pPr>
                        <a:buNone/>
                      </a:pPr>
                      <a:r>
                        <a:rPr lang="en-GB" sz="1600" b="0"/>
                        <a:t>0.71</a:t>
                      </a:r>
                    </a:p>
                  </a:txBody>
                  <a:tcPr anchor="ctr">
                    <a:lnL>
                      <a:noFill/>
                    </a:lnL>
                    <a:lnR>
                      <a:noFill/>
                    </a:lnR>
                    <a:lnT>
                      <a:noFill/>
                    </a:lnT>
                    <a:lnB>
                      <a:noFill/>
                    </a:lnB>
                    <a:noFill/>
                  </a:tcPr>
                </a:tc>
                <a:tc>
                  <a:txBody>
                    <a:bodyPr/>
                    <a:lstStyle/>
                    <a:p>
                      <a:pPr>
                        <a:buNone/>
                      </a:pPr>
                      <a:r>
                        <a:rPr lang="en-GB" sz="1600" b="0" dirty="0"/>
                        <a:t>0.59</a:t>
                      </a:r>
                    </a:p>
                  </a:txBody>
                  <a:tcPr anchor="ctr">
                    <a:lnL>
                      <a:noFill/>
                    </a:lnL>
                    <a:lnR>
                      <a:noFill/>
                    </a:lnR>
                    <a:lnT>
                      <a:noFill/>
                    </a:lnT>
                    <a:lnB>
                      <a:noFill/>
                    </a:lnB>
                    <a:noFill/>
                  </a:tcPr>
                </a:tc>
                <a:extLst>
                  <a:ext uri="{0D108BD9-81ED-4DB2-BD59-A6C34878D82A}">
                    <a16:rowId xmlns:a16="http://schemas.microsoft.com/office/drawing/2014/main" val="363089487"/>
                  </a:ext>
                </a:extLst>
              </a:tr>
            </a:tbl>
          </a:graphicData>
        </a:graphic>
      </p:graphicFrame>
      <p:graphicFrame>
        <p:nvGraphicFramePr>
          <p:cNvPr id="17" name="Table 16">
            <a:extLst>
              <a:ext uri="{FF2B5EF4-FFF2-40B4-BE49-F238E27FC236}">
                <a16:creationId xmlns:a16="http://schemas.microsoft.com/office/drawing/2014/main" id="{40FCC4B2-4887-7AC3-72AB-01314D5ECA51}"/>
              </a:ext>
            </a:extLst>
          </p:cNvPr>
          <p:cNvGraphicFramePr>
            <a:graphicFrameLocks noGrp="1"/>
          </p:cNvGraphicFramePr>
          <p:nvPr>
            <p:extLst>
              <p:ext uri="{D42A27DB-BD31-4B8C-83A1-F6EECF244321}">
                <p14:modId xmlns:p14="http://schemas.microsoft.com/office/powerpoint/2010/main" val="9708419"/>
              </p:ext>
            </p:extLst>
          </p:nvPr>
        </p:nvGraphicFramePr>
        <p:xfrm>
          <a:off x="3313244" y="4252527"/>
          <a:ext cx="5456100" cy="2346960"/>
        </p:xfrm>
        <a:graphic>
          <a:graphicData uri="http://schemas.openxmlformats.org/drawingml/2006/table">
            <a:tbl>
              <a:tblPr/>
              <a:tblGrid>
                <a:gridCol w="909350">
                  <a:extLst>
                    <a:ext uri="{9D8B030D-6E8A-4147-A177-3AD203B41FA5}">
                      <a16:colId xmlns:a16="http://schemas.microsoft.com/office/drawing/2014/main" val="1617131686"/>
                    </a:ext>
                  </a:extLst>
                </a:gridCol>
                <a:gridCol w="998563">
                  <a:extLst>
                    <a:ext uri="{9D8B030D-6E8A-4147-A177-3AD203B41FA5}">
                      <a16:colId xmlns:a16="http://schemas.microsoft.com/office/drawing/2014/main" val="4047744777"/>
                    </a:ext>
                  </a:extLst>
                </a:gridCol>
                <a:gridCol w="1086338">
                  <a:extLst>
                    <a:ext uri="{9D8B030D-6E8A-4147-A177-3AD203B41FA5}">
                      <a16:colId xmlns:a16="http://schemas.microsoft.com/office/drawing/2014/main" val="1940767653"/>
                    </a:ext>
                  </a:extLst>
                </a:gridCol>
                <a:gridCol w="750277">
                  <a:extLst>
                    <a:ext uri="{9D8B030D-6E8A-4147-A177-3AD203B41FA5}">
                      <a16:colId xmlns:a16="http://schemas.microsoft.com/office/drawing/2014/main" val="1691399192"/>
                    </a:ext>
                  </a:extLst>
                </a:gridCol>
                <a:gridCol w="1086339">
                  <a:extLst>
                    <a:ext uri="{9D8B030D-6E8A-4147-A177-3AD203B41FA5}">
                      <a16:colId xmlns:a16="http://schemas.microsoft.com/office/drawing/2014/main" val="4003095629"/>
                    </a:ext>
                  </a:extLst>
                </a:gridCol>
                <a:gridCol w="625233">
                  <a:extLst>
                    <a:ext uri="{9D8B030D-6E8A-4147-A177-3AD203B41FA5}">
                      <a16:colId xmlns:a16="http://schemas.microsoft.com/office/drawing/2014/main" val="2335437918"/>
                    </a:ext>
                  </a:extLst>
                </a:gridCol>
              </a:tblGrid>
              <a:tr h="0">
                <a:tc>
                  <a:txBody>
                    <a:bodyPr/>
                    <a:lstStyle/>
                    <a:p>
                      <a:pPr>
                        <a:buNone/>
                      </a:pPr>
                      <a:r>
                        <a:rPr lang="en-GB" sz="1600" dirty="0">
                          <a:solidFill>
                            <a:srgbClr val="0E2841"/>
                          </a:solidFill>
                        </a:rPr>
                        <a:t>Activity</a:t>
                      </a:r>
                    </a:p>
                  </a:txBody>
                  <a:tcPr anchor="ctr">
                    <a:lnL>
                      <a:noFill/>
                    </a:lnL>
                    <a:lnR>
                      <a:noFill/>
                    </a:lnR>
                    <a:lnT>
                      <a:noFill/>
                    </a:lnT>
                    <a:lnB>
                      <a:noFill/>
                    </a:lnB>
                    <a:noFill/>
                  </a:tcPr>
                </a:tc>
                <a:tc>
                  <a:txBody>
                    <a:bodyPr/>
                    <a:lstStyle/>
                    <a:p>
                      <a:pPr>
                        <a:buNone/>
                      </a:pPr>
                      <a:r>
                        <a:rPr lang="en-GB" sz="1600" dirty="0">
                          <a:solidFill>
                            <a:srgbClr val="0E2841"/>
                          </a:solidFill>
                        </a:rPr>
                        <a:t>Accuracy</a:t>
                      </a:r>
                    </a:p>
                  </a:txBody>
                  <a:tcPr anchor="ctr">
                    <a:lnL>
                      <a:noFill/>
                    </a:lnL>
                    <a:lnR>
                      <a:noFill/>
                    </a:lnR>
                    <a:lnT>
                      <a:noFill/>
                    </a:lnT>
                    <a:lnB>
                      <a:noFill/>
                    </a:lnB>
                    <a:noFill/>
                  </a:tcPr>
                </a:tc>
                <a:tc>
                  <a:txBody>
                    <a:bodyPr/>
                    <a:lstStyle/>
                    <a:p>
                      <a:pPr>
                        <a:buNone/>
                      </a:pPr>
                      <a:r>
                        <a:rPr lang="en-GB" sz="1600">
                          <a:solidFill>
                            <a:srgbClr val="0E2841"/>
                          </a:solidFill>
                        </a:rPr>
                        <a:t>Recall</a:t>
                      </a:r>
                    </a:p>
                  </a:txBody>
                  <a:tcPr anchor="ctr">
                    <a:lnL>
                      <a:noFill/>
                    </a:lnL>
                    <a:lnR>
                      <a:noFill/>
                    </a:lnR>
                    <a:lnT>
                      <a:noFill/>
                    </a:lnT>
                    <a:lnB>
                      <a:noFill/>
                    </a:lnB>
                    <a:noFill/>
                  </a:tcPr>
                </a:tc>
                <a:tc>
                  <a:txBody>
                    <a:bodyPr/>
                    <a:lstStyle/>
                    <a:p>
                      <a:pPr>
                        <a:buNone/>
                      </a:pPr>
                      <a:r>
                        <a:rPr lang="en-GB" sz="1600" dirty="0">
                          <a:solidFill>
                            <a:srgbClr val="0E2841"/>
                          </a:solidFill>
                        </a:rPr>
                        <a:t>FPR</a:t>
                      </a:r>
                    </a:p>
                  </a:txBody>
                  <a:tcPr anchor="ctr">
                    <a:lnL>
                      <a:noFill/>
                    </a:lnL>
                    <a:lnR>
                      <a:noFill/>
                    </a:lnR>
                    <a:lnT>
                      <a:noFill/>
                    </a:lnT>
                    <a:lnB>
                      <a:noFill/>
                    </a:lnB>
                    <a:noFill/>
                  </a:tcPr>
                </a:tc>
                <a:tc>
                  <a:txBody>
                    <a:bodyPr/>
                    <a:lstStyle/>
                    <a:p>
                      <a:pPr>
                        <a:buNone/>
                      </a:pPr>
                      <a:r>
                        <a:rPr lang="en-GB" sz="1600" dirty="0">
                          <a:solidFill>
                            <a:srgbClr val="0E2841"/>
                          </a:solidFill>
                        </a:rPr>
                        <a:t>Precision</a:t>
                      </a:r>
                    </a:p>
                  </a:txBody>
                  <a:tcPr anchor="ctr">
                    <a:lnL>
                      <a:noFill/>
                    </a:lnL>
                    <a:lnR>
                      <a:noFill/>
                    </a:lnR>
                    <a:lnT>
                      <a:noFill/>
                    </a:lnT>
                    <a:lnB>
                      <a:noFill/>
                    </a:lnB>
                    <a:noFill/>
                  </a:tcPr>
                </a:tc>
                <a:tc>
                  <a:txBody>
                    <a:bodyPr/>
                    <a:lstStyle/>
                    <a:p>
                      <a:pPr>
                        <a:buNone/>
                      </a:pPr>
                      <a:r>
                        <a:rPr lang="en-GB" sz="1600" dirty="0">
                          <a:solidFill>
                            <a:srgbClr val="0E2841"/>
                          </a:solidFill>
                        </a:rPr>
                        <a:t>F1</a:t>
                      </a:r>
                    </a:p>
                  </a:txBody>
                  <a:tcPr anchor="ctr">
                    <a:lnL>
                      <a:noFill/>
                    </a:lnL>
                    <a:lnR>
                      <a:noFill/>
                    </a:lnR>
                    <a:lnT>
                      <a:noFill/>
                    </a:lnT>
                    <a:lnB>
                      <a:noFill/>
                    </a:lnB>
                    <a:noFill/>
                  </a:tcPr>
                </a:tc>
                <a:extLst>
                  <a:ext uri="{0D108BD9-81ED-4DB2-BD59-A6C34878D82A}">
                    <a16:rowId xmlns:a16="http://schemas.microsoft.com/office/drawing/2014/main" val="2466233277"/>
                  </a:ext>
                </a:extLst>
              </a:tr>
              <a:tr h="0">
                <a:tc>
                  <a:txBody>
                    <a:bodyPr/>
                    <a:lstStyle/>
                    <a:p>
                      <a:pPr>
                        <a:buNone/>
                      </a:pPr>
                      <a:r>
                        <a:rPr lang="en-GB" sz="1600" dirty="0">
                          <a:solidFill>
                            <a:srgbClr val="0E2841"/>
                          </a:solidFill>
                        </a:rPr>
                        <a:t>T1</a:t>
                      </a:r>
                    </a:p>
                  </a:txBody>
                  <a:tcPr anchor="ctr">
                    <a:lnL>
                      <a:noFill/>
                    </a:lnL>
                    <a:lnR>
                      <a:noFill/>
                    </a:lnR>
                    <a:lnT>
                      <a:noFill/>
                    </a:lnT>
                    <a:lnB>
                      <a:noFill/>
                    </a:lnB>
                    <a:noFill/>
                  </a:tcPr>
                </a:tc>
                <a:tc>
                  <a:txBody>
                    <a:bodyPr/>
                    <a:lstStyle/>
                    <a:p>
                      <a:pPr>
                        <a:buNone/>
                      </a:pPr>
                      <a:r>
                        <a:rPr lang="en-GB" sz="1600" b="0"/>
                        <a:t>0.52</a:t>
                      </a:r>
                    </a:p>
                  </a:txBody>
                  <a:tcPr anchor="ctr">
                    <a:lnL>
                      <a:noFill/>
                    </a:lnL>
                    <a:lnR>
                      <a:noFill/>
                    </a:lnR>
                    <a:lnT>
                      <a:noFill/>
                    </a:lnT>
                    <a:lnB>
                      <a:noFill/>
                    </a:lnB>
                    <a:noFill/>
                  </a:tcPr>
                </a:tc>
                <a:tc>
                  <a:txBody>
                    <a:bodyPr/>
                    <a:lstStyle/>
                    <a:p>
                      <a:pPr>
                        <a:buNone/>
                      </a:pPr>
                      <a:r>
                        <a:rPr lang="en-GB" sz="1600" b="0" dirty="0"/>
                        <a:t>0.35</a:t>
                      </a:r>
                    </a:p>
                  </a:txBody>
                  <a:tcPr anchor="ctr">
                    <a:lnL>
                      <a:noFill/>
                    </a:lnL>
                    <a:lnR>
                      <a:noFill/>
                    </a:lnR>
                    <a:lnT>
                      <a:noFill/>
                    </a:lnT>
                    <a:lnB>
                      <a:noFill/>
                    </a:lnB>
                    <a:solidFill>
                      <a:srgbClr val="C3DACA"/>
                    </a:solidFill>
                  </a:tcPr>
                </a:tc>
                <a:tc>
                  <a:txBody>
                    <a:bodyPr/>
                    <a:lstStyle/>
                    <a:p>
                      <a:pPr>
                        <a:buNone/>
                      </a:pPr>
                      <a:r>
                        <a:rPr lang="en-GB" sz="1600" b="0"/>
                        <a:t>0.33</a:t>
                      </a:r>
                    </a:p>
                  </a:txBody>
                  <a:tcPr anchor="ctr">
                    <a:lnL>
                      <a:noFill/>
                    </a:lnL>
                    <a:lnR>
                      <a:noFill/>
                    </a:lnR>
                    <a:lnT>
                      <a:noFill/>
                    </a:lnT>
                    <a:lnB>
                      <a:noFill/>
                    </a:lnB>
                    <a:noFill/>
                  </a:tcPr>
                </a:tc>
                <a:tc>
                  <a:txBody>
                    <a:bodyPr/>
                    <a:lstStyle/>
                    <a:p>
                      <a:pPr>
                        <a:buNone/>
                      </a:pPr>
                      <a:r>
                        <a:rPr lang="en-GB" sz="1600" b="0"/>
                        <a:t>0.47</a:t>
                      </a:r>
                    </a:p>
                  </a:txBody>
                  <a:tcPr anchor="ctr">
                    <a:lnL>
                      <a:noFill/>
                    </a:lnL>
                    <a:lnR>
                      <a:noFill/>
                    </a:lnR>
                    <a:lnT>
                      <a:noFill/>
                    </a:lnT>
                    <a:lnB>
                      <a:noFill/>
                    </a:lnB>
                    <a:noFill/>
                  </a:tcPr>
                </a:tc>
                <a:tc>
                  <a:txBody>
                    <a:bodyPr/>
                    <a:lstStyle/>
                    <a:p>
                      <a:pPr>
                        <a:buNone/>
                      </a:pPr>
                      <a:r>
                        <a:rPr lang="en-GB" sz="1600" b="0"/>
                        <a:t>0.40</a:t>
                      </a:r>
                    </a:p>
                  </a:txBody>
                  <a:tcPr anchor="ctr">
                    <a:lnL>
                      <a:noFill/>
                    </a:lnL>
                    <a:lnR>
                      <a:noFill/>
                    </a:lnR>
                    <a:lnT>
                      <a:noFill/>
                    </a:lnT>
                    <a:lnB>
                      <a:noFill/>
                    </a:lnB>
                    <a:noFill/>
                  </a:tcPr>
                </a:tc>
                <a:extLst>
                  <a:ext uri="{0D108BD9-81ED-4DB2-BD59-A6C34878D82A}">
                    <a16:rowId xmlns:a16="http://schemas.microsoft.com/office/drawing/2014/main" val="2072771572"/>
                  </a:ext>
                </a:extLst>
              </a:tr>
              <a:tr h="0">
                <a:tc>
                  <a:txBody>
                    <a:bodyPr/>
                    <a:lstStyle/>
                    <a:p>
                      <a:pPr>
                        <a:buNone/>
                      </a:pPr>
                      <a:r>
                        <a:rPr lang="en-GB" sz="1600" dirty="0">
                          <a:solidFill>
                            <a:srgbClr val="0E2841"/>
                          </a:solidFill>
                        </a:rPr>
                        <a:t>T2</a:t>
                      </a:r>
                    </a:p>
                  </a:txBody>
                  <a:tcPr anchor="ctr">
                    <a:lnL>
                      <a:noFill/>
                    </a:lnL>
                    <a:lnR>
                      <a:noFill/>
                    </a:lnR>
                    <a:lnT>
                      <a:noFill/>
                    </a:lnT>
                    <a:lnB>
                      <a:noFill/>
                    </a:lnB>
                    <a:noFill/>
                  </a:tcPr>
                </a:tc>
                <a:tc>
                  <a:txBody>
                    <a:bodyPr/>
                    <a:lstStyle/>
                    <a:p>
                      <a:pPr>
                        <a:buNone/>
                      </a:pPr>
                      <a:r>
                        <a:rPr lang="en-GB" sz="1600" b="0"/>
                        <a:t>0.57</a:t>
                      </a:r>
                    </a:p>
                  </a:txBody>
                  <a:tcPr anchor="ctr">
                    <a:lnL>
                      <a:noFill/>
                    </a:lnL>
                    <a:lnR>
                      <a:noFill/>
                    </a:lnR>
                    <a:lnT>
                      <a:noFill/>
                    </a:lnT>
                    <a:lnB>
                      <a:noFill/>
                    </a:lnB>
                    <a:noFill/>
                  </a:tcPr>
                </a:tc>
                <a:tc>
                  <a:txBody>
                    <a:bodyPr/>
                    <a:lstStyle/>
                    <a:p>
                      <a:pPr>
                        <a:buNone/>
                      </a:pPr>
                      <a:r>
                        <a:rPr lang="en-GB" sz="1600" b="0"/>
                        <a:t>0.50</a:t>
                      </a:r>
                    </a:p>
                  </a:txBody>
                  <a:tcPr anchor="ctr">
                    <a:lnL>
                      <a:noFill/>
                    </a:lnL>
                    <a:lnR>
                      <a:noFill/>
                    </a:lnR>
                    <a:lnT>
                      <a:noFill/>
                    </a:lnT>
                    <a:lnB>
                      <a:noFill/>
                    </a:lnB>
                    <a:noFill/>
                  </a:tcPr>
                </a:tc>
                <a:tc>
                  <a:txBody>
                    <a:bodyPr/>
                    <a:lstStyle/>
                    <a:p>
                      <a:pPr>
                        <a:buNone/>
                      </a:pPr>
                      <a:r>
                        <a:rPr lang="en-GB" sz="1600" b="0"/>
                        <a:t>0.38</a:t>
                      </a:r>
                    </a:p>
                  </a:txBody>
                  <a:tcPr anchor="ctr">
                    <a:lnL>
                      <a:noFill/>
                    </a:lnL>
                    <a:lnR>
                      <a:noFill/>
                    </a:lnR>
                    <a:lnT>
                      <a:noFill/>
                    </a:lnT>
                    <a:lnB>
                      <a:noFill/>
                    </a:lnB>
                    <a:noFill/>
                  </a:tcPr>
                </a:tc>
                <a:tc>
                  <a:txBody>
                    <a:bodyPr/>
                    <a:lstStyle/>
                    <a:p>
                      <a:pPr>
                        <a:buNone/>
                      </a:pPr>
                      <a:r>
                        <a:rPr lang="en-GB" sz="1600" b="0"/>
                        <a:t>0.53</a:t>
                      </a:r>
                    </a:p>
                  </a:txBody>
                  <a:tcPr anchor="ctr">
                    <a:lnL>
                      <a:noFill/>
                    </a:lnL>
                    <a:lnR>
                      <a:noFill/>
                    </a:lnR>
                    <a:lnT>
                      <a:noFill/>
                    </a:lnT>
                    <a:lnB>
                      <a:noFill/>
                    </a:lnB>
                    <a:noFill/>
                  </a:tcPr>
                </a:tc>
                <a:tc>
                  <a:txBody>
                    <a:bodyPr/>
                    <a:lstStyle/>
                    <a:p>
                      <a:pPr>
                        <a:buNone/>
                      </a:pPr>
                      <a:r>
                        <a:rPr lang="en-GB" sz="1600" b="0"/>
                        <a:t>0.51</a:t>
                      </a:r>
                    </a:p>
                  </a:txBody>
                  <a:tcPr anchor="ctr">
                    <a:lnL>
                      <a:noFill/>
                    </a:lnL>
                    <a:lnR>
                      <a:noFill/>
                    </a:lnR>
                    <a:lnT>
                      <a:noFill/>
                    </a:lnT>
                    <a:lnB>
                      <a:noFill/>
                    </a:lnB>
                    <a:noFill/>
                  </a:tcPr>
                </a:tc>
                <a:extLst>
                  <a:ext uri="{0D108BD9-81ED-4DB2-BD59-A6C34878D82A}">
                    <a16:rowId xmlns:a16="http://schemas.microsoft.com/office/drawing/2014/main" val="3651556781"/>
                  </a:ext>
                </a:extLst>
              </a:tr>
              <a:tr h="0">
                <a:tc>
                  <a:txBody>
                    <a:bodyPr/>
                    <a:lstStyle/>
                    <a:p>
                      <a:pPr>
                        <a:buNone/>
                      </a:pPr>
                      <a:r>
                        <a:rPr lang="en-GB" sz="1600">
                          <a:solidFill>
                            <a:srgbClr val="0E2841"/>
                          </a:solidFill>
                        </a:rPr>
                        <a:t>T3</a:t>
                      </a:r>
                    </a:p>
                  </a:txBody>
                  <a:tcPr anchor="ctr">
                    <a:lnL>
                      <a:noFill/>
                    </a:lnL>
                    <a:lnR>
                      <a:noFill/>
                    </a:lnR>
                    <a:lnT>
                      <a:noFill/>
                    </a:lnT>
                    <a:lnB>
                      <a:noFill/>
                    </a:lnB>
                    <a:noFill/>
                  </a:tcPr>
                </a:tc>
                <a:tc>
                  <a:txBody>
                    <a:bodyPr/>
                    <a:lstStyle/>
                    <a:p>
                      <a:pPr>
                        <a:buNone/>
                      </a:pPr>
                      <a:r>
                        <a:rPr lang="en-GB" sz="1600" b="0"/>
                        <a:t>0.50</a:t>
                      </a:r>
                    </a:p>
                  </a:txBody>
                  <a:tcPr anchor="ctr">
                    <a:lnL>
                      <a:noFill/>
                    </a:lnL>
                    <a:lnR>
                      <a:noFill/>
                    </a:lnR>
                    <a:lnT>
                      <a:noFill/>
                    </a:lnT>
                    <a:lnB>
                      <a:noFill/>
                    </a:lnB>
                    <a:noFill/>
                  </a:tcPr>
                </a:tc>
                <a:tc>
                  <a:txBody>
                    <a:bodyPr/>
                    <a:lstStyle/>
                    <a:p>
                      <a:pPr>
                        <a:buNone/>
                      </a:pPr>
                      <a:r>
                        <a:rPr lang="en-GB" sz="1600" b="0"/>
                        <a:t>0.20</a:t>
                      </a:r>
                    </a:p>
                  </a:txBody>
                  <a:tcPr anchor="ctr">
                    <a:lnL>
                      <a:noFill/>
                    </a:lnL>
                    <a:lnR>
                      <a:noFill/>
                    </a:lnR>
                    <a:lnT>
                      <a:noFill/>
                    </a:lnT>
                    <a:lnB>
                      <a:noFill/>
                    </a:lnB>
                    <a:noFill/>
                  </a:tcPr>
                </a:tc>
                <a:tc>
                  <a:txBody>
                    <a:bodyPr/>
                    <a:lstStyle/>
                    <a:p>
                      <a:pPr>
                        <a:buNone/>
                      </a:pPr>
                      <a:r>
                        <a:rPr lang="en-GB" sz="1600" b="0"/>
                        <a:t>0.25</a:t>
                      </a:r>
                    </a:p>
                  </a:txBody>
                  <a:tcPr anchor="ctr">
                    <a:lnL>
                      <a:noFill/>
                    </a:lnL>
                    <a:lnR>
                      <a:noFill/>
                    </a:lnR>
                    <a:lnT>
                      <a:noFill/>
                    </a:lnT>
                    <a:lnB>
                      <a:noFill/>
                    </a:lnB>
                    <a:noFill/>
                  </a:tcPr>
                </a:tc>
                <a:tc>
                  <a:txBody>
                    <a:bodyPr/>
                    <a:lstStyle/>
                    <a:p>
                      <a:pPr>
                        <a:buNone/>
                      </a:pPr>
                      <a:r>
                        <a:rPr lang="en-GB" sz="1600" b="0"/>
                        <a:t>0.40</a:t>
                      </a:r>
                    </a:p>
                  </a:txBody>
                  <a:tcPr anchor="ctr">
                    <a:lnL>
                      <a:noFill/>
                    </a:lnL>
                    <a:lnR>
                      <a:noFill/>
                    </a:lnR>
                    <a:lnT>
                      <a:noFill/>
                    </a:lnT>
                    <a:lnB>
                      <a:noFill/>
                    </a:lnB>
                    <a:noFill/>
                  </a:tcPr>
                </a:tc>
                <a:tc>
                  <a:txBody>
                    <a:bodyPr/>
                    <a:lstStyle/>
                    <a:p>
                      <a:pPr>
                        <a:buNone/>
                      </a:pPr>
                      <a:r>
                        <a:rPr lang="en-GB" sz="1600" b="0"/>
                        <a:t>0.27</a:t>
                      </a:r>
                    </a:p>
                  </a:txBody>
                  <a:tcPr anchor="ctr">
                    <a:lnL>
                      <a:noFill/>
                    </a:lnL>
                    <a:lnR>
                      <a:noFill/>
                    </a:lnR>
                    <a:lnT>
                      <a:noFill/>
                    </a:lnT>
                    <a:lnB>
                      <a:noFill/>
                    </a:lnB>
                    <a:noFill/>
                  </a:tcPr>
                </a:tc>
                <a:extLst>
                  <a:ext uri="{0D108BD9-81ED-4DB2-BD59-A6C34878D82A}">
                    <a16:rowId xmlns:a16="http://schemas.microsoft.com/office/drawing/2014/main" val="1538171651"/>
                  </a:ext>
                </a:extLst>
              </a:tr>
              <a:tr h="0">
                <a:tc>
                  <a:txBody>
                    <a:bodyPr/>
                    <a:lstStyle/>
                    <a:p>
                      <a:pPr>
                        <a:buNone/>
                      </a:pPr>
                      <a:r>
                        <a:rPr lang="en-GB" sz="1600">
                          <a:solidFill>
                            <a:srgbClr val="0E2841"/>
                          </a:solidFill>
                        </a:rPr>
                        <a:t>T4</a:t>
                      </a:r>
                    </a:p>
                  </a:txBody>
                  <a:tcPr anchor="ctr">
                    <a:lnL>
                      <a:noFill/>
                    </a:lnL>
                    <a:lnR>
                      <a:noFill/>
                    </a:lnR>
                    <a:lnT>
                      <a:noFill/>
                    </a:lnT>
                    <a:lnB>
                      <a:noFill/>
                    </a:lnB>
                    <a:noFill/>
                  </a:tcPr>
                </a:tc>
                <a:tc>
                  <a:txBody>
                    <a:bodyPr/>
                    <a:lstStyle/>
                    <a:p>
                      <a:pPr>
                        <a:buNone/>
                      </a:pPr>
                      <a:r>
                        <a:rPr lang="en-GB" sz="1600" b="0"/>
                        <a:t>0.55</a:t>
                      </a:r>
                    </a:p>
                  </a:txBody>
                  <a:tcPr anchor="ctr">
                    <a:lnL>
                      <a:noFill/>
                    </a:lnL>
                    <a:lnR>
                      <a:noFill/>
                    </a:lnR>
                    <a:lnT>
                      <a:noFill/>
                    </a:lnT>
                    <a:lnB>
                      <a:noFill/>
                    </a:lnB>
                    <a:noFill/>
                  </a:tcPr>
                </a:tc>
                <a:tc>
                  <a:txBody>
                    <a:bodyPr/>
                    <a:lstStyle/>
                    <a:p>
                      <a:pPr>
                        <a:buNone/>
                      </a:pPr>
                      <a:r>
                        <a:rPr lang="en-GB" sz="1600" b="0"/>
                        <a:t>0.30</a:t>
                      </a:r>
                    </a:p>
                  </a:txBody>
                  <a:tcPr anchor="ctr">
                    <a:lnL>
                      <a:noFill/>
                    </a:lnL>
                    <a:lnR>
                      <a:noFill/>
                    </a:lnR>
                    <a:lnT>
                      <a:noFill/>
                    </a:lnT>
                    <a:lnB>
                      <a:noFill/>
                    </a:lnB>
                    <a:noFill/>
                  </a:tcPr>
                </a:tc>
                <a:tc>
                  <a:txBody>
                    <a:bodyPr/>
                    <a:lstStyle/>
                    <a:p>
                      <a:pPr>
                        <a:buNone/>
                      </a:pPr>
                      <a:r>
                        <a:rPr lang="en-GB" sz="1600" b="0"/>
                        <a:t>0.25</a:t>
                      </a:r>
                    </a:p>
                  </a:txBody>
                  <a:tcPr anchor="ctr">
                    <a:lnL>
                      <a:noFill/>
                    </a:lnL>
                    <a:lnR>
                      <a:noFill/>
                    </a:lnR>
                    <a:lnT>
                      <a:noFill/>
                    </a:lnT>
                    <a:lnB>
                      <a:noFill/>
                    </a:lnB>
                    <a:noFill/>
                  </a:tcPr>
                </a:tc>
                <a:tc>
                  <a:txBody>
                    <a:bodyPr/>
                    <a:lstStyle/>
                    <a:p>
                      <a:pPr>
                        <a:buNone/>
                      </a:pPr>
                      <a:r>
                        <a:rPr lang="en-GB" sz="1600" b="0"/>
                        <a:t>0.50</a:t>
                      </a:r>
                    </a:p>
                  </a:txBody>
                  <a:tcPr anchor="ctr">
                    <a:lnL>
                      <a:noFill/>
                    </a:lnL>
                    <a:lnR>
                      <a:noFill/>
                    </a:lnR>
                    <a:lnT>
                      <a:noFill/>
                    </a:lnT>
                    <a:lnB>
                      <a:noFill/>
                    </a:lnB>
                    <a:noFill/>
                  </a:tcPr>
                </a:tc>
                <a:tc>
                  <a:txBody>
                    <a:bodyPr/>
                    <a:lstStyle/>
                    <a:p>
                      <a:pPr>
                        <a:buNone/>
                      </a:pPr>
                      <a:r>
                        <a:rPr lang="en-GB" sz="1600" b="0"/>
                        <a:t>0.38</a:t>
                      </a:r>
                    </a:p>
                  </a:txBody>
                  <a:tcPr anchor="ctr">
                    <a:lnL>
                      <a:noFill/>
                    </a:lnL>
                    <a:lnR>
                      <a:noFill/>
                    </a:lnR>
                    <a:lnT>
                      <a:noFill/>
                    </a:lnT>
                    <a:lnB>
                      <a:noFill/>
                    </a:lnB>
                    <a:noFill/>
                  </a:tcPr>
                </a:tc>
                <a:extLst>
                  <a:ext uri="{0D108BD9-81ED-4DB2-BD59-A6C34878D82A}">
                    <a16:rowId xmlns:a16="http://schemas.microsoft.com/office/drawing/2014/main" val="3096336680"/>
                  </a:ext>
                </a:extLst>
              </a:tr>
              <a:tr h="0">
                <a:tc>
                  <a:txBody>
                    <a:bodyPr/>
                    <a:lstStyle/>
                    <a:p>
                      <a:pPr>
                        <a:buNone/>
                      </a:pPr>
                      <a:r>
                        <a:rPr lang="en-GB" sz="1600">
                          <a:solidFill>
                            <a:srgbClr val="0E2841"/>
                          </a:solidFill>
                        </a:rPr>
                        <a:t>T5</a:t>
                      </a:r>
                    </a:p>
                  </a:txBody>
                  <a:tcPr anchor="ctr">
                    <a:lnL>
                      <a:noFill/>
                    </a:lnL>
                    <a:lnR>
                      <a:noFill/>
                    </a:lnR>
                    <a:lnT>
                      <a:noFill/>
                    </a:lnT>
                    <a:lnB>
                      <a:noFill/>
                    </a:lnB>
                    <a:noFill/>
                  </a:tcPr>
                </a:tc>
                <a:tc>
                  <a:txBody>
                    <a:bodyPr/>
                    <a:lstStyle/>
                    <a:p>
                      <a:pPr>
                        <a:buNone/>
                      </a:pPr>
                      <a:r>
                        <a:rPr lang="en-GB" sz="1600" b="0"/>
                        <a:t>0.73</a:t>
                      </a:r>
                    </a:p>
                  </a:txBody>
                  <a:tcPr anchor="ctr">
                    <a:lnL>
                      <a:noFill/>
                    </a:lnL>
                    <a:lnR>
                      <a:noFill/>
                    </a:lnR>
                    <a:lnT>
                      <a:noFill/>
                    </a:lnT>
                    <a:lnB>
                      <a:noFill/>
                    </a:lnB>
                    <a:noFill/>
                  </a:tcPr>
                </a:tc>
                <a:tc>
                  <a:txBody>
                    <a:bodyPr/>
                    <a:lstStyle/>
                    <a:p>
                      <a:pPr>
                        <a:buNone/>
                      </a:pPr>
                      <a:r>
                        <a:rPr lang="en-GB" sz="1600" b="0"/>
                        <a:t>0.70</a:t>
                      </a:r>
                    </a:p>
                  </a:txBody>
                  <a:tcPr anchor="ctr">
                    <a:lnL>
                      <a:noFill/>
                    </a:lnL>
                    <a:lnR>
                      <a:noFill/>
                    </a:lnR>
                    <a:lnT>
                      <a:noFill/>
                    </a:lnT>
                    <a:lnB>
                      <a:noFill/>
                    </a:lnB>
                    <a:noFill/>
                  </a:tcPr>
                </a:tc>
                <a:tc>
                  <a:txBody>
                    <a:bodyPr/>
                    <a:lstStyle/>
                    <a:p>
                      <a:pPr>
                        <a:buNone/>
                      </a:pPr>
                      <a:r>
                        <a:rPr lang="en-GB" sz="1600" b="0"/>
                        <a:t>0.25</a:t>
                      </a:r>
                    </a:p>
                  </a:txBody>
                  <a:tcPr anchor="ctr">
                    <a:lnL>
                      <a:noFill/>
                    </a:lnL>
                    <a:lnR>
                      <a:noFill/>
                    </a:lnR>
                    <a:lnT>
                      <a:noFill/>
                    </a:lnT>
                    <a:lnB>
                      <a:noFill/>
                    </a:lnB>
                    <a:noFill/>
                  </a:tcPr>
                </a:tc>
                <a:tc>
                  <a:txBody>
                    <a:bodyPr/>
                    <a:lstStyle/>
                    <a:p>
                      <a:pPr>
                        <a:buNone/>
                      </a:pPr>
                      <a:r>
                        <a:rPr lang="en-GB" sz="1600" b="0"/>
                        <a:t>0.70</a:t>
                      </a:r>
                    </a:p>
                  </a:txBody>
                  <a:tcPr anchor="ctr">
                    <a:lnL>
                      <a:noFill/>
                    </a:lnL>
                    <a:lnR>
                      <a:noFill/>
                    </a:lnR>
                    <a:lnT>
                      <a:noFill/>
                    </a:lnT>
                    <a:lnB>
                      <a:noFill/>
                    </a:lnB>
                    <a:noFill/>
                  </a:tcPr>
                </a:tc>
                <a:tc>
                  <a:txBody>
                    <a:bodyPr/>
                    <a:lstStyle/>
                    <a:p>
                      <a:pPr>
                        <a:buNone/>
                      </a:pPr>
                      <a:r>
                        <a:rPr lang="en-GB" sz="1600" b="0"/>
                        <a:t>0.70</a:t>
                      </a:r>
                    </a:p>
                  </a:txBody>
                  <a:tcPr anchor="ctr">
                    <a:lnL>
                      <a:noFill/>
                    </a:lnL>
                    <a:lnR>
                      <a:noFill/>
                    </a:lnR>
                    <a:lnT>
                      <a:noFill/>
                    </a:lnT>
                    <a:lnB>
                      <a:noFill/>
                    </a:lnB>
                    <a:noFill/>
                  </a:tcPr>
                </a:tc>
                <a:extLst>
                  <a:ext uri="{0D108BD9-81ED-4DB2-BD59-A6C34878D82A}">
                    <a16:rowId xmlns:a16="http://schemas.microsoft.com/office/drawing/2014/main" val="1291026411"/>
                  </a:ext>
                </a:extLst>
              </a:tr>
              <a:tr h="0">
                <a:tc>
                  <a:txBody>
                    <a:bodyPr/>
                    <a:lstStyle/>
                    <a:p>
                      <a:pPr>
                        <a:buNone/>
                      </a:pPr>
                      <a:r>
                        <a:rPr lang="en-GB" sz="1600" b="0">
                          <a:solidFill>
                            <a:srgbClr val="0E2841"/>
                          </a:solidFill>
                        </a:rPr>
                        <a:t>All</a:t>
                      </a:r>
                    </a:p>
                  </a:txBody>
                  <a:tcPr anchor="ctr">
                    <a:lnL>
                      <a:noFill/>
                    </a:lnL>
                    <a:lnR>
                      <a:noFill/>
                    </a:lnR>
                    <a:lnT>
                      <a:noFill/>
                    </a:lnT>
                    <a:lnB>
                      <a:noFill/>
                    </a:lnB>
                    <a:noFill/>
                  </a:tcPr>
                </a:tc>
                <a:tc>
                  <a:txBody>
                    <a:bodyPr/>
                    <a:lstStyle/>
                    <a:p>
                      <a:pPr>
                        <a:buNone/>
                      </a:pPr>
                      <a:r>
                        <a:rPr lang="en-GB" sz="1600" b="0"/>
                        <a:t>0.57</a:t>
                      </a:r>
                    </a:p>
                  </a:txBody>
                  <a:tcPr anchor="ctr">
                    <a:lnL>
                      <a:noFill/>
                    </a:lnL>
                    <a:lnR>
                      <a:noFill/>
                    </a:lnR>
                    <a:lnT>
                      <a:noFill/>
                    </a:lnT>
                    <a:lnB>
                      <a:noFill/>
                    </a:lnB>
                    <a:noFill/>
                  </a:tcPr>
                </a:tc>
                <a:tc>
                  <a:txBody>
                    <a:bodyPr/>
                    <a:lstStyle/>
                    <a:p>
                      <a:pPr>
                        <a:buNone/>
                      </a:pPr>
                      <a:r>
                        <a:rPr lang="en-GB" sz="1600" b="0"/>
                        <a:t>0.41</a:t>
                      </a:r>
                    </a:p>
                  </a:txBody>
                  <a:tcPr anchor="ctr">
                    <a:lnL>
                      <a:noFill/>
                    </a:lnL>
                    <a:lnR>
                      <a:noFill/>
                    </a:lnR>
                    <a:lnT>
                      <a:noFill/>
                    </a:lnT>
                    <a:lnB>
                      <a:noFill/>
                    </a:lnB>
                    <a:noFill/>
                  </a:tcPr>
                </a:tc>
                <a:tc>
                  <a:txBody>
                    <a:bodyPr/>
                    <a:lstStyle/>
                    <a:p>
                      <a:pPr>
                        <a:buNone/>
                      </a:pPr>
                      <a:r>
                        <a:rPr lang="en-GB" sz="1600" b="0"/>
                        <a:t>0.29</a:t>
                      </a:r>
                    </a:p>
                  </a:txBody>
                  <a:tcPr anchor="ctr">
                    <a:lnL>
                      <a:noFill/>
                    </a:lnL>
                    <a:lnR>
                      <a:noFill/>
                    </a:lnR>
                    <a:lnT>
                      <a:noFill/>
                    </a:lnT>
                    <a:lnB>
                      <a:noFill/>
                    </a:lnB>
                    <a:noFill/>
                  </a:tcPr>
                </a:tc>
                <a:tc>
                  <a:txBody>
                    <a:bodyPr/>
                    <a:lstStyle/>
                    <a:p>
                      <a:pPr>
                        <a:buNone/>
                      </a:pPr>
                      <a:r>
                        <a:rPr lang="en-GB" sz="1600" b="0"/>
                        <a:t>0.54</a:t>
                      </a:r>
                    </a:p>
                  </a:txBody>
                  <a:tcPr anchor="ctr">
                    <a:lnL>
                      <a:noFill/>
                    </a:lnL>
                    <a:lnR>
                      <a:noFill/>
                    </a:lnR>
                    <a:lnT>
                      <a:noFill/>
                    </a:lnT>
                    <a:lnB>
                      <a:noFill/>
                    </a:lnB>
                    <a:noFill/>
                  </a:tcPr>
                </a:tc>
                <a:tc>
                  <a:txBody>
                    <a:bodyPr/>
                    <a:lstStyle/>
                    <a:p>
                      <a:pPr>
                        <a:buNone/>
                      </a:pPr>
                      <a:r>
                        <a:rPr lang="en-GB" sz="1600" b="0" dirty="0"/>
                        <a:t>0.47</a:t>
                      </a:r>
                    </a:p>
                  </a:txBody>
                  <a:tcPr anchor="ctr">
                    <a:lnL>
                      <a:noFill/>
                    </a:lnL>
                    <a:lnR>
                      <a:noFill/>
                    </a:lnR>
                    <a:lnT>
                      <a:noFill/>
                    </a:lnT>
                    <a:lnB>
                      <a:noFill/>
                    </a:lnB>
                    <a:noFill/>
                  </a:tcPr>
                </a:tc>
                <a:extLst>
                  <a:ext uri="{0D108BD9-81ED-4DB2-BD59-A6C34878D82A}">
                    <a16:rowId xmlns:a16="http://schemas.microsoft.com/office/drawing/2014/main" val="363089487"/>
                  </a:ext>
                </a:extLst>
              </a:tr>
            </a:tbl>
          </a:graphicData>
        </a:graphic>
      </p:graphicFrame>
    </p:spTree>
    <p:extLst>
      <p:ext uri="{BB962C8B-B14F-4D97-AF65-F5344CB8AC3E}">
        <p14:creationId xmlns:p14="http://schemas.microsoft.com/office/powerpoint/2010/main" val="2076679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C4380-AF6D-CA0C-75D9-C3092B045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8DB1A-554E-8BD3-E329-3885647F4C9B}"/>
              </a:ext>
            </a:extLst>
          </p:cNvPr>
          <p:cNvSpPr>
            <a:spLocks noGrp="1"/>
          </p:cNvSpPr>
          <p:nvPr>
            <p:ph type="title"/>
          </p:nvPr>
        </p:nvSpPr>
        <p:spPr>
          <a:xfrm>
            <a:off x="838200" y="365126"/>
            <a:ext cx="10515600" cy="705062"/>
          </a:xfrm>
        </p:spPr>
        <p:txBody>
          <a:bodyPr/>
          <a:lstStyle/>
          <a:p>
            <a:r>
              <a:rPr lang="en-US" dirty="0">
                <a:solidFill>
                  <a:srgbClr val="0E2841"/>
                </a:solidFill>
              </a:rPr>
              <a:t>Conclusion &amp; Future Work</a:t>
            </a:r>
          </a:p>
        </p:txBody>
      </p:sp>
      <p:sp>
        <p:nvSpPr>
          <p:cNvPr id="11" name="Content Placeholder 5">
            <a:extLst>
              <a:ext uri="{FF2B5EF4-FFF2-40B4-BE49-F238E27FC236}">
                <a16:creationId xmlns:a16="http://schemas.microsoft.com/office/drawing/2014/main" id="{A3C74D31-1554-9F4C-E5BF-B46482D27782}"/>
              </a:ext>
            </a:extLst>
          </p:cNvPr>
          <p:cNvSpPr txBox="1">
            <a:spLocks/>
          </p:cNvSpPr>
          <p:nvPr/>
        </p:nvSpPr>
        <p:spPr>
          <a:xfrm>
            <a:off x="6216997" y="1234002"/>
            <a:ext cx="5313252" cy="5258872"/>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buFont typeface="Arial,Sans-Serif" panose="020B0604020202020204" pitchFamily="34" charset="0"/>
            </a:pPr>
            <a:r>
              <a:rPr lang="en-GB" sz="1800" dirty="0">
                <a:solidFill>
                  <a:schemeClr val="tx2"/>
                </a:solidFill>
              </a:rPr>
              <a:t>Evaluate the system on a larger dataset to further evaluate generalisation.</a:t>
            </a:r>
          </a:p>
          <a:p>
            <a:pPr marL="285750" indent="-285750">
              <a:buFont typeface="Arial,Sans-Serif" panose="020B0604020202020204" pitchFamily="34" charset="0"/>
            </a:pPr>
            <a:r>
              <a:rPr lang="en-GB" sz="1800" dirty="0">
                <a:solidFill>
                  <a:schemeClr val="tx2"/>
                </a:solidFill>
              </a:rPr>
              <a:t>Some error episodes were scripted. Additional evaluation should be carried out on real-world non-scripted anomalies.</a:t>
            </a:r>
          </a:p>
          <a:p>
            <a:pPr marL="285750" indent="-285750">
              <a:buFont typeface="Arial,Sans-Serif" panose="020B0604020202020204" pitchFamily="34" charset="0"/>
            </a:pPr>
            <a:r>
              <a:rPr lang="en-GB" sz="1800" dirty="0">
                <a:solidFill>
                  <a:schemeClr val="tx2"/>
                </a:solidFill>
              </a:rPr>
              <a:t>Introduce realistic noise conditions:</a:t>
            </a:r>
          </a:p>
          <a:p>
            <a:pPr marL="742950" lvl="1" indent="-285750">
              <a:buFont typeface="Arial,Sans-Serif" panose="020B0604020202020204" pitchFamily="34" charset="0"/>
            </a:pPr>
            <a:r>
              <a:rPr lang="en-GB" sz="1800" dirty="0">
                <a:solidFill>
                  <a:schemeClr val="tx2"/>
                </a:solidFill>
              </a:rPr>
              <a:t>Sensor faults</a:t>
            </a:r>
          </a:p>
          <a:p>
            <a:pPr marL="742950" lvl="1" indent="-285750">
              <a:buFont typeface="Arial,Sans-Serif" panose="020B0604020202020204" pitchFamily="34" charset="0"/>
            </a:pPr>
            <a:r>
              <a:rPr lang="en-GB" sz="1800" dirty="0">
                <a:solidFill>
                  <a:schemeClr val="tx2"/>
                </a:solidFill>
              </a:rPr>
              <a:t>Missing data</a:t>
            </a:r>
          </a:p>
          <a:p>
            <a:pPr marL="742950" lvl="1" indent="-285750">
              <a:buFont typeface="Arial,Sans-Serif" panose="020B0604020202020204" pitchFamily="34" charset="0"/>
            </a:pPr>
            <a:r>
              <a:rPr lang="en-GB" sz="1800" dirty="0">
                <a:solidFill>
                  <a:schemeClr val="tx2"/>
                </a:solidFill>
              </a:rPr>
              <a:t>Spurious activations</a:t>
            </a:r>
          </a:p>
          <a:p>
            <a:pPr marL="285750" indent="-285750">
              <a:buFont typeface="Arial,Sans-Serif" panose="020B0604020202020204" pitchFamily="34" charset="0"/>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p:txBody>
      </p:sp>
      <p:sp>
        <p:nvSpPr>
          <p:cNvPr id="12" name="Rectangle: Rounded Corners 2">
            <a:extLst>
              <a:ext uri="{FF2B5EF4-FFF2-40B4-BE49-F238E27FC236}">
                <a16:creationId xmlns:a16="http://schemas.microsoft.com/office/drawing/2014/main" id="{81F248EA-DC16-4BBC-8111-9EBFB558A86F}"/>
              </a:ext>
            </a:extLst>
          </p:cNvPr>
          <p:cNvSpPr/>
          <p:nvPr/>
        </p:nvSpPr>
        <p:spPr>
          <a:xfrm>
            <a:off x="6335990" y="1070188"/>
            <a:ext cx="1501724" cy="299048"/>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Future Work</a:t>
            </a:r>
            <a:endParaRPr lang="en-US" dirty="0">
              <a:solidFill>
                <a:schemeClr val="tx2"/>
              </a:solidFill>
            </a:endParaRPr>
          </a:p>
        </p:txBody>
      </p:sp>
      <p:sp>
        <p:nvSpPr>
          <p:cNvPr id="17" name="Content Placeholder 5">
            <a:extLst>
              <a:ext uri="{FF2B5EF4-FFF2-40B4-BE49-F238E27FC236}">
                <a16:creationId xmlns:a16="http://schemas.microsoft.com/office/drawing/2014/main" id="{8AF5007E-B34B-31DE-177C-15E6BB462DA6}"/>
              </a:ext>
            </a:extLst>
          </p:cNvPr>
          <p:cNvSpPr txBox="1">
            <a:spLocks/>
          </p:cNvSpPr>
          <p:nvPr/>
        </p:nvSpPr>
        <p:spPr>
          <a:xfrm>
            <a:off x="661751" y="1219712"/>
            <a:ext cx="5313251" cy="5273162"/>
          </a:xfrm>
          <a:prstGeom prst="rect">
            <a:avLst/>
          </a:prstGeom>
          <a:ln w="19050" cap="flat" cmpd="sng" algn="ctr">
            <a:solidFill>
              <a:srgbClr val="C3DACA"/>
            </a:solidFill>
            <a:prstDash val="solid"/>
            <a:miter lim="800000"/>
          </a:ln>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80000"/>
              </a:lnSpc>
              <a:buFont typeface="Arial" panose="020B0604020202020204" pitchFamily="34" charset="0"/>
              <a:buNone/>
            </a:pPr>
            <a:endParaRPr lang="en-GB" sz="1800" dirty="0">
              <a:solidFill>
                <a:schemeClr val="tx2"/>
              </a:solidFill>
            </a:endParaRPr>
          </a:p>
          <a:p>
            <a:pPr marL="285750" indent="-285750">
              <a:buFont typeface="Arial,Sans-Serif" panose="020B0604020202020204" pitchFamily="34" charset="0"/>
            </a:pPr>
            <a:r>
              <a:rPr lang="en-GB" sz="1800" dirty="0">
                <a:solidFill>
                  <a:schemeClr val="tx2"/>
                </a:solidFill>
              </a:rPr>
              <a:t>DST provides robust activity classification</a:t>
            </a:r>
          </a:p>
          <a:p>
            <a:pPr marL="742950" lvl="1" indent="-285750">
              <a:buFont typeface="Arial,Sans-Serif" panose="020B0604020202020204" pitchFamily="34" charset="0"/>
            </a:pPr>
            <a:r>
              <a:rPr lang="en-GB" sz="1800" dirty="0">
                <a:solidFill>
                  <a:schemeClr val="tx2"/>
                </a:solidFill>
              </a:rPr>
              <a:t>Accuracy 0.96 (normal) / 0.95 (error).</a:t>
            </a:r>
          </a:p>
          <a:p>
            <a:pPr marL="742950" lvl="1" indent="-285750">
              <a:buFont typeface="Arial,Sans-Serif" panose="020B0604020202020204" pitchFamily="34" charset="0"/>
            </a:pPr>
            <a:r>
              <a:rPr lang="en-GB" sz="1800" dirty="0">
                <a:solidFill>
                  <a:schemeClr val="tx2"/>
                </a:solidFill>
              </a:rPr>
              <a:t>Handles noise and uncertainty inherent in sensor data.</a:t>
            </a:r>
          </a:p>
          <a:p>
            <a:pPr marL="742950" lvl="1" indent="-285750">
              <a:buFont typeface="Arial,Sans-Serif" panose="020B0604020202020204" pitchFamily="34" charset="0"/>
            </a:pPr>
            <a:r>
              <a:rPr lang="en-GB" sz="1800" dirty="0">
                <a:solidFill>
                  <a:schemeClr val="tx2"/>
                </a:solidFill>
              </a:rPr>
              <a:t>Outperforms traditional ML models under error conditions (+0.04 accuracy).</a:t>
            </a:r>
          </a:p>
          <a:p>
            <a:pPr marL="285750" indent="-285750">
              <a:buFont typeface="Arial,Sans-Serif" panose="020B0604020202020204" pitchFamily="34" charset="0"/>
            </a:pPr>
            <a:r>
              <a:rPr lang="en-GB" sz="1800" dirty="0">
                <a:solidFill>
                  <a:schemeClr val="tx2"/>
                </a:solidFill>
              </a:rPr>
              <a:t>Abnormal detection using only normal data is effective, with per-activity Isolation Forest achieving 0.87 accuracy and 0.86 recall.</a:t>
            </a:r>
          </a:p>
          <a:p>
            <a:pPr marL="285750" indent="-285750">
              <a:buFont typeface="Arial,Sans-Serif" panose="020B0604020202020204" pitchFamily="34" charset="0"/>
              <a:buChar char="•"/>
            </a:pPr>
            <a:r>
              <a:rPr lang="en-GB" sz="1800" dirty="0">
                <a:solidFill>
                  <a:schemeClr val="tx2"/>
                </a:solidFill>
              </a:rPr>
              <a:t>A two-stage approach (DST + anomaly detection model) was effective.</a:t>
            </a:r>
          </a:p>
          <a:p>
            <a:pPr marL="285750" indent="-285750">
              <a:buFont typeface="Arial,Sans-Serif" panose="020B0604020202020204" pitchFamily="34" charset="0"/>
            </a:pPr>
            <a:r>
              <a:rPr lang="en-GB" sz="1800" dirty="0">
                <a:solidFill>
                  <a:schemeClr val="tx2"/>
                </a:solidFill>
              </a:rPr>
              <a:t>Per-activity models outperform global models</a:t>
            </a:r>
          </a:p>
          <a:p>
            <a:pPr marL="742950" lvl="1" indent="-285750">
              <a:buFont typeface="Arial,Sans-Serif" panose="020B0604020202020204" pitchFamily="34" charset="0"/>
            </a:pPr>
            <a:r>
              <a:rPr lang="en-GB" sz="1800" dirty="0">
                <a:solidFill>
                  <a:schemeClr val="tx2"/>
                </a:solidFill>
              </a:rPr>
              <a:t>Recall: 0.86 vs 0.51</a:t>
            </a:r>
          </a:p>
          <a:p>
            <a:pPr marL="742950" lvl="1" indent="-285750">
              <a:buFont typeface="Arial,Sans-Serif" panose="020B0604020202020204" pitchFamily="34" charset="0"/>
            </a:pPr>
            <a:r>
              <a:rPr lang="en-GB" sz="1800" dirty="0">
                <a:solidFill>
                  <a:schemeClr val="tx2"/>
                </a:solidFill>
              </a:rPr>
              <a:t>Accuracy: 0.89 vs 0.68</a:t>
            </a:r>
          </a:p>
          <a:p>
            <a:pPr marL="285750" indent="-285750">
              <a:buFont typeface="Arial,Sans-Serif" panose="020B0604020202020204" pitchFamily="34" charset="0"/>
            </a:pPr>
            <a:endParaRPr lang="en-GB" sz="1800" dirty="0">
              <a:solidFill>
                <a:schemeClr val="tx2"/>
              </a:solidFill>
            </a:endParaRPr>
          </a:p>
          <a:p>
            <a:pPr marL="285750" indent="-285750">
              <a:buFont typeface="Arial,Sans-Serif" panose="020B0604020202020204" pitchFamily="34" charset="0"/>
            </a:pPr>
            <a:endParaRPr lang="en-GB" sz="1800" dirty="0">
              <a:solidFill>
                <a:schemeClr val="tx2"/>
              </a:solidFill>
            </a:endParaRPr>
          </a:p>
        </p:txBody>
      </p:sp>
      <p:sp>
        <p:nvSpPr>
          <p:cNvPr id="18" name="Rectangle: Rounded Corners 2">
            <a:extLst>
              <a:ext uri="{FF2B5EF4-FFF2-40B4-BE49-F238E27FC236}">
                <a16:creationId xmlns:a16="http://schemas.microsoft.com/office/drawing/2014/main" id="{E727D57E-9898-2C78-C239-D45A9D086FB5}"/>
              </a:ext>
            </a:extLst>
          </p:cNvPr>
          <p:cNvSpPr/>
          <p:nvPr/>
        </p:nvSpPr>
        <p:spPr>
          <a:xfrm>
            <a:off x="759501" y="1070188"/>
            <a:ext cx="1652338" cy="299048"/>
          </a:xfrm>
          <a:prstGeom prst="roundRect">
            <a:avLst/>
          </a:prstGeom>
          <a:solidFill>
            <a:srgbClr val="C3DACA"/>
          </a:solidFill>
          <a:ln>
            <a:solidFill>
              <a:srgbClr val="C3DACA"/>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tx2"/>
                </a:solidFill>
              </a:rPr>
              <a:t>Conclusion</a:t>
            </a:r>
            <a:endParaRPr lang="en-US" dirty="0">
              <a:solidFill>
                <a:schemeClr val="tx2"/>
              </a:solidFill>
            </a:endParaRPr>
          </a:p>
        </p:txBody>
      </p:sp>
    </p:spTree>
    <p:extLst>
      <p:ext uri="{BB962C8B-B14F-4D97-AF65-F5344CB8AC3E}">
        <p14:creationId xmlns:p14="http://schemas.microsoft.com/office/powerpoint/2010/main" val="4086238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88987-83E9-FC5B-0B73-013E56B1E8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9C0F07-5B0E-2832-486D-A18373AC4638}"/>
              </a:ext>
            </a:extLst>
          </p:cNvPr>
          <p:cNvSpPr>
            <a:spLocks noGrp="1"/>
          </p:cNvSpPr>
          <p:nvPr>
            <p:ph type="title"/>
          </p:nvPr>
        </p:nvSpPr>
        <p:spPr>
          <a:xfrm>
            <a:off x="838200" y="365126"/>
            <a:ext cx="10515600" cy="705062"/>
          </a:xfrm>
        </p:spPr>
        <p:txBody>
          <a:bodyPr/>
          <a:lstStyle/>
          <a:p>
            <a:r>
              <a:rPr lang="en-US" dirty="0">
                <a:solidFill>
                  <a:srgbClr val="0E2841"/>
                </a:solidFill>
              </a:rPr>
              <a:t>References</a:t>
            </a:r>
          </a:p>
        </p:txBody>
      </p:sp>
      <p:graphicFrame>
        <p:nvGraphicFramePr>
          <p:cNvPr id="5" name="Table 4">
            <a:extLst>
              <a:ext uri="{FF2B5EF4-FFF2-40B4-BE49-F238E27FC236}">
                <a16:creationId xmlns:a16="http://schemas.microsoft.com/office/drawing/2014/main" id="{6689022B-C360-6961-8F74-0B822F1C8D97}"/>
              </a:ext>
            </a:extLst>
          </p:cNvPr>
          <p:cNvGraphicFramePr>
            <a:graphicFrameLocks noGrp="1"/>
          </p:cNvGraphicFramePr>
          <p:nvPr>
            <p:extLst>
              <p:ext uri="{D42A27DB-BD31-4B8C-83A1-F6EECF244321}">
                <p14:modId xmlns:p14="http://schemas.microsoft.com/office/powerpoint/2010/main" val="3861340117"/>
              </p:ext>
            </p:extLst>
          </p:nvPr>
        </p:nvGraphicFramePr>
        <p:xfrm>
          <a:off x="838200" y="1070188"/>
          <a:ext cx="10744200" cy="5577840"/>
        </p:xfrm>
        <a:graphic>
          <a:graphicData uri="http://schemas.openxmlformats.org/drawingml/2006/table">
            <a:tbl>
              <a:tblPr firstRow="1" bandRow="1">
                <a:tableStyleId>{2D5ABB26-0587-4C30-8999-92F81FD0307C}</a:tableStyleId>
              </a:tblPr>
              <a:tblGrid>
                <a:gridCol w="537308">
                  <a:extLst>
                    <a:ext uri="{9D8B030D-6E8A-4147-A177-3AD203B41FA5}">
                      <a16:colId xmlns:a16="http://schemas.microsoft.com/office/drawing/2014/main" val="3839255868"/>
                    </a:ext>
                  </a:extLst>
                </a:gridCol>
                <a:gridCol w="10206892">
                  <a:extLst>
                    <a:ext uri="{9D8B030D-6E8A-4147-A177-3AD203B41FA5}">
                      <a16:colId xmlns:a16="http://schemas.microsoft.com/office/drawing/2014/main" val="72953605"/>
                    </a:ext>
                  </a:extLst>
                </a:gridCol>
              </a:tblGrid>
              <a:tr h="370840">
                <a:tc>
                  <a:txBody>
                    <a:bodyPr/>
                    <a:lstStyle/>
                    <a:p>
                      <a:r>
                        <a:rPr lang="en-US" sz="1800" b="0" dirty="0">
                          <a:solidFill>
                            <a:srgbClr val="0E2841"/>
                          </a:solidFill>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rgbClr val="0E2841"/>
                          </a:solidFill>
                        </a:rPr>
                        <a:t>J. Y. Xi et al., “Effects of population aging on quality of life and disease burden: a population-based study,” Glob. Health Res. Policy, vol. 10, no. 2, Dec. 2025, </a:t>
                      </a:r>
                      <a:r>
                        <a:rPr lang="en-GB" sz="1800" b="0" dirty="0" err="1">
                          <a:solidFill>
                            <a:srgbClr val="0E2841"/>
                          </a:solidFill>
                        </a:rPr>
                        <a:t>doi</a:t>
                      </a:r>
                      <a:r>
                        <a:rPr lang="en-GB" sz="1800" b="0" dirty="0">
                          <a:solidFill>
                            <a:srgbClr val="0E2841"/>
                          </a:solidFill>
                        </a:rPr>
                        <a:t>: 10.1186/s41256-024-00393-8.</a:t>
                      </a:r>
                    </a:p>
                  </a:txBody>
                  <a:tcPr/>
                </a:tc>
                <a:extLst>
                  <a:ext uri="{0D108BD9-81ED-4DB2-BD59-A6C34878D82A}">
                    <a16:rowId xmlns:a16="http://schemas.microsoft.com/office/drawing/2014/main" val="641390605"/>
                  </a:ext>
                </a:extLst>
              </a:tr>
              <a:tr h="370840">
                <a:tc>
                  <a:txBody>
                    <a:bodyPr/>
                    <a:lstStyle/>
                    <a:p>
                      <a:r>
                        <a:rPr lang="en-US" sz="1800" b="0" dirty="0">
                          <a:solidFill>
                            <a:srgbClr val="0E2841"/>
                          </a:solidFill>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rgbClr val="0E2841"/>
                          </a:solidFill>
                        </a:rPr>
                        <a:t>H. T. A. Khan, K. M. Addo, and H. Findlay, “Public Health Challenges and Responses to the Growing Ageing Populations,” Public Health Challenges, vol. 3, no. 3, Sep. 2024, </a:t>
                      </a:r>
                      <a:r>
                        <a:rPr lang="en-GB" sz="1800" b="0" dirty="0" err="1">
                          <a:solidFill>
                            <a:srgbClr val="0E2841"/>
                          </a:solidFill>
                        </a:rPr>
                        <a:t>doi</a:t>
                      </a:r>
                      <a:r>
                        <a:rPr lang="en-GB" sz="1800" b="0" dirty="0">
                          <a:solidFill>
                            <a:srgbClr val="0E2841"/>
                          </a:solidFill>
                        </a:rPr>
                        <a:t>: 10.1002/puh2.213. </a:t>
                      </a:r>
                    </a:p>
                  </a:txBody>
                  <a:tcPr/>
                </a:tc>
                <a:extLst>
                  <a:ext uri="{0D108BD9-81ED-4DB2-BD59-A6C34878D82A}">
                    <a16:rowId xmlns:a16="http://schemas.microsoft.com/office/drawing/2014/main" val="1381047777"/>
                  </a:ext>
                </a:extLst>
              </a:tr>
              <a:tr h="370840">
                <a:tc>
                  <a:txBody>
                    <a:bodyPr/>
                    <a:lstStyle/>
                    <a:p>
                      <a:r>
                        <a:rPr lang="en-US" sz="1800" b="0" dirty="0">
                          <a:solidFill>
                            <a:srgbClr val="0E2841"/>
                          </a:solidFill>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rgbClr val="0E2841"/>
                          </a:solidFill>
                        </a:rPr>
                        <a:t>M. Lussier et al., “Using ambient assisted living to monitor older adults with </a:t>
                      </a:r>
                      <a:r>
                        <a:rPr lang="en-GB" sz="1800" b="0" dirty="0" err="1">
                          <a:solidFill>
                            <a:srgbClr val="0E2841"/>
                          </a:solidFill>
                        </a:rPr>
                        <a:t>alzheimer</a:t>
                      </a:r>
                      <a:r>
                        <a:rPr lang="en-GB" sz="1800" b="0" dirty="0">
                          <a:solidFill>
                            <a:srgbClr val="0E2841"/>
                          </a:solidFill>
                        </a:rPr>
                        <a:t> disease: Single-case study to validate the monitoring report,” JMIR Med. Inform., vol. 8, no. 11, Nov. 2020, </a:t>
                      </a:r>
                      <a:r>
                        <a:rPr lang="en-GB" sz="1800" b="0" dirty="0" err="1">
                          <a:solidFill>
                            <a:srgbClr val="0E2841"/>
                          </a:solidFill>
                        </a:rPr>
                        <a:t>doi</a:t>
                      </a:r>
                      <a:r>
                        <a:rPr lang="en-GB" sz="1800" b="0" dirty="0">
                          <a:solidFill>
                            <a:srgbClr val="0E2841"/>
                          </a:solidFill>
                        </a:rPr>
                        <a:t>: 10.2196/20215.</a:t>
                      </a:r>
                    </a:p>
                  </a:txBody>
                  <a:tcPr/>
                </a:tc>
                <a:extLst>
                  <a:ext uri="{0D108BD9-81ED-4DB2-BD59-A6C34878D82A}">
                    <a16:rowId xmlns:a16="http://schemas.microsoft.com/office/drawing/2014/main" val="2186045273"/>
                  </a:ext>
                </a:extLst>
              </a:tr>
              <a:tr h="370840">
                <a:tc>
                  <a:txBody>
                    <a:bodyPr/>
                    <a:lstStyle/>
                    <a:p>
                      <a:r>
                        <a:rPr lang="en-US" sz="1800" b="0" dirty="0">
                          <a:solidFill>
                            <a:srgbClr val="0E2841"/>
                          </a:solidFill>
                        </a:rPr>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rgbClr val="0E2841"/>
                          </a:solidFill>
                        </a:rPr>
                        <a:t>A. Motwani, P. K. Shukla, and M. Pawar, “Ubiquitous and smart healthcare monitoring frameworks based on machine learning: A comprehensive review,” </a:t>
                      </a:r>
                      <a:r>
                        <a:rPr lang="en-GB" sz="1800" b="0" dirty="0" err="1">
                          <a:solidFill>
                            <a:srgbClr val="0E2841"/>
                          </a:solidFill>
                        </a:rPr>
                        <a:t>Artif</a:t>
                      </a:r>
                      <a:r>
                        <a:rPr lang="en-GB" sz="1800" b="0" dirty="0">
                          <a:solidFill>
                            <a:srgbClr val="0E2841"/>
                          </a:solidFill>
                        </a:rPr>
                        <a:t>. </a:t>
                      </a:r>
                      <a:r>
                        <a:rPr lang="en-GB" sz="1800" b="0" dirty="0" err="1">
                          <a:solidFill>
                            <a:srgbClr val="0E2841"/>
                          </a:solidFill>
                        </a:rPr>
                        <a:t>Intell</a:t>
                      </a:r>
                      <a:r>
                        <a:rPr lang="en-GB" sz="1800" b="0" dirty="0">
                          <a:solidFill>
                            <a:srgbClr val="0E2841"/>
                          </a:solidFill>
                        </a:rPr>
                        <a:t>. Med., vol. 134, Dec. 2022, </a:t>
                      </a:r>
                      <a:r>
                        <a:rPr lang="en-GB" sz="1800" b="0" dirty="0" err="1">
                          <a:solidFill>
                            <a:srgbClr val="0E2841"/>
                          </a:solidFill>
                        </a:rPr>
                        <a:t>doi</a:t>
                      </a:r>
                      <a:r>
                        <a:rPr lang="en-GB" sz="1800" b="0" dirty="0">
                          <a:solidFill>
                            <a:srgbClr val="0E2841"/>
                          </a:solidFill>
                        </a:rPr>
                        <a:t>: 10.1016/j.artmed.2022.102431.</a:t>
                      </a:r>
                    </a:p>
                  </a:txBody>
                  <a:tcPr/>
                </a:tc>
                <a:extLst>
                  <a:ext uri="{0D108BD9-81ED-4DB2-BD59-A6C34878D82A}">
                    <a16:rowId xmlns:a16="http://schemas.microsoft.com/office/drawing/2014/main" val="3784814888"/>
                  </a:ext>
                </a:extLst>
              </a:tr>
              <a:tr h="370840">
                <a:tc>
                  <a:txBody>
                    <a:bodyPr/>
                    <a:lstStyle/>
                    <a:p>
                      <a:r>
                        <a:rPr lang="en-US" sz="1800" b="0" dirty="0">
                          <a:solidFill>
                            <a:srgbClr val="0E2841"/>
                          </a:solidFill>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rgbClr val="0E2841"/>
                          </a:solidFill>
                        </a:rPr>
                        <a:t>N. C. Tay, T. Connie, T. S. Ong, A. B. J. Teoh, and P. S. Teh, “A Review of Abnormal </a:t>
                      </a:r>
                      <a:r>
                        <a:rPr lang="en-GB" sz="1800" b="0" dirty="0" err="1">
                          <a:solidFill>
                            <a:srgbClr val="0E2841"/>
                          </a:solidFill>
                        </a:rPr>
                        <a:t>Behavior</a:t>
                      </a:r>
                      <a:r>
                        <a:rPr lang="en-GB" sz="1800" b="0" dirty="0">
                          <a:solidFill>
                            <a:srgbClr val="0E2841"/>
                          </a:solidFill>
                        </a:rPr>
                        <a:t> Detection in Activities of Daily Living,” IEEE Access, vol. 11, pp. 5069–5088, 2023, </a:t>
                      </a:r>
                      <a:r>
                        <a:rPr lang="en-GB" sz="1800" b="0" dirty="0" err="1">
                          <a:solidFill>
                            <a:srgbClr val="0E2841"/>
                          </a:solidFill>
                        </a:rPr>
                        <a:t>doi</a:t>
                      </a:r>
                      <a:r>
                        <a:rPr lang="en-GB" sz="1800" b="0" dirty="0">
                          <a:solidFill>
                            <a:srgbClr val="0E2841"/>
                          </a:solidFill>
                        </a:rPr>
                        <a:t>: 10.1109/ACCESS.2023.3234974.</a:t>
                      </a:r>
                    </a:p>
                  </a:txBody>
                  <a:tcPr/>
                </a:tc>
                <a:extLst>
                  <a:ext uri="{0D108BD9-81ED-4DB2-BD59-A6C34878D82A}">
                    <a16:rowId xmlns:a16="http://schemas.microsoft.com/office/drawing/2014/main" val="4216064616"/>
                  </a:ext>
                </a:extLst>
              </a:tr>
              <a:tr h="370840">
                <a:tc>
                  <a:txBody>
                    <a:bodyPr/>
                    <a:lstStyle/>
                    <a:p>
                      <a:r>
                        <a:rPr lang="en-US" sz="1800" b="0" dirty="0">
                          <a:solidFill>
                            <a:srgbClr val="0E2841"/>
                          </a:solidFill>
                        </a:rPr>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dirty="0">
                          <a:solidFill>
                            <a:srgbClr val="0E2841"/>
                          </a:solidFill>
                        </a:rPr>
                        <a:t>S. W. Yahaya, A. Lotfi, and M. Mahmud, “Detecting Anomaly and Its Sources in Activities of Daily Living,” SN Comput. Sci., vol. 2, no. 1, Feb. 2021, </a:t>
                      </a:r>
                      <a:r>
                        <a:rPr lang="en-GB" sz="1800" b="0" dirty="0" err="1">
                          <a:solidFill>
                            <a:srgbClr val="0E2841"/>
                          </a:solidFill>
                        </a:rPr>
                        <a:t>doi</a:t>
                      </a:r>
                      <a:r>
                        <a:rPr lang="en-GB" sz="1800" b="0" dirty="0">
                          <a:solidFill>
                            <a:srgbClr val="0E2841"/>
                          </a:solidFill>
                        </a:rPr>
                        <a:t>: 10.1007/s42979-020-00418-2.</a:t>
                      </a:r>
                    </a:p>
                  </a:txBody>
                  <a:tcPr/>
                </a:tc>
                <a:extLst>
                  <a:ext uri="{0D108BD9-81ED-4DB2-BD59-A6C34878D82A}">
                    <a16:rowId xmlns:a16="http://schemas.microsoft.com/office/drawing/2014/main" val="2753403203"/>
                  </a:ext>
                </a:extLst>
              </a:tr>
              <a:tr h="370840">
                <a:tc>
                  <a:txBody>
                    <a:bodyPr/>
                    <a:lstStyle/>
                    <a:p>
                      <a:r>
                        <a:rPr lang="en-US" sz="1800" b="0" dirty="0">
                          <a:solidFill>
                            <a:srgbClr val="0E2841"/>
                          </a:solidFill>
                        </a:rPr>
                        <a:t>[7]</a:t>
                      </a:r>
                    </a:p>
                  </a:txBody>
                  <a:tcPr/>
                </a:tc>
                <a:tc>
                  <a:txBody>
                    <a:bodyPr/>
                    <a:lstStyle/>
                    <a:p>
                      <a:r>
                        <a:rPr lang="en-GB" sz="1800" b="0" dirty="0">
                          <a:solidFill>
                            <a:srgbClr val="0E2841"/>
                          </a:solidFill>
                        </a:rPr>
                        <a:t>B. Lee, P. Mohan, T. </a:t>
                      </a:r>
                      <a:r>
                        <a:rPr lang="en-GB" sz="1800" b="0" dirty="0" err="1">
                          <a:solidFill>
                            <a:srgbClr val="0E2841"/>
                          </a:solidFill>
                        </a:rPr>
                        <a:t>Chaspari</a:t>
                      </a:r>
                      <a:r>
                        <a:rPr lang="en-GB" sz="1800" b="0" dirty="0">
                          <a:solidFill>
                            <a:srgbClr val="0E2841"/>
                          </a:solidFill>
                        </a:rPr>
                        <a:t>, and C. Ryan Ahn, “Assessing Daily Activity Routines Using an Unsupervised Approach in a Smart Home Environment,” Journal of Computing in Civil Engineering, vol. 37, no. 1, Jan. 2023, </a:t>
                      </a:r>
                      <a:r>
                        <a:rPr lang="en-GB" sz="1800" b="0" dirty="0" err="1">
                          <a:solidFill>
                            <a:srgbClr val="0E2841"/>
                          </a:solidFill>
                        </a:rPr>
                        <a:t>doi</a:t>
                      </a:r>
                      <a:r>
                        <a:rPr lang="en-GB" sz="1800" b="0" dirty="0">
                          <a:solidFill>
                            <a:srgbClr val="0E2841"/>
                          </a:solidFill>
                        </a:rPr>
                        <a:t>: 10.1061/jccee5.cpeng-4895.</a:t>
                      </a:r>
                      <a:endParaRPr lang="en-US" sz="1800" b="0" dirty="0">
                        <a:solidFill>
                          <a:srgbClr val="0E2841"/>
                        </a:solidFill>
                      </a:endParaRPr>
                    </a:p>
                  </a:txBody>
                  <a:tcPr/>
                </a:tc>
                <a:extLst>
                  <a:ext uri="{0D108BD9-81ED-4DB2-BD59-A6C34878D82A}">
                    <a16:rowId xmlns:a16="http://schemas.microsoft.com/office/drawing/2014/main" val="3473950482"/>
                  </a:ext>
                </a:extLst>
              </a:tr>
            </a:tbl>
          </a:graphicData>
        </a:graphic>
      </p:graphicFrame>
    </p:spTree>
    <p:extLst>
      <p:ext uri="{BB962C8B-B14F-4D97-AF65-F5344CB8AC3E}">
        <p14:creationId xmlns:p14="http://schemas.microsoft.com/office/powerpoint/2010/main" val="552552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84960-3168-79BB-4388-CED94F97C5A0}"/>
            </a:ext>
          </a:extLst>
        </p:cNvPr>
        <p:cNvGrpSpPr/>
        <p:nvPr/>
      </p:nvGrpSpPr>
      <p:grpSpPr>
        <a:xfrm>
          <a:off x="0" y="0"/>
          <a:ext cx="0" cy="0"/>
          <a:chOff x="0" y="0"/>
          <a:chExt cx="0" cy="0"/>
        </a:xfrm>
      </p:grpSpPr>
      <p:pic>
        <p:nvPicPr>
          <p:cNvPr id="56" name="Picture 55">
            <a:extLst>
              <a:ext uri="{FF2B5EF4-FFF2-40B4-BE49-F238E27FC236}">
                <a16:creationId xmlns:a16="http://schemas.microsoft.com/office/drawing/2014/main" id="{38CF13FC-53E9-5F79-6E65-B5468F3848CB}"/>
              </a:ext>
            </a:extLst>
          </p:cNvPr>
          <p:cNvPicPr>
            <a:picLocks noChangeAspect="1"/>
          </p:cNvPicPr>
          <p:nvPr/>
        </p:nvPicPr>
        <p:blipFill>
          <a:blip r:embed="rId3"/>
          <a:stretch>
            <a:fillRect/>
          </a:stretch>
        </p:blipFill>
        <p:spPr>
          <a:xfrm>
            <a:off x="3662953" y="4857583"/>
            <a:ext cx="575347" cy="447492"/>
          </a:xfrm>
          <a:prstGeom prst="rect">
            <a:avLst/>
          </a:prstGeom>
        </p:spPr>
      </p:pic>
      <p:grpSp>
        <p:nvGrpSpPr>
          <p:cNvPr id="69" name="Group 68">
            <a:extLst>
              <a:ext uri="{FF2B5EF4-FFF2-40B4-BE49-F238E27FC236}">
                <a16:creationId xmlns:a16="http://schemas.microsoft.com/office/drawing/2014/main" id="{3E39AE86-268C-EF94-1CB7-F7D55B85E74A}"/>
              </a:ext>
            </a:extLst>
          </p:cNvPr>
          <p:cNvGrpSpPr/>
          <p:nvPr/>
        </p:nvGrpSpPr>
        <p:grpSpPr>
          <a:xfrm>
            <a:off x="5838306" y="457200"/>
            <a:ext cx="5949272" cy="5943600"/>
            <a:chOff x="5105992" y="4525"/>
            <a:chExt cx="6858000" cy="6858000"/>
          </a:xfrm>
        </p:grpSpPr>
        <p:pic>
          <p:nvPicPr>
            <p:cNvPr id="57" name="Picture 56">
              <a:extLst>
                <a:ext uri="{FF2B5EF4-FFF2-40B4-BE49-F238E27FC236}">
                  <a16:creationId xmlns:a16="http://schemas.microsoft.com/office/drawing/2014/main" id="{FB721FEC-2F66-3D0A-43D6-16930AA1189F}"/>
                </a:ext>
              </a:extLst>
            </p:cNvPr>
            <p:cNvPicPr>
              <a:picLocks noChangeAspect="1"/>
            </p:cNvPicPr>
            <p:nvPr/>
          </p:nvPicPr>
          <p:blipFill>
            <a:blip r:embed="rId3"/>
            <a:stretch>
              <a:fillRect/>
            </a:stretch>
          </p:blipFill>
          <p:spPr>
            <a:xfrm>
              <a:off x="6244012" y="4920115"/>
              <a:ext cx="414283" cy="447492"/>
            </a:xfrm>
            <a:prstGeom prst="rect">
              <a:avLst/>
            </a:prstGeom>
          </p:spPr>
        </p:pic>
        <p:pic>
          <p:nvPicPr>
            <p:cNvPr id="62" name="Picture 61">
              <a:extLst>
                <a:ext uri="{FF2B5EF4-FFF2-40B4-BE49-F238E27FC236}">
                  <a16:creationId xmlns:a16="http://schemas.microsoft.com/office/drawing/2014/main" id="{4A777663-1979-29E2-B98A-37FDD4AB7C41}"/>
                </a:ext>
              </a:extLst>
            </p:cNvPr>
            <p:cNvPicPr>
              <a:picLocks noChangeAspect="1"/>
            </p:cNvPicPr>
            <p:nvPr/>
          </p:nvPicPr>
          <p:blipFill>
            <a:blip r:embed="rId4"/>
            <a:stretch>
              <a:fillRect/>
            </a:stretch>
          </p:blipFill>
          <p:spPr>
            <a:xfrm>
              <a:off x="5801571" y="2811397"/>
              <a:ext cx="442441" cy="432937"/>
            </a:xfrm>
            <a:prstGeom prst="rect">
              <a:avLst/>
            </a:prstGeom>
          </p:spPr>
        </p:pic>
        <p:pic>
          <p:nvPicPr>
            <p:cNvPr id="59" name="Picture 58" descr="A diagram of a house with icons&#10;&#10;AI-generated content may be incorrect.">
              <a:extLst>
                <a:ext uri="{FF2B5EF4-FFF2-40B4-BE49-F238E27FC236}">
                  <a16:creationId xmlns:a16="http://schemas.microsoft.com/office/drawing/2014/main" id="{1CAE9861-69FC-5090-ECA4-82AA8011A047}"/>
                </a:ext>
              </a:extLst>
            </p:cNvPr>
            <p:cNvPicPr>
              <a:picLocks noChangeAspect="1"/>
            </p:cNvPicPr>
            <p:nvPr/>
          </p:nvPicPr>
          <p:blipFill>
            <a:blip r:embed="rId5"/>
            <a:stretch>
              <a:fillRect/>
            </a:stretch>
          </p:blipFill>
          <p:spPr>
            <a:xfrm>
              <a:off x="5105992" y="4525"/>
              <a:ext cx="6858000" cy="6858000"/>
            </a:xfrm>
            <a:prstGeom prst="rect">
              <a:avLst/>
            </a:prstGeom>
          </p:spPr>
        </p:pic>
        <p:pic>
          <p:nvPicPr>
            <p:cNvPr id="64" name="Picture 63" descr="A blue faucet with a drop of water&#10;&#10;AI-generated content may be incorrect.">
              <a:extLst>
                <a:ext uri="{FF2B5EF4-FFF2-40B4-BE49-F238E27FC236}">
                  <a16:creationId xmlns:a16="http://schemas.microsoft.com/office/drawing/2014/main" id="{3B4CF88F-35B1-D0C1-0E1B-07F880FE2E1E}"/>
                </a:ext>
              </a:extLst>
            </p:cNvPr>
            <p:cNvPicPr>
              <a:picLocks noChangeAspect="1"/>
            </p:cNvPicPr>
            <p:nvPr/>
          </p:nvPicPr>
          <p:blipFill>
            <a:blip r:embed="rId6"/>
            <a:srcRect b="8090"/>
            <a:stretch>
              <a:fillRect/>
            </a:stretch>
          </p:blipFill>
          <p:spPr>
            <a:xfrm>
              <a:off x="10226046" y="2624862"/>
              <a:ext cx="556222" cy="556735"/>
            </a:xfrm>
            <a:prstGeom prst="rect">
              <a:avLst/>
            </a:prstGeom>
          </p:spPr>
        </p:pic>
        <p:pic>
          <p:nvPicPr>
            <p:cNvPr id="67" name="Picture 66">
              <a:extLst>
                <a:ext uri="{FF2B5EF4-FFF2-40B4-BE49-F238E27FC236}">
                  <a16:creationId xmlns:a16="http://schemas.microsoft.com/office/drawing/2014/main" id="{072EC78D-137A-5FA7-A0B6-7C8693F1E184}"/>
                </a:ext>
              </a:extLst>
            </p:cNvPr>
            <p:cNvPicPr>
              <a:picLocks noChangeAspect="1"/>
            </p:cNvPicPr>
            <p:nvPr/>
          </p:nvPicPr>
          <p:blipFill>
            <a:blip r:embed="rId7"/>
            <a:stretch>
              <a:fillRect/>
            </a:stretch>
          </p:blipFill>
          <p:spPr>
            <a:xfrm>
              <a:off x="5623389" y="2851029"/>
              <a:ext cx="537920" cy="388780"/>
            </a:xfrm>
            <a:prstGeom prst="rect">
              <a:avLst/>
            </a:prstGeom>
          </p:spPr>
        </p:pic>
        <p:pic>
          <p:nvPicPr>
            <p:cNvPr id="61" name="Picture 60" descr="A blue faucet over a hand&#10;&#10;AI-generated content may be incorrect.">
              <a:extLst>
                <a:ext uri="{FF2B5EF4-FFF2-40B4-BE49-F238E27FC236}">
                  <a16:creationId xmlns:a16="http://schemas.microsoft.com/office/drawing/2014/main" id="{EF01AC46-1C0A-1634-DE87-54045A6F2A3C}"/>
                </a:ext>
              </a:extLst>
            </p:cNvPr>
            <p:cNvPicPr>
              <a:picLocks noChangeAspect="1"/>
            </p:cNvPicPr>
            <p:nvPr/>
          </p:nvPicPr>
          <p:blipFill>
            <a:blip r:embed="rId8"/>
            <a:srcRect l="13935" t="50603" r="17228" b="7974"/>
            <a:stretch>
              <a:fillRect/>
            </a:stretch>
          </p:blipFill>
          <p:spPr>
            <a:xfrm>
              <a:off x="5695927" y="3054156"/>
              <a:ext cx="323557" cy="194703"/>
            </a:xfrm>
            <a:prstGeom prst="rect">
              <a:avLst/>
            </a:prstGeom>
          </p:spPr>
        </p:pic>
        <p:pic>
          <p:nvPicPr>
            <p:cNvPr id="65" name="Picture 64" descr="A blue faucet over a hand&#10;&#10;AI-generated content may be incorrect.">
              <a:extLst>
                <a:ext uri="{FF2B5EF4-FFF2-40B4-BE49-F238E27FC236}">
                  <a16:creationId xmlns:a16="http://schemas.microsoft.com/office/drawing/2014/main" id="{9690AD0F-D085-19BB-866E-A92444090265}"/>
                </a:ext>
              </a:extLst>
            </p:cNvPr>
            <p:cNvPicPr>
              <a:picLocks noChangeAspect="1"/>
            </p:cNvPicPr>
            <p:nvPr/>
          </p:nvPicPr>
          <p:blipFill>
            <a:blip r:embed="rId8"/>
            <a:srcRect l="13935" t="7702" r="17228" b="48583"/>
            <a:stretch>
              <a:fillRect/>
            </a:stretch>
          </p:blipFill>
          <p:spPr>
            <a:xfrm>
              <a:off x="5690712" y="2823997"/>
              <a:ext cx="374910" cy="238088"/>
            </a:xfrm>
            <a:prstGeom prst="rect">
              <a:avLst/>
            </a:prstGeom>
          </p:spPr>
        </p:pic>
      </p:grpSp>
      <p:sp>
        <p:nvSpPr>
          <p:cNvPr id="2" name="Title 1">
            <a:extLst>
              <a:ext uri="{FF2B5EF4-FFF2-40B4-BE49-F238E27FC236}">
                <a16:creationId xmlns:a16="http://schemas.microsoft.com/office/drawing/2014/main" id="{71DBBB78-7081-BFAB-EB1C-079D0513B199}"/>
              </a:ext>
            </a:extLst>
          </p:cNvPr>
          <p:cNvSpPr>
            <a:spLocks noGrp="1"/>
          </p:cNvSpPr>
          <p:nvPr>
            <p:ph type="ctrTitle"/>
          </p:nvPr>
        </p:nvSpPr>
        <p:spPr>
          <a:xfrm>
            <a:off x="876259" y="2289018"/>
            <a:ext cx="4672507" cy="1704109"/>
          </a:xfrm>
        </p:spPr>
        <p:txBody>
          <a:bodyPr anchor="b">
            <a:normAutofit/>
          </a:bodyPr>
          <a:lstStyle/>
          <a:p>
            <a:pPr algn="l"/>
            <a:r>
              <a:rPr lang="en-US" sz="3800" dirty="0">
                <a:solidFill>
                  <a:srgbClr val="0E2841"/>
                </a:solidFill>
              </a:rPr>
              <a:t>Thank you for listening.</a:t>
            </a:r>
            <a:br>
              <a:rPr lang="en-US" sz="3800" dirty="0">
                <a:solidFill>
                  <a:srgbClr val="0E2841"/>
                </a:solidFill>
              </a:rPr>
            </a:br>
            <a:br>
              <a:rPr lang="en-US" sz="3800" dirty="0">
                <a:solidFill>
                  <a:srgbClr val="0E2841"/>
                </a:solidFill>
              </a:rPr>
            </a:br>
            <a:r>
              <a:rPr lang="en-US" sz="3800" dirty="0">
                <a:solidFill>
                  <a:srgbClr val="0E2841"/>
                </a:solidFill>
              </a:rPr>
              <a:t>Any questions?</a:t>
            </a:r>
          </a:p>
        </p:txBody>
      </p:sp>
    </p:spTree>
    <p:extLst>
      <p:ext uri="{BB962C8B-B14F-4D97-AF65-F5344CB8AC3E}">
        <p14:creationId xmlns:p14="http://schemas.microsoft.com/office/powerpoint/2010/main" val="16564732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f0b9487-4fa8-42a8-aeb4-bf2e2c22d4e8}" enabled="0" method="" siteId="{6f0b9487-4fa8-42a8-aeb4-bf2e2c22d4e8}" removed="1"/>
</clbl:labelList>
</file>

<file path=docProps/app.xml><?xml version="1.0" encoding="utf-8"?>
<Properties xmlns="http://schemas.openxmlformats.org/officeDocument/2006/extended-properties" xmlns:vt="http://schemas.openxmlformats.org/officeDocument/2006/docPropsVTypes">
  <TotalTime>1981</TotalTime>
  <Words>3444</Words>
  <Application>Microsoft Macintosh PowerPoint</Application>
  <PresentationFormat>Widescreen</PresentationFormat>
  <Paragraphs>701</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Arial,Sans-Serif</vt:lpstr>
      <vt:lpstr>Calibri</vt:lpstr>
      <vt:lpstr>Office Theme</vt:lpstr>
      <vt:lpstr>Abnormal Activity Detections in Smart Homes Using Normal Behaviour Modelling</vt:lpstr>
      <vt:lpstr>Motivation &amp; Problem</vt:lpstr>
      <vt:lpstr>PowerPoint Presentation</vt:lpstr>
      <vt:lpstr>CASAS Kyoto One Dataset</vt:lpstr>
      <vt:lpstr>CASAS Kyoto One Dataset</vt:lpstr>
      <vt:lpstr>Activity Recognition Approach</vt:lpstr>
      <vt:lpstr>Activity Recognition</vt:lpstr>
      <vt:lpstr>Anomaly Detection Implementation</vt:lpstr>
      <vt:lpstr>Per-Activity Anomaly Detection Results</vt:lpstr>
      <vt:lpstr>Global Anomaly Detection Results</vt:lpstr>
      <vt:lpstr>Conclusion &amp; Future Work</vt:lpstr>
      <vt:lpstr>References</vt:lpstr>
      <vt:lpstr>Thank you for listening.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Alison McDowell</dc:creator>
  <cp:lastModifiedBy>Alison McDowell</cp:lastModifiedBy>
  <cp:revision>2</cp:revision>
  <dcterms:created xsi:type="dcterms:W3CDTF">2026-04-28T12:06:47Z</dcterms:created>
  <dcterms:modified xsi:type="dcterms:W3CDTF">2026-10-21T22:58:07Z</dcterms:modified>
</cp:coreProperties>
</file>